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Syne" pitchFamily="34" charset="0"/>
      <p:regular r:id="rId34"/>
      <p:bold r:id="rId35"/>
    </p:embeddedFont>
    <p:embeddedFont>
      <p:font typeface="Space Mono" panose="02010509030202000204" pitchFamily="49" charset="0"/>
      <p:regular r:id="rId36"/>
      <p:bold r:id="rId37"/>
    </p:embeddedFont>
    <p:embeddedFont>
      <p:font typeface="Cormorant Garamond" pitchFamily="18" charset="0"/>
      <p:regular r:id="rId38"/>
      <p:bold r:id="rId39"/>
      <p:italic r:id="rId40"/>
      <p:boldItalic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(minuto 0). Deja la portada proyectada mientras llegan los alumnos. Plan sugerido para 60 minutos: 0 a 5 bienvenida y plan; 5 a 8 la promesa; 8 a 25 las cinco vocales y la U impostora; 25 a 40 combinaciones; 40 a 52 nasales; 52 a 58 reto final; 58 a 60 cierre. Si la clase es de 60 minutos exactos, los bloques 02 y 03 (vocales compuestas y nasales) pueden quedar para la sesión siguiente: la presentación está pensada para servir en ambas.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(minutos 0 a 3). Saluda con un «Bonjour !» amplio y pide que te lo devuelvan en coro: es su primera producción en francés. Al revelar «Je m’appelle…», preséntate tú primero y luego invita a cada alumno a decir su nombre. No corrijas todavía la pronunciación: el objetivo es romper el hielo.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(minutos 3 a 5). Presenta el recorrido completo como un viaje, en este orden: vocales individuales, vocales compuestas, vocales nasales, sonidos vibrantes, sonidos silbantes y, al final, la música del francés (acento, ritmo, silabación y entonación). Esta presentación cubre los bloques 01 a 03. En el bloque 01 menciona con misterio que «una de las vocales nos va a engañar», sin explicar nada: es la semilla de la pausa dramática de la 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promesa (minutos 5 a 8). Revela las vocales una a una y que el grupo las diga en voz alta, en español, con energía. Luego la frase final. El «…¿o no?» bajo la U es la semilla del imposteur: no lo expliques, solo sonríe y avanza.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(minuto 8). Transición: «Vamos a comprobarlo, vocal por vocal».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(minutos 8 a 11). Cuatro clics: avión, ami(e), abogado y, al final, el aguacate para el chiste. La A francesa es la misma que la española: primera victoria. «Ami» y «amie» suenan igual: la E final no se pronuncia. «Avocat» significa abogado… y aguacate: deja que la imagen del aguacate aparezca sola, en silencio, y espera la reacción. La T final no suena.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(minutos 11 a 15). Solo dos caras en esta clase: abierta o cerrada. Primer clic: É abierta, como en «éléphant». Segundo clic: E cerrada, como en «je». Tercer clic: «je m’appelle…», enlazando con la presentación del inicio. Haz que alternen «é / e» exagerando la forma de los labios. Al final de palabra la E sin acento casi siempre es muda: «amie», «France».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(minutos 15 a 17). Tres clics: ici, idée, illusion. Otra vocal idéntica al español. Pide una I muy tensa, con sonrisa amplia: esa posición es la base de la U francesa que viene enseguida. En «illusion» la doble L suena como una L simple. Pregunta con la ilusión óptica: «¿Qué ven, árboles o un rostro?».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(minutos 17 a 19). Tres clics: objets, opportunité, Olga. Pregunta al revelar la imagen: «¿Qué es esto que vemos en la pantalla? Son objetos». Con S final, en plural. Cuarto clic: la regla de la E seguida de dos consonantes, que es abierta: obj-E-ts. La T y la S finales no se pronuncian. Cuatro de cinco: el grupo debe sentir que «ya sabe». Ahora, la pausa dramática.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PAUSA DRAMÁTICA (minuto 19). Silencio de dos o tres segundos. Clic 1: aparece la U sola; mírala con desconfianza. Clic 2: «C’est un imposteur !». Pregunta: «¿Cómo creen que se pronuncia?» y deja que adivinen con la U española. Clic 3: el símbolo de prohibición cae sobre la U: no tiene nada que ver con la U española. La siguiente diapositiva usa movimiento mágico: la U se desplaza a la izquierda para la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(minutos 19 a 23). Guía al grupo en coro, paso a paso: una I larga y tensa, la lengua inmóvil apoyada detrás de los dientes de abajo, y los labios que se van cerrando hacia adelante. El punto de articulación se va cerrando hasta obtener la U francesa. Error típico: mover la lengua hacia atrás, y entonces sale la U española. Truco: que pongan un dedo frente a los labios como si fueran a besarlo, sin dejar de decir «i». Compara con la Ü alemana si alguien la conoce.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en palabras (minutos 23 a 25). La U aparece con su símbolo de prohibición. Clic 1: «≈ une i»: recuerda que es una I española que vamos cerrando. Luego un clic por ejemplo: tu, usine, unique. Haz repetir pasando primero por la I: «ti… tu», «isine… usine». Escucha a cada alumno en «tu»: es la palabra más corta y la más reveladora.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(minuto 25). Un clic por tarjeta: que el grupo diga la vocal y la palabra antes de revelarla. Pregunta abierta: «¿Cuál es la impostora?». Cierre del bloque: «Con el español ya tenían cuatro de cinco. Ahora veamos qué pasa cuando las vocales se juntan».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(minuto 25). Idea clave: en español cada vocal escrita suena; en francés dos o tres vocales juntas suelen formar un solo sonido. Es como una fórmula química: A + I no da «ai», da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I y A + U (minutos 25 a 29). Cada fila: un clic para la fórmula, un clic para el resultado y un clic por palabra. Antes de revelar el resultado pregunta: «¿A más I da…?». Deja que propongan «ai» y luego la sorpresa: suena E. Las nacionalidades en -ais (français, portugais, polonais) son un buen campo de práctica. A + U suena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 I, E + U, E + A + U (minutos 29 a 34). E + I suena E: treize, seize. E + U suena como la E cerrada de «je»: peu, feu, leur; di «e» y redondea los labios. E + A + U: tres letras, un solo sonido O. «Beaucoup» es el ejemplo estrella, porque ya lo conocen de «Merci beaucoup».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 I y O + U (minutos 34 a 37). O + I suena WA: «moi» se dice «mua». O + U es el gran cierre del misterio: la U castellana no desapareció, solo se escribe OU. Tout, tous, toute, toutes: las cuatro suenan igual al inicio. Esto prepara la diapositiva siguiente, donde enfrentamos U y 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Pares mínimos (minutos 37 a 39). Juego de oído: di una de las dos palabras al azar y que el grupo levante la mano izquierda para U y la derecha para OU. Luego al revés: un alumno pronuncia y los demás adivinan. Demuestra que la diferencia cambia el significado: «Tu es sur la rue» no es lo mismo que «sur la roue».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de combinaciones (minutos 39 a 40). Antes de revelar cada fórmula, pide al grupo que recuerde el resultado y un ejemplo: français, automobile, treize, peu, beaucoup, moi,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(minuto 40). Truco para empezar: que se tapen la nariz y digan «a», luego «an» a la francesa. Con la nariz tapada, la nasal cambia de color: el aire quería salir por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(minutos 40 a 43). Es la clave de todo el bloque. Si después de la N o M viene una vocal, o la N está doble, ya no hay nasal: la N se pronuncia como en español. Pares: un / une, bon / bonne, fin / fine. Es también la base del masculino y femenino: «un ami / une amie».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y EN (minutos 43 a 46). Di una «a» con la boca bien abierta y deja escapar el aire por la nariz, sin pronunciar la N. La punta de la lengua no toca el paladar. «Anglais» es perfecto porque combina la nasal con AI, ya visto. «Entreprise» es la palabra francesa para «empresa»: señala que comparten la misma nasal al inicio.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IM, AIN, EIN (minutos 46 a 49). La trampa: el hispanohablante dice «in» con I. Pide una «è» abierta y nasalizada. En «international» solo la primera sílaba es nasal: «na» y «nal» no lo son porque la N va seguida de vocal; recuerda la regla. «Important» e «intéressant» combinan dos nasales: IN al inicio, AN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y ON (minutos 49 a 52). «Un parfum» es el ejemplo perfecto: dos veces la misma nasal, escrita UN y UM. En el francés actual de Francia, UN se confunde casi siempre con IN; en Bélgica, Suiza o Canadá se mantiene la diferencia. ON es la nasal de «bonjour», la palabra del inicio de la clase: cierra el círculo.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reto (minutos 52 a 56). Primero lectura individual en silencio, 30 segundos; luego voluntarios en voz alta. Deja que se equivoquen: la siguiente diapositiva decodifica cada sonido con movimiento mágico. Traducción: «Tú y yo amamos mucho el pan francés» y «Un niño importante entra en una fábrica». Atención a la trampa de la frase 2: «une» no es nasal.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Decodificación (minutos 56 a 58). Las frases se deslizan desde la diapositiva anterior y aparecen coloreadas. Revela la línea de sonidos de cada frase y vuelve a leerlas en coro. Mensaje final: no hubo ni un solo sonido que no conocieran ya. Esa era la promesa del principio.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(minutos 58 a 60). Pide que digan «Merci beaucoup» en coro y señala que ya contiene dos de los sonidos de hoy: EAU y OU. Anuncia la siguiente etapa del recorrido: sonidos vibrantes (la R) y silbantes (S, Z, CH, J), y más adelante acento, ritmo, silabación y entonación.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9500"/>
            <a:ext cx="10566400" cy="614660"/>
          </a:xfrm>
          <a:prstGeom prst="rect">
            <a:avLst/>
          </a:prstGeom>
          <a:noFill/>
          <a:ln/>
        </p:spPr>
        <p:txBody>
          <a:bodyPr wrap="square" lIns="0" tIns="0" rIns="0" bIns="0" rtlCol="0" anchor="t"/>
          <a:lstStyle>
            <a:lvl1pPr algn="l" indent="0" marL="0">
              <a:lnSpc>
                <a:spcPct val="115000"/>
              </a:lnSpc>
              <a:buNone/>
              <a:defRPr lang="en-US" sz="4400" dirty="0">
                <a:solidFill>
                  <a:srgbClr val="12332B"/>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998960"/>
            <a:ext cx="10566400" cy="4046240"/>
          </a:xfrm>
          <a:prstGeom prst="rect">
            <a:avLst/>
          </a:prstGeom>
          <a:noFill/>
          <a:ln/>
        </p:spPr>
        <p:txBody>
          <a:bodyPr wrap="square" lIns="0" tIns="0" rIns="0" bIns="0" rtlCol="0" anchor="t"/>
          <a:lstStyle>
            <a:lvl1pPr algn="l" indent="0" marL="0">
              <a:lnSpc>
                <a:spcPct val="140000"/>
              </a:lnSpc>
              <a:buNone/>
              <a:defRPr lang="en-US" sz="1600" dirty="0">
                <a:solidFill>
                  <a:srgbClr val="12332B"/>
                </a:solidFill>
                <a:latin typeface="Cormorant Garamond" pitchFamily="34" charset="0"/>
                <a:ea typeface="Cormorant Garamond" pitchFamily="34" charset="-122"/>
                <a:cs typeface="Cormorant Garamond"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9500"/>
            <a:ext cx="10566400" cy="614660"/>
          </a:xfrm>
          <a:prstGeom prst="rect">
            <a:avLst/>
          </a:prstGeom>
          <a:noFill/>
          <a:ln/>
        </p:spPr>
        <p:txBody>
          <a:bodyPr wrap="square" lIns="0" tIns="0" rIns="0" bIns="0" rtlCol="0" anchor="t"/>
          <a:lstStyle>
            <a:lvl1pPr algn="l" indent="0" marL="0">
              <a:lnSpc>
                <a:spcPct val="115000"/>
              </a:lnSpc>
              <a:buNone/>
              <a:defRPr lang="en-US" sz="4400" dirty="0">
                <a:solidFill>
                  <a:srgbClr val="F3EEE2"/>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998960"/>
            <a:ext cx="10566400" cy="4046240"/>
          </a:xfrm>
          <a:prstGeom prst="rect">
            <a:avLst/>
          </a:prstGeom>
          <a:noFill/>
          <a:ln/>
        </p:spPr>
        <p:txBody>
          <a:bodyPr wrap="square" lIns="0" tIns="0" rIns="0" bIns="0" rtlCol="0" anchor="t"/>
          <a:lstStyle>
            <a:lvl1pPr algn="l" indent="0" marL="0">
              <a:lnSpc>
                <a:spcPct val="140000"/>
              </a:lnSpc>
              <a:buNone/>
              <a:defRPr lang="en-US" sz="1600" dirty="0">
                <a:solidFill>
                  <a:srgbClr val="F3EEE2"/>
                </a:solidFill>
                <a:latin typeface="Cormorant Garamond" pitchFamily="34" charset="0"/>
                <a:ea typeface="Cormorant Garamond" pitchFamily="34" charset="-122"/>
                <a:cs typeface="Cormorant Garamond"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9500"/>
            <a:ext cx="10566400" cy="614660"/>
          </a:xfrm>
          <a:prstGeom prst="rect">
            <a:avLst/>
          </a:prstGeom>
          <a:noFill/>
          <a:ln/>
        </p:spPr>
        <p:txBody>
          <a:bodyPr wrap="square" lIns="0" tIns="0" rIns="0" bIns="0" rtlCol="0" anchor="t"/>
          <a:lstStyle>
            <a:lvl1pPr algn="l" indent="0" marL="0">
              <a:lnSpc>
                <a:spcPct val="115000"/>
              </a:lnSpc>
              <a:buNone/>
              <a:defRPr lang="en-US" sz="4400" dirty="0">
                <a:solidFill>
                  <a:srgbClr val="D9BD86"/>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998960"/>
            <a:ext cx="10566400" cy="4046240"/>
          </a:xfrm>
          <a:prstGeom prst="rect">
            <a:avLst/>
          </a:prstGeom>
          <a:noFill/>
          <a:ln/>
        </p:spPr>
        <p:txBody>
          <a:bodyPr wrap="square" lIns="0" tIns="0" rIns="0" bIns="0" rtlCol="0" anchor="t"/>
          <a:lstStyle>
            <a:lvl1pPr algn="l" indent="0" marL="0">
              <a:lnSpc>
                <a:spcPct val="140000"/>
              </a:lnSpc>
              <a:buNone/>
              <a:defRPr lang="en-US" sz="1600" dirty="0">
                <a:solidFill>
                  <a:srgbClr val="D9BD86"/>
                </a:solidFill>
                <a:latin typeface="Cormorant Garamond" pitchFamily="34" charset="0"/>
                <a:ea typeface="Cormorant Garamond" pitchFamily="34" charset="-122"/>
                <a:cs typeface="Cormorant Garamond"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9500"/>
            <a:ext cx="10566400" cy="614660"/>
          </a:xfrm>
          <a:prstGeom prst="rect">
            <a:avLst/>
          </a:prstGeom>
          <a:noFill/>
          <a:ln/>
        </p:spPr>
        <p:txBody>
          <a:bodyPr wrap="square" lIns="0" tIns="0" rIns="0" bIns="0" rtlCol="0" anchor="t"/>
          <a:lstStyle>
            <a:lvl1pPr algn="l" indent="0" marL="0">
              <a:lnSpc>
                <a:spcPct val="115000"/>
              </a:lnSpc>
              <a:buNone/>
              <a:defRPr lang="en-US" sz="4400" dirty="0">
                <a:solidFill>
                  <a:srgbClr val="F3EEE2"/>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998960"/>
            <a:ext cx="10566400" cy="4046240"/>
          </a:xfrm>
          <a:prstGeom prst="rect">
            <a:avLst/>
          </a:prstGeom>
          <a:noFill/>
          <a:ln/>
        </p:spPr>
        <p:txBody>
          <a:bodyPr wrap="square" lIns="0" tIns="0" rIns="0" bIns="0" rtlCol="0" anchor="t"/>
          <a:lstStyle>
            <a:lvl1pPr algn="l" indent="0" marL="0">
              <a:lnSpc>
                <a:spcPct val="140000"/>
              </a:lnSpc>
              <a:buNone/>
              <a:defRPr lang="en-US" sz="1600" dirty="0">
                <a:solidFill>
                  <a:srgbClr val="F3EEE2"/>
                </a:solidFill>
                <a:latin typeface="Cormorant Garamond" pitchFamily="34" charset="0"/>
                <a:ea typeface="Cormorant Garamond" pitchFamily="34" charset="-122"/>
                <a:cs typeface="Cormorant Garamond"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9500"/>
            <a:ext cx="10566400" cy="614660"/>
          </a:xfrm>
          <a:prstGeom prst="rect">
            <a:avLst/>
          </a:prstGeom>
          <a:noFill/>
          <a:ln/>
        </p:spPr>
        <p:txBody>
          <a:bodyPr wrap="square" lIns="0" tIns="0" rIns="0" bIns="0" rtlCol="0" anchor="t"/>
          <a:lstStyle>
            <a:lvl1pPr algn="l" indent="0" marL="0">
              <a:lnSpc>
                <a:spcPct val="115000"/>
              </a:lnSpc>
              <a:buNone/>
              <a:defRPr lang="en-US" sz="4400" dirty="0">
                <a:solidFill>
                  <a:srgbClr val="12332B"/>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998960"/>
            <a:ext cx="10566400" cy="4046240"/>
          </a:xfrm>
          <a:prstGeom prst="rect">
            <a:avLst/>
          </a:prstGeom>
          <a:noFill/>
          <a:ln/>
        </p:spPr>
        <p:txBody>
          <a:bodyPr wrap="square" lIns="0" tIns="0" rIns="0" bIns="0" rtlCol="0" anchor="t"/>
          <a:lstStyle>
            <a:lvl1pPr algn="l" indent="0" marL="0">
              <a:lnSpc>
                <a:spcPct val="140000"/>
              </a:lnSpc>
              <a:buNone/>
              <a:defRPr lang="en-US" sz="1600" dirty="0">
                <a:solidFill>
                  <a:srgbClr val="12332B"/>
                </a:solidFill>
                <a:latin typeface="Cormorant Garamond" pitchFamily="34" charset="0"/>
                <a:ea typeface="Cormorant Garamond" pitchFamily="34" charset="-122"/>
                <a:cs typeface="Cormorant Garamond"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84650" y="698500"/>
            <a:ext cx="7194550" cy="2311400"/>
          </a:xfrm>
          <a:prstGeom prst="rect">
            <a:avLst/>
          </a:prstGeom>
          <a:noFill/>
          <a:ln/>
        </p:spPr>
        <p:txBody>
          <a:bodyPr wrap="none" lIns="0" tIns="0" rIns="0" bIns="0" rtlCol="0" anchor="t">
            <a:normAutofit/>
          </a:bodyPr>
          <a:lstStyle/>
          <a:p>
            <a:pPr algn="r" indent="0" marL="0">
              <a:lnSpc>
                <a:spcPts val="18000"/>
              </a:lnSpc>
              <a:buNone/>
            </a:pPr>
            <a:r>
              <a:rPr lang="en-US" sz="18000" i="1" dirty="0">
                <a:solidFill>
                  <a:srgbClr val="D9BD86">
                    <a:alpha val="16000"/>
                  </a:srgbClr>
                </a:solidFill>
                <a:latin typeface="Cormorant Garamond" pitchFamily="18" charset="0"/>
                <a:ea typeface="Cormorant Garamond" pitchFamily="18" charset="-122"/>
                <a:cs typeface="Cormorant Garamond" pitchFamily="18" charset="-120"/>
              </a:rPr>
              <a:t>aeiou</a:t>
            </a:r>
            <a:endParaRPr lang="en-US" sz="18000" dirty="0"/>
          </a:p>
        </p:txBody>
      </p:sp>
      <p:sp>
        <p:nvSpPr>
          <p:cNvPr id="3" name="Text 1"/>
          <p:cNvSpPr/>
          <p:nvPr/>
        </p:nvSpPr>
        <p:spPr>
          <a:xfrm>
            <a:off x="812800" y="1905000"/>
            <a:ext cx="7848600" cy="274241"/>
          </a:xfrm>
          <a:prstGeom prst="rect">
            <a:avLst/>
          </a:prstGeom>
          <a:noFill/>
          <a:ln/>
        </p:spPr>
        <p:txBody>
          <a:bodyPr wrap="square" lIns="0" tIns="0" rIns="0" bIns="0" rtlCol="0" anchor="t">
            <a:normAutofit/>
          </a:bodyPr>
          <a:lstStyle/>
          <a:p>
            <a:pPr algn="l" indent="0" marL="0">
              <a:lnSpc>
                <a:spcPts val="1960"/>
              </a:lnSpc>
              <a:buNone/>
            </a:pPr>
            <a:r>
              <a:rPr lang="en-US" sz="1400" spc="300" kern="0" dirty="0">
                <a:solidFill>
                  <a:srgbClr val="D9BD86"/>
                </a:solidFill>
                <a:latin typeface="Space Mono" pitchFamily="49" charset="0"/>
                <a:ea typeface="Space Mono" pitchFamily="49" charset="-122"/>
                <a:cs typeface="Space Mono" pitchFamily="49" charset="-120"/>
              </a:rPr>
              <a:t>CLASSE D’INITIATION · NIVEAU A1</a:t>
            </a:r>
            <a:endParaRPr lang="en-US" sz="1400" dirty="0"/>
          </a:p>
        </p:txBody>
      </p:sp>
      <p:sp>
        <p:nvSpPr>
          <p:cNvPr id="4" name="Text 2"/>
          <p:cNvSpPr/>
          <p:nvPr>
            <p:ph type="title"/>
          </p:nvPr>
        </p:nvSpPr>
        <p:spPr>
          <a:xfrm>
            <a:off x="812800" y="2286000"/>
            <a:ext cx="8502650" cy="1930400"/>
          </a:xfrm>
          <a:prstGeom prst="rect">
            <a:avLst/>
          </a:prstGeom>
          <a:noFill/>
          <a:ln/>
        </p:spPr>
        <p:txBody>
          <a:bodyPr wrap="square" lIns="0" tIns="0" rIns="0" bIns="0" rtlCol="0" anchor="t">
            <a:normAutofit/>
          </a:bodyPr>
          <a:lstStyle/>
          <a:p>
            <a:pPr algn="l" indent="0" marL="0">
              <a:lnSpc>
                <a:spcPts val="7500"/>
              </a:lnSpc>
              <a:buNone/>
            </a:pPr>
            <a:r>
              <a:rPr lang="en-US" sz="7500" b="0" i="0" dirty="0">
                <a:solidFill>
                  <a:srgbClr val="F3EEE2"/>
                </a:solidFill>
                <a:latin typeface="Cormorant Garamond" pitchFamily="18" charset="0"/>
                <a:ea typeface="Cormorant Garamond" pitchFamily="18" charset="-122"/>
                <a:cs typeface="Cormorant Garamond" pitchFamily="18" charset="-120"/>
              </a:rPr>
              <a:t>Les sons</a:t>
            </a:r>
            <a:endParaRPr lang="en-US" sz="7500" dirty="0"/>
          </a:p>
          <a:p>
            <a:pPr algn="l" indent="0" marL="0">
              <a:lnSpc>
                <a:spcPts val="7500"/>
              </a:lnSpc>
              <a:buNone/>
            </a:pPr>
            <a:r>
              <a:rPr lang="en-US" sz="7500" b="0" i="0" dirty="0">
                <a:solidFill>
                  <a:srgbClr val="F3EEE2"/>
                </a:solidFill>
                <a:latin typeface="Cormorant Garamond" pitchFamily="18" charset="0"/>
                <a:ea typeface="Cormorant Garamond" pitchFamily="18" charset="-122"/>
                <a:cs typeface="Cormorant Garamond" pitchFamily="18" charset="-120"/>
              </a:rPr>
              <a:t>et les voyelles</a:t>
            </a:r>
            <a:endParaRPr lang="en-US" sz="7500" dirty="0"/>
          </a:p>
        </p:txBody>
      </p:sp>
      <p:sp>
        <p:nvSpPr>
          <p:cNvPr id="5" name="Shape 3"/>
          <p:cNvSpPr/>
          <p:nvPr/>
        </p:nvSpPr>
        <p:spPr>
          <a:xfrm>
            <a:off x="812800" y="4445000"/>
            <a:ext cx="1016000" cy="25400"/>
          </a:xfrm>
          <a:prstGeom prst="rect">
            <a:avLst/>
          </a:prstGeom>
          <a:solidFill>
            <a:srgbClr val="A5824A"/>
          </a:solidFill>
          <a:ln/>
        </p:spPr>
      </p:sp>
      <p:sp>
        <p:nvSpPr>
          <p:cNvPr id="6" name="Text 4"/>
          <p:cNvSpPr/>
          <p:nvPr/>
        </p:nvSpPr>
        <p:spPr>
          <a:xfrm>
            <a:off x="812800" y="4699000"/>
            <a:ext cx="71945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6CC"/>
                </a:solidFill>
                <a:latin typeface="Syne" pitchFamily="34" charset="0"/>
                <a:ea typeface="Syne" pitchFamily="34" charset="-122"/>
                <a:cs typeface="Syne" pitchFamily="34" charset="-120"/>
              </a:rPr>
              <a:t>Si sabes pronunciar cinco vocales en español, ya puedes pronunciar el francés.</a:t>
            </a:r>
            <a:endParaRPr lang="en-US" sz="1800" dirty="0"/>
          </a:p>
        </p:txBody>
      </p:sp>
      <p:sp>
        <p:nvSpPr>
          <p:cNvPr id="7" name="Text 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6853174" y="571500"/>
            <a:ext cx="4526026" cy="2565400"/>
          </a:xfrm>
          <a:prstGeom prst="rect">
            <a:avLst/>
          </a:prstGeom>
          <a:noFill/>
          <a:ln/>
        </p:spPr>
        <p:txBody>
          <a:bodyPr wrap="square" lIns="0" tIns="0" rIns="0" bIns="0" rtlCol="0" anchor="t">
            <a:normAutofit/>
          </a:bodyPr>
          <a:lstStyle/>
          <a:p>
            <a:pPr algn="r" indent="0" marL="0">
              <a:lnSpc>
                <a:spcPts val="20000"/>
              </a:lnSpc>
              <a:buNone/>
            </a:pPr>
            <a:r>
              <a:rPr lang="en-US" sz="20000" i="1" dirty="0">
                <a:solidFill>
                  <a:srgbClr val="1F6B55">
                    <a:alpha val="8000"/>
                  </a:srgbClr>
                </a:solidFill>
                <a:latin typeface="Cormorant Garamond" pitchFamily="18" charset="0"/>
                <a:ea typeface="Cormorant Garamond" pitchFamily="18" charset="-122"/>
                <a:cs typeface="Cormorant Garamond" pitchFamily="18" charset="-120"/>
              </a:rPr>
              <a:t>B</a:t>
            </a:r>
            <a:endParaRPr lang="en-US" sz="20000" dirty="0"/>
          </a:p>
        </p:txBody>
      </p:sp>
      <p:sp>
        <p:nvSpPr>
          <p:cNvPr id="3" name="Text 1"/>
          <p:cNvSpPr/>
          <p:nvPr>
            <p:ph type="title"/>
          </p:nvPr>
        </p:nvSpPr>
        <p:spPr>
          <a:xfrm>
            <a:off x="812800" y="1397000"/>
            <a:ext cx="9156700" cy="1422400"/>
          </a:xfrm>
          <a:prstGeom prst="rect">
            <a:avLst/>
          </a:prstGeom>
          <a:noFill/>
          <a:ln/>
        </p:spPr>
        <p:txBody>
          <a:bodyPr wrap="square" lIns="0" tIns="0" rIns="0" bIns="0" rtlCol="0" anchor="t">
            <a:normAutofit/>
          </a:bodyPr>
          <a:lstStyle/>
          <a:p>
            <a:pPr algn="l" indent="0" marL="0">
              <a:lnSpc>
                <a:spcPts val="11000"/>
              </a:lnSpc>
              <a:buNone/>
            </a:pPr>
            <a:r>
              <a:rPr lang="en-US" sz="11000" b="1" i="0" dirty="0">
                <a:solidFill>
                  <a:srgbClr val="12332B"/>
                </a:solidFill>
                <a:latin typeface="Cormorant Garamond" pitchFamily="18" charset="0"/>
                <a:ea typeface="Cormorant Garamond" pitchFamily="18" charset="-122"/>
                <a:cs typeface="Cormorant Garamond" pitchFamily="18" charset="-120"/>
              </a:rPr>
              <a:t>Bonjour !</a:t>
            </a:r>
            <a:endParaRPr lang="en-US" sz="11000" dirty="0"/>
          </a:p>
        </p:txBody>
      </p:sp>
      <p:sp>
        <p:nvSpPr>
          <p:cNvPr id="4" name="Text 2"/>
          <p:cNvSpPr/>
          <p:nvPr/>
        </p:nvSpPr>
        <p:spPr>
          <a:xfrm>
            <a:off x="863600" y="2984500"/>
            <a:ext cx="7848600" cy="640060"/>
          </a:xfrm>
          <a:prstGeom prst="rect">
            <a:avLst/>
          </a:prstGeom>
          <a:noFill/>
          <a:ln/>
        </p:spPr>
        <p:txBody>
          <a:bodyPr wrap="square" lIns="0" tIns="0" rIns="0" bIns="0" rtlCol="0" anchor="t">
            <a:normAutofit/>
          </a:bodyPr>
          <a:lstStyle/>
          <a:p>
            <a:pPr algn="l" indent="0" marL="0">
              <a:lnSpc>
                <a:spcPts val="4840"/>
              </a:lnSpc>
              <a:buNone/>
            </a:pPr>
            <a:r>
              <a:rPr lang="en-US" sz="4400" i="1" dirty="0">
                <a:solidFill>
                  <a:srgbClr val="7A5E2E"/>
                </a:solidFill>
                <a:latin typeface="Cormorant Garamond" pitchFamily="18" charset="0"/>
                <a:ea typeface="Cormorant Garamond" pitchFamily="18" charset="-122"/>
                <a:cs typeface="Cormorant Garamond" pitchFamily="18" charset="-120"/>
              </a:rPr>
              <a:t>et bienvenue</a:t>
            </a:r>
            <a:endParaRPr lang="en-US" sz="4400" dirty="0"/>
          </a:p>
        </p:txBody>
      </p:sp>
      <p:sp>
        <p:nvSpPr>
          <p:cNvPr id="5" name="Shape 3"/>
          <p:cNvSpPr/>
          <p:nvPr/>
        </p:nvSpPr>
        <p:spPr>
          <a:xfrm>
            <a:off x="863600" y="3937000"/>
            <a:ext cx="1016000" cy="25400"/>
          </a:xfrm>
          <a:prstGeom prst="rect">
            <a:avLst/>
          </a:prstGeom>
          <a:solidFill>
            <a:srgbClr val="A5824A"/>
          </a:solidFill>
          <a:ln/>
        </p:spPr>
      </p:sp>
      <p:sp>
        <p:nvSpPr>
          <p:cNvPr id="6" name="Text 4"/>
          <p:cNvSpPr/>
          <p:nvPr/>
        </p:nvSpPr>
        <p:spPr>
          <a:xfrm>
            <a:off x="863600" y="4191000"/>
            <a:ext cx="71945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4645A"/>
                </a:solidFill>
                <a:latin typeface="Syne" pitchFamily="34" charset="0"/>
                <a:ea typeface="Syne" pitchFamily="34" charset="-122"/>
                <a:cs typeface="Syne" pitchFamily="34" charset="-120"/>
              </a:rPr>
              <a:t>En 60 minutos vas a descubrir que ya tienes casi todo lo necesario para pronunciar el francés.</a:t>
            </a:r>
            <a:endParaRPr lang="en-US" sz="1800" dirty="0"/>
          </a:p>
        </p:txBody>
      </p:sp>
      <p:sp>
        <p:nvSpPr>
          <p:cNvPr id="7" name="Text 5"/>
          <p:cNvSpPr/>
          <p:nvPr/>
        </p:nvSpPr>
        <p:spPr>
          <a:xfrm>
            <a:off x="7874000" y="4445000"/>
            <a:ext cx="3505200" cy="817860"/>
          </a:xfrm>
          <a:prstGeom prst="roundRect">
            <a:avLst>
              <a:gd name="adj" fmla="val 50000"/>
            </a:avLst>
          </a:prstGeom>
          <a:solidFill>
            <a:srgbClr val="12332B"/>
          </a:solidFill>
          <a:ln/>
        </p:spPr>
        <p:txBody>
          <a:bodyPr wrap="square" lIns="89270" tIns="58028" rIns="89270" bIns="32628" rtlCol="0" anchor="t">
            <a:normAutofit/>
          </a:bodyPr>
          <a:lstStyle/>
          <a:p>
            <a:pPr algn="ctr" indent="0" marL="0">
              <a:lnSpc>
                <a:spcPts val="3640"/>
              </a:lnSpc>
              <a:buNone/>
            </a:pPr>
            <a:r>
              <a:rPr lang="en-US" sz="2600" dirty="0">
                <a:solidFill>
                  <a:srgbClr val="F3EEE2"/>
                </a:solidFill>
                <a:latin typeface="Cormorant Garamond" pitchFamily="18" charset="0"/>
                <a:ea typeface="Cormorant Garamond" pitchFamily="18" charset="-122"/>
                <a:cs typeface="Cormorant Garamond" pitchFamily="18" charset="-120"/>
              </a:rPr>
              <a:t>Je m’appelle…</a:t>
            </a:r>
            <a:endParaRPr lang="en-US" sz="2600" dirty="0"/>
          </a:p>
        </p:txBody>
      </p:sp>
      <p:sp>
        <p:nvSpPr>
          <p:cNvPr id="8" name="Text 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EL RECORRIDO</a:t>
            </a:r>
            <a:endParaRPr lang="en-US" sz="1200" dirty="0"/>
          </a:p>
        </p:txBody>
      </p:sp>
      <p:sp>
        <p:nvSpPr>
          <p:cNvPr id="3" name="Text 1"/>
          <p:cNvSpPr/>
          <p:nvPr>
            <p:ph type="title"/>
          </p:nvPr>
        </p:nvSpPr>
        <p:spPr>
          <a:xfrm>
            <a:off x="812800" y="1054100"/>
            <a:ext cx="9156700"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2332B"/>
                </a:solidFill>
                <a:latin typeface="Cormorant Garamond" pitchFamily="18" charset="0"/>
                <a:ea typeface="Cormorant Garamond" pitchFamily="18" charset="-122"/>
                <a:cs typeface="Cormorant Garamond" pitchFamily="18" charset="-120"/>
              </a:rPr>
              <a:t>Notre voyage</a:t>
            </a:r>
            <a:endParaRPr lang="en-US" sz="4400" dirty="0"/>
          </a:p>
        </p:txBody>
      </p:sp>
      <p:sp>
        <p:nvSpPr>
          <p:cNvPr id="4" name="Shape 2"/>
          <p:cNvSpPr/>
          <p:nvPr/>
        </p:nvSpPr>
        <p:spPr>
          <a:xfrm>
            <a:off x="812800" y="1908175"/>
            <a:ext cx="10566400" cy="0"/>
          </a:xfrm>
          <a:prstGeom prst="line">
            <a:avLst/>
          </a:prstGeom>
          <a:noFill/>
          <a:ln w="6350">
            <a:solidFill>
              <a:srgbClr val="C9DCD1"/>
            </a:solidFill>
            <a:prstDash val="solid"/>
          </a:ln>
        </p:spPr>
      </p:sp>
      <p:sp>
        <p:nvSpPr>
          <p:cNvPr id="5" name="Text 3"/>
          <p:cNvSpPr/>
          <p:nvPr/>
        </p:nvSpPr>
        <p:spPr>
          <a:xfrm>
            <a:off x="812800" y="2070695"/>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5824A"/>
                </a:solidFill>
                <a:latin typeface="Space Mono" pitchFamily="49" charset="0"/>
                <a:ea typeface="Space Mono" pitchFamily="49" charset="-122"/>
                <a:cs typeface="Space Mono" pitchFamily="49" charset="-120"/>
              </a:rPr>
              <a:t>01</a:t>
            </a:r>
            <a:endParaRPr lang="en-US" sz="1600" dirty="0"/>
          </a:p>
        </p:txBody>
      </p:sp>
      <p:sp>
        <p:nvSpPr>
          <p:cNvPr id="6" name="Text 4"/>
          <p:cNvSpPr/>
          <p:nvPr/>
        </p:nvSpPr>
        <p:spPr>
          <a:xfrm>
            <a:off x="1676400" y="1981795"/>
            <a:ext cx="457835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Les voyelles</a:t>
            </a:r>
            <a:endParaRPr lang="en-US" sz="2600" dirty="0"/>
          </a:p>
        </p:txBody>
      </p:sp>
      <p:sp>
        <p:nvSpPr>
          <p:cNvPr id="7" name="Text 5"/>
          <p:cNvSpPr/>
          <p:nvPr/>
        </p:nvSpPr>
        <p:spPr>
          <a:xfrm>
            <a:off x="6375400" y="2088555"/>
            <a:ext cx="515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Vocales individuales: A, E, I, O… y la U</a:t>
            </a:r>
            <a:endParaRPr lang="en-US" sz="1400" dirty="0"/>
          </a:p>
        </p:txBody>
      </p:sp>
      <p:sp>
        <p:nvSpPr>
          <p:cNvPr id="8" name="Shape 6"/>
          <p:cNvSpPr/>
          <p:nvPr/>
        </p:nvSpPr>
        <p:spPr>
          <a:xfrm>
            <a:off x="812800" y="2517775"/>
            <a:ext cx="10566400" cy="0"/>
          </a:xfrm>
          <a:prstGeom prst="line">
            <a:avLst/>
          </a:prstGeom>
          <a:noFill/>
          <a:ln w="6350">
            <a:solidFill>
              <a:srgbClr val="C9DCD1"/>
            </a:solidFill>
            <a:prstDash val="solid"/>
          </a:ln>
        </p:spPr>
      </p:sp>
      <p:sp>
        <p:nvSpPr>
          <p:cNvPr id="9" name="Text 7"/>
          <p:cNvSpPr/>
          <p:nvPr/>
        </p:nvSpPr>
        <p:spPr>
          <a:xfrm>
            <a:off x="812800" y="2680295"/>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5824A"/>
                </a:solidFill>
                <a:latin typeface="Space Mono" pitchFamily="49" charset="0"/>
                <a:ea typeface="Space Mono" pitchFamily="49" charset="-122"/>
                <a:cs typeface="Space Mono" pitchFamily="49" charset="-120"/>
              </a:rPr>
              <a:t>02</a:t>
            </a:r>
            <a:endParaRPr lang="en-US" sz="1600" dirty="0"/>
          </a:p>
        </p:txBody>
      </p:sp>
      <p:sp>
        <p:nvSpPr>
          <p:cNvPr id="10" name="Text 8"/>
          <p:cNvSpPr/>
          <p:nvPr/>
        </p:nvSpPr>
        <p:spPr>
          <a:xfrm>
            <a:off x="1676400" y="2591395"/>
            <a:ext cx="457835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Les voyelles composées</a:t>
            </a:r>
            <a:endParaRPr lang="en-US" sz="2600" dirty="0"/>
          </a:p>
        </p:txBody>
      </p:sp>
      <p:sp>
        <p:nvSpPr>
          <p:cNvPr id="11" name="Text 9"/>
          <p:cNvSpPr/>
          <p:nvPr/>
        </p:nvSpPr>
        <p:spPr>
          <a:xfrm>
            <a:off x="6375400" y="2698155"/>
            <a:ext cx="515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Cuando dos vocales se juntan</a:t>
            </a:r>
            <a:endParaRPr lang="en-US" sz="1400" dirty="0"/>
          </a:p>
        </p:txBody>
      </p:sp>
      <p:sp>
        <p:nvSpPr>
          <p:cNvPr id="12" name="Shape 10"/>
          <p:cNvSpPr/>
          <p:nvPr/>
        </p:nvSpPr>
        <p:spPr>
          <a:xfrm>
            <a:off x="812800" y="3127375"/>
            <a:ext cx="10566400" cy="0"/>
          </a:xfrm>
          <a:prstGeom prst="line">
            <a:avLst/>
          </a:prstGeom>
          <a:noFill/>
          <a:ln w="6350">
            <a:solidFill>
              <a:srgbClr val="C9DCD1"/>
            </a:solidFill>
            <a:prstDash val="solid"/>
          </a:ln>
        </p:spPr>
      </p:sp>
      <p:sp>
        <p:nvSpPr>
          <p:cNvPr id="13" name="Text 11"/>
          <p:cNvSpPr/>
          <p:nvPr/>
        </p:nvSpPr>
        <p:spPr>
          <a:xfrm>
            <a:off x="812800" y="3289895"/>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5824A"/>
                </a:solidFill>
                <a:latin typeface="Space Mono" pitchFamily="49" charset="0"/>
                <a:ea typeface="Space Mono" pitchFamily="49" charset="-122"/>
                <a:cs typeface="Space Mono" pitchFamily="49" charset="-120"/>
              </a:rPr>
              <a:t>03</a:t>
            </a:r>
            <a:endParaRPr lang="en-US" sz="1600" dirty="0"/>
          </a:p>
        </p:txBody>
      </p:sp>
      <p:sp>
        <p:nvSpPr>
          <p:cNvPr id="14" name="Text 12"/>
          <p:cNvSpPr/>
          <p:nvPr/>
        </p:nvSpPr>
        <p:spPr>
          <a:xfrm>
            <a:off x="1676400" y="3200995"/>
            <a:ext cx="457835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Les voyelles nasales</a:t>
            </a:r>
            <a:endParaRPr lang="en-US" sz="2600" dirty="0"/>
          </a:p>
        </p:txBody>
      </p:sp>
      <p:sp>
        <p:nvSpPr>
          <p:cNvPr id="15" name="Text 13"/>
          <p:cNvSpPr/>
          <p:nvPr/>
        </p:nvSpPr>
        <p:spPr>
          <a:xfrm>
            <a:off x="6375400" y="3307755"/>
            <a:ext cx="515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El sonido que pasa por la nariz</a:t>
            </a:r>
            <a:endParaRPr lang="en-US" sz="1400" dirty="0"/>
          </a:p>
        </p:txBody>
      </p:sp>
      <p:sp>
        <p:nvSpPr>
          <p:cNvPr id="16" name="Shape 14"/>
          <p:cNvSpPr/>
          <p:nvPr/>
        </p:nvSpPr>
        <p:spPr>
          <a:xfrm>
            <a:off x="812800" y="3736975"/>
            <a:ext cx="10566400" cy="0"/>
          </a:xfrm>
          <a:prstGeom prst="line">
            <a:avLst/>
          </a:prstGeom>
          <a:noFill/>
          <a:ln w="6350">
            <a:solidFill>
              <a:srgbClr val="C9DCD1"/>
            </a:solidFill>
            <a:prstDash val="solid"/>
          </a:ln>
        </p:spPr>
      </p:sp>
      <p:sp>
        <p:nvSpPr>
          <p:cNvPr id="17" name="Text 15"/>
          <p:cNvSpPr/>
          <p:nvPr/>
        </p:nvSpPr>
        <p:spPr>
          <a:xfrm>
            <a:off x="812800" y="3899495"/>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5824A"/>
                </a:solidFill>
                <a:latin typeface="Space Mono" pitchFamily="49" charset="0"/>
                <a:ea typeface="Space Mono" pitchFamily="49" charset="-122"/>
                <a:cs typeface="Space Mono" pitchFamily="49" charset="-120"/>
              </a:rPr>
              <a:t>04</a:t>
            </a:r>
            <a:endParaRPr lang="en-US" sz="1600" dirty="0"/>
          </a:p>
        </p:txBody>
      </p:sp>
      <p:sp>
        <p:nvSpPr>
          <p:cNvPr id="18" name="Text 16"/>
          <p:cNvSpPr/>
          <p:nvPr/>
        </p:nvSpPr>
        <p:spPr>
          <a:xfrm>
            <a:off x="1676400" y="3810595"/>
            <a:ext cx="457835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Les sons vibrants</a:t>
            </a:r>
            <a:endParaRPr lang="en-US" sz="2600" dirty="0"/>
          </a:p>
        </p:txBody>
      </p:sp>
      <p:sp>
        <p:nvSpPr>
          <p:cNvPr id="19" name="Text 17"/>
          <p:cNvSpPr/>
          <p:nvPr/>
        </p:nvSpPr>
        <p:spPr>
          <a:xfrm>
            <a:off x="6375400" y="3917355"/>
            <a:ext cx="515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La R francesa, desde la garganta</a:t>
            </a:r>
            <a:endParaRPr lang="en-US" sz="1400" dirty="0"/>
          </a:p>
        </p:txBody>
      </p:sp>
      <p:sp>
        <p:nvSpPr>
          <p:cNvPr id="20" name="Shape 18"/>
          <p:cNvSpPr/>
          <p:nvPr/>
        </p:nvSpPr>
        <p:spPr>
          <a:xfrm>
            <a:off x="812800" y="4346575"/>
            <a:ext cx="10566400" cy="0"/>
          </a:xfrm>
          <a:prstGeom prst="line">
            <a:avLst/>
          </a:prstGeom>
          <a:noFill/>
          <a:ln w="6350">
            <a:solidFill>
              <a:srgbClr val="C9DCD1"/>
            </a:solidFill>
            <a:prstDash val="solid"/>
          </a:ln>
        </p:spPr>
      </p:sp>
      <p:sp>
        <p:nvSpPr>
          <p:cNvPr id="21" name="Text 19"/>
          <p:cNvSpPr/>
          <p:nvPr/>
        </p:nvSpPr>
        <p:spPr>
          <a:xfrm>
            <a:off x="812800" y="4509095"/>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5824A"/>
                </a:solidFill>
                <a:latin typeface="Space Mono" pitchFamily="49" charset="0"/>
                <a:ea typeface="Space Mono" pitchFamily="49" charset="-122"/>
                <a:cs typeface="Space Mono" pitchFamily="49" charset="-120"/>
              </a:rPr>
              <a:t>05</a:t>
            </a:r>
            <a:endParaRPr lang="en-US" sz="1600" dirty="0"/>
          </a:p>
        </p:txBody>
      </p:sp>
      <p:sp>
        <p:nvSpPr>
          <p:cNvPr id="22" name="Text 20"/>
          <p:cNvSpPr/>
          <p:nvPr/>
        </p:nvSpPr>
        <p:spPr>
          <a:xfrm>
            <a:off x="1676400" y="4420195"/>
            <a:ext cx="457835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Les sons sifflants</a:t>
            </a:r>
            <a:endParaRPr lang="en-US" sz="2600" dirty="0"/>
          </a:p>
        </p:txBody>
      </p:sp>
      <p:sp>
        <p:nvSpPr>
          <p:cNvPr id="23" name="Text 21"/>
          <p:cNvSpPr/>
          <p:nvPr/>
        </p:nvSpPr>
        <p:spPr>
          <a:xfrm>
            <a:off x="6375400" y="4526955"/>
            <a:ext cx="515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S, Z, CH, J: el aire que silba</a:t>
            </a:r>
            <a:endParaRPr lang="en-US" sz="1400" dirty="0"/>
          </a:p>
        </p:txBody>
      </p:sp>
      <p:sp>
        <p:nvSpPr>
          <p:cNvPr id="24" name="Shape 22"/>
          <p:cNvSpPr/>
          <p:nvPr/>
        </p:nvSpPr>
        <p:spPr>
          <a:xfrm>
            <a:off x="812800" y="4956175"/>
            <a:ext cx="10566400" cy="0"/>
          </a:xfrm>
          <a:prstGeom prst="line">
            <a:avLst/>
          </a:prstGeom>
          <a:noFill/>
          <a:ln w="6350">
            <a:solidFill>
              <a:srgbClr val="C9DCD1"/>
            </a:solidFill>
            <a:prstDash val="solid"/>
          </a:ln>
        </p:spPr>
      </p:sp>
      <p:sp>
        <p:nvSpPr>
          <p:cNvPr id="25" name="Shape 23"/>
          <p:cNvSpPr/>
          <p:nvPr/>
        </p:nvSpPr>
        <p:spPr>
          <a:xfrm>
            <a:off x="812800" y="5559425"/>
            <a:ext cx="10566400" cy="0"/>
          </a:xfrm>
          <a:prstGeom prst="line">
            <a:avLst/>
          </a:prstGeom>
          <a:noFill/>
          <a:ln w="6350">
            <a:solidFill>
              <a:srgbClr val="C9DCD1"/>
            </a:solidFill>
            <a:prstDash val="solid"/>
          </a:ln>
        </p:spPr>
      </p:sp>
      <p:sp>
        <p:nvSpPr>
          <p:cNvPr id="26" name="Text 24"/>
          <p:cNvSpPr/>
          <p:nvPr/>
        </p:nvSpPr>
        <p:spPr>
          <a:xfrm>
            <a:off x="812800" y="5115520"/>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5824A"/>
                </a:solidFill>
                <a:latin typeface="Space Mono" pitchFamily="49" charset="0"/>
                <a:ea typeface="Space Mono" pitchFamily="49" charset="-122"/>
                <a:cs typeface="Space Mono" pitchFamily="49" charset="-120"/>
              </a:rPr>
              <a:t>06</a:t>
            </a:r>
            <a:endParaRPr lang="en-US" sz="1600" dirty="0"/>
          </a:p>
        </p:txBody>
      </p:sp>
      <p:sp>
        <p:nvSpPr>
          <p:cNvPr id="27" name="Text 25"/>
          <p:cNvSpPr/>
          <p:nvPr/>
        </p:nvSpPr>
        <p:spPr>
          <a:xfrm>
            <a:off x="1676400" y="5026620"/>
            <a:ext cx="457835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La musique du français</a:t>
            </a:r>
            <a:endParaRPr lang="en-US" sz="2600" dirty="0"/>
          </a:p>
        </p:txBody>
      </p:sp>
      <p:sp>
        <p:nvSpPr>
          <p:cNvPr id="28" name="Text 26"/>
          <p:cNvSpPr/>
          <p:nvPr/>
        </p:nvSpPr>
        <p:spPr>
          <a:xfrm>
            <a:off x="6375400" y="5133380"/>
            <a:ext cx="51539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Acento, ritmo, silabación y entonación</a:t>
            </a:r>
            <a:endParaRPr lang="en-US" sz="1400" dirty="0"/>
          </a:p>
        </p:txBody>
      </p:sp>
      <p:sp>
        <p:nvSpPr>
          <p:cNvPr id="29" name="Text 27"/>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LA PROMESA</a:t>
            </a:r>
            <a:endParaRPr lang="en-US" sz="1200" dirty="0"/>
          </a:p>
        </p:txBody>
      </p:sp>
      <p:sp>
        <p:nvSpPr>
          <p:cNvPr id="3" name="Text 1"/>
          <p:cNvSpPr/>
          <p:nvPr/>
        </p:nvSpPr>
        <p:spPr>
          <a:xfrm>
            <a:off x="812800" y="120650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4645A"/>
                </a:solidFill>
                <a:latin typeface="Syne" pitchFamily="34" charset="0"/>
                <a:ea typeface="Syne" pitchFamily="34" charset="-122"/>
                <a:cs typeface="Syne" pitchFamily="34" charset="-120"/>
              </a:rPr>
              <a:t>Si sabes decir estas cinco vocales en español…</a:t>
            </a:r>
            <a:endParaRPr lang="en-US" sz="2200" dirty="0"/>
          </a:p>
        </p:txBody>
      </p:sp>
      <p:sp>
        <p:nvSpPr>
          <p:cNvPr id="4" name="Text 2"/>
          <p:cNvSpPr/>
          <p:nvPr/>
        </p:nvSpPr>
        <p:spPr>
          <a:xfrm>
            <a:off x="781177" y="1905000"/>
            <a:ext cx="2171446" cy="1930400"/>
          </a:xfrm>
          <a:prstGeom prst="rect">
            <a:avLst/>
          </a:prstGeom>
          <a:noFill/>
          <a:ln/>
        </p:spPr>
        <p:txBody>
          <a:bodyPr wrap="square" lIns="0" tIns="0" rIns="0" bIns="0" rtlCol="0" anchor="t">
            <a:normAutofit/>
          </a:bodyPr>
          <a:lstStyle/>
          <a:p>
            <a:pPr algn="ctr" indent="0" marL="0">
              <a:lnSpc>
                <a:spcPts val="15000"/>
              </a:lnSpc>
              <a:buNone/>
            </a:pPr>
            <a:r>
              <a:rPr lang="en-US" sz="15000" b="1" dirty="0">
                <a:solidFill>
                  <a:srgbClr val="1F6B55"/>
                </a:solidFill>
                <a:latin typeface="Cormorant Garamond" pitchFamily="18" charset="0"/>
                <a:ea typeface="Cormorant Garamond" pitchFamily="18" charset="-122"/>
                <a:cs typeface="Cormorant Garamond" pitchFamily="18" charset="-120"/>
              </a:rPr>
              <a:t>A</a:t>
            </a:r>
            <a:endParaRPr lang="en-US" sz="15000" dirty="0"/>
          </a:p>
        </p:txBody>
      </p:sp>
      <p:sp>
        <p:nvSpPr>
          <p:cNvPr id="5" name="Text 3"/>
          <p:cNvSpPr/>
          <p:nvPr/>
        </p:nvSpPr>
        <p:spPr>
          <a:xfrm>
            <a:off x="2889377" y="1905000"/>
            <a:ext cx="2171446" cy="1930400"/>
          </a:xfrm>
          <a:prstGeom prst="rect">
            <a:avLst/>
          </a:prstGeom>
          <a:noFill/>
          <a:ln/>
        </p:spPr>
        <p:txBody>
          <a:bodyPr wrap="square" lIns="0" tIns="0" rIns="0" bIns="0" rtlCol="0" anchor="t">
            <a:normAutofit/>
          </a:bodyPr>
          <a:lstStyle/>
          <a:p>
            <a:pPr algn="ctr" indent="0" marL="0">
              <a:lnSpc>
                <a:spcPts val="15000"/>
              </a:lnSpc>
              <a:buNone/>
            </a:pPr>
            <a:r>
              <a:rPr lang="en-US" sz="15000" b="1" dirty="0">
                <a:solidFill>
                  <a:srgbClr val="1F6B55"/>
                </a:solidFill>
                <a:latin typeface="Cormorant Garamond" pitchFamily="18" charset="0"/>
                <a:ea typeface="Cormorant Garamond" pitchFamily="18" charset="-122"/>
                <a:cs typeface="Cormorant Garamond" pitchFamily="18" charset="-120"/>
              </a:rPr>
              <a:t>E</a:t>
            </a:r>
            <a:endParaRPr lang="en-US" sz="15000" dirty="0"/>
          </a:p>
        </p:txBody>
      </p:sp>
      <p:sp>
        <p:nvSpPr>
          <p:cNvPr id="6" name="Text 4"/>
          <p:cNvSpPr/>
          <p:nvPr/>
        </p:nvSpPr>
        <p:spPr>
          <a:xfrm>
            <a:off x="4997577" y="1905000"/>
            <a:ext cx="2171446" cy="1930400"/>
          </a:xfrm>
          <a:prstGeom prst="rect">
            <a:avLst/>
          </a:prstGeom>
          <a:noFill/>
          <a:ln/>
        </p:spPr>
        <p:txBody>
          <a:bodyPr wrap="square" lIns="0" tIns="0" rIns="0" bIns="0" rtlCol="0" anchor="t">
            <a:normAutofit/>
          </a:bodyPr>
          <a:lstStyle/>
          <a:p>
            <a:pPr algn="ctr" indent="0" marL="0">
              <a:lnSpc>
                <a:spcPts val="15000"/>
              </a:lnSpc>
              <a:buNone/>
            </a:pPr>
            <a:r>
              <a:rPr lang="en-US" sz="15000" b="1" dirty="0">
                <a:solidFill>
                  <a:srgbClr val="1F6B55"/>
                </a:solidFill>
                <a:latin typeface="Cormorant Garamond" pitchFamily="18" charset="0"/>
                <a:ea typeface="Cormorant Garamond" pitchFamily="18" charset="-122"/>
                <a:cs typeface="Cormorant Garamond" pitchFamily="18" charset="-120"/>
              </a:rPr>
              <a:t>I</a:t>
            </a:r>
            <a:endParaRPr lang="en-US" sz="15000" dirty="0"/>
          </a:p>
        </p:txBody>
      </p:sp>
      <p:sp>
        <p:nvSpPr>
          <p:cNvPr id="7" name="Text 5"/>
          <p:cNvSpPr/>
          <p:nvPr/>
        </p:nvSpPr>
        <p:spPr>
          <a:xfrm>
            <a:off x="7105777" y="1905000"/>
            <a:ext cx="2171446" cy="1930400"/>
          </a:xfrm>
          <a:prstGeom prst="rect">
            <a:avLst/>
          </a:prstGeom>
          <a:noFill/>
          <a:ln/>
        </p:spPr>
        <p:txBody>
          <a:bodyPr wrap="square" lIns="0" tIns="0" rIns="0" bIns="0" rtlCol="0" anchor="t">
            <a:normAutofit/>
          </a:bodyPr>
          <a:lstStyle/>
          <a:p>
            <a:pPr algn="ctr" indent="0" marL="0">
              <a:lnSpc>
                <a:spcPts val="15000"/>
              </a:lnSpc>
              <a:buNone/>
            </a:pPr>
            <a:r>
              <a:rPr lang="en-US" sz="15000" b="1" dirty="0">
                <a:solidFill>
                  <a:srgbClr val="1F6B55"/>
                </a:solidFill>
                <a:latin typeface="Cormorant Garamond" pitchFamily="18" charset="0"/>
                <a:ea typeface="Cormorant Garamond" pitchFamily="18" charset="-122"/>
                <a:cs typeface="Cormorant Garamond" pitchFamily="18" charset="-120"/>
              </a:rPr>
              <a:t>O</a:t>
            </a:r>
            <a:endParaRPr lang="en-US" sz="15000" dirty="0"/>
          </a:p>
        </p:txBody>
      </p:sp>
      <p:sp>
        <p:nvSpPr>
          <p:cNvPr id="8" name="Text 6"/>
          <p:cNvSpPr/>
          <p:nvPr/>
        </p:nvSpPr>
        <p:spPr>
          <a:xfrm>
            <a:off x="9213977" y="1905000"/>
            <a:ext cx="2171446" cy="1930400"/>
          </a:xfrm>
          <a:prstGeom prst="rect">
            <a:avLst/>
          </a:prstGeom>
          <a:noFill/>
          <a:ln/>
        </p:spPr>
        <p:txBody>
          <a:bodyPr wrap="square" lIns="0" tIns="0" rIns="0" bIns="0" rtlCol="0" anchor="t">
            <a:normAutofit/>
          </a:bodyPr>
          <a:lstStyle/>
          <a:p>
            <a:pPr algn="ctr" indent="0" marL="0">
              <a:lnSpc>
                <a:spcPts val="15000"/>
              </a:lnSpc>
              <a:buNone/>
            </a:pPr>
            <a:r>
              <a:rPr lang="en-US" sz="15000" b="1" dirty="0">
                <a:solidFill>
                  <a:srgbClr val="1F6B55"/>
                </a:solidFill>
                <a:latin typeface="Cormorant Garamond" pitchFamily="18" charset="0"/>
                <a:ea typeface="Cormorant Garamond" pitchFamily="18" charset="-122"/>
                <a:cs typeface="Cormorant Garamond" pitchFamily="18" charset="-120"/>
              </a:rPr>
              <a:t>U</a:t>
            </a:r>
            <a:endParaRPr lang="en-US" sz="15000" dirty="0"/>
          </a:p>
        </p:txBody>
      </p:sp>
      <p:sp>
        <p:nvSpPr>
          <p:cNvPr id="9" name="Text 7"/>
          <p:cNvSpPr/>
          <p:nvPr/>
        </p:nvSpPr>
        <p:spPr>
          <a:xfrm>
            <a:off x="812800" y="4318000"/>
            <a:ext cx="8502650" cy="584200"/>
          </a:xfrm>
          <a:prstGeom prst="rect">
            <a:avLst/>
          </a:prstGeom>
          <a:noFill/>
          <a:ln/>
        </p:spPr>
        <p:txBody>
          <a:bodyPr wrap="square" lIns="0" tIns="0" rIns="0" bIns="0" rtlCol="0" anchor="t">
            <a:normAutofit/>
          </a:bodyPr>
          <a:lstStyle/>
          <a:p>
            <a:pPr algn="l" indent="0" marL="0">
              <a:lnSpc>
                <a:spcPts val="4400"/>
              </a:lnSpc>
              <a:buNone/>
            </a:pPr>
            <a:r>
              <a:rPr lang="en-US" sz="4000" i="1" dirty="0">
                <a:solidFill>
                  <a:srgbClr val="7A5E2E"/>
                </a:solidFill>
                <a:latin typeface="Cormorant Garamond" pitchFamily="18" charset="0"/>
                <a:ea typeface="Cormorant Garamond" pitchFamily="18" charset="-122"/>
                <a:cs typeface="Cormorant Garamond" pitchFamily="18" charset="-120"/>
              </a:rPr>
              <a:t>…ya puedes leer el francés.</a:t>
            </a:r>
            <a:endParaRPr lang="en-US" sz="4000" dirty="0"/>
          </a:p>
        </p:txBody>
      </p:sp>
      <p:sp>
        <p:nvSpPr>
          <p:cNvPr id="10" name="Text 8"/>
          <p:cNvSpPr/>
          <p:nvPr/>
        </p:nvSpPr>
        <p:spPr>
          <a:xfrm>
            <a:off x="9213977" y="4445000"/>
            <a:ext cx="2171446"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A5824A"/>
                </a:solidFill>
                <a:latin typeface="Space Mono" pitchFamily="49" charset="0"/>
                <a:ea typeface="Space Mono" pitchFamily="49" charset="-122"/>
                <a:cs typeface="Space Mono" pitchFamily="49" charset="-120"/>
              </a:rPr>
              <a:t>…¿o no?</a:t>
            </a:r>
            <a:endParaRPr lang="en-US" sz="1400" dirty="0"/>
          </a:p>
        </p:txBody>
      </p:sp>
      <p:sp>
        <p:nvSpPr>
          <p:cNvPr id="11" name="Text 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32B"/>
        </a:solidFill>
      </p:bgPr>
    </p:bg>
    <p:spTree>
      <p:nvGrpSpPr>
        <p:cNvPr id="1" name=""/>
        <p:cNvGrpSpPr/>
        <p:nvPr/>
      </p:nvGrpSpPr>
      <p:grpSpPr>
        <a:xfrm>
          <a:off x="0" y="0"/>
          <a:ext cx="0" cy="0"/>
          <a:chOff x="0" y="0"/>
          <a:chExt cx="0" cy="0"/>
        </a:xfrm>
      </p:grpSpPr>
      <p:sp>
        <p:nvSpPr>
          <p:cNvPr id="2" name="Text 0"/>
          <p:cNvSpPr/>
          <p:nvPr/>
        </p:nvSpPr>
        <p:spPr>
          <a:xfrm>
            <a:off x="812800" y="2159000"/>
            <a:ext cx="39243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9BD86"/>
                </a:solidFill>
                <a:latin typeface="Space Mono" pitchFamily="49" charset="0"/>
                <a:ea typeface="Space Mono" pitchFamily="49" charset="-122"/>
                <a:cs typeface="Space Mono" pitchFamily="49" charset="-120"/>
              </a:rPr>
              <a:t>01</a:t>
            </a:r>
            <a:endParaRPr lang="en-US" sz="2200" dirty="0"/>
          </a:p>
        </p:txBody>
      </p:sp>
      <p:sp>
        <p:nvSpPr>
          <p:cNvPr id="3" name="Text 1"/>
          <p:cNvSpPr/>
          <p:nvPr>
            <p:ph type="title"/>
          </p:nvPr>
        </p:nvSpPr>
        <p:spPr>
          <a:xfrm>
            <a:off x="812800" y="2667000"/>
            <a:ext cx="10464800" cy="977900"/>
          </a:xfrm>
          <a:prstGeom prst="rect">
            <a:avLst/>
          </a:prstGeom>
          <a:noFill/>
          <a:ln/>
        </p:spPr>
        <p:txBody>
          <a:bodyPr wrap="square" lIns="0" tIns="0" rIns="0" bIns="0" rtlCol="0" anchor="t">
            <a:normAutofit/>
          </a:bodyPr>
          <a:lstStyle/>
          <a:p>
            <a:pPr algn="l" indent="0" marL="0">
              <a:lnSpc>
                <a:spcPts val="7500"/>
              </a:lnSpc>
              <a:buNone/>
            </a:pPr>
            <a:r>
              <a:rPr lang="en-US" sz="7500" b="0" i="0" dirty="0">
                <a:solidFill>
                  <a:srgbClr val="F3EEE2"/>
                </a:solidFill>
                <a:latin typeface="Cormorant Garamond" pitchFamily="18" charset="0"/>
                <a:ea typeface="Cormorant Garamond" pitchFamily="18" charset="-122"/>
                <a:cs typeface="Cormorant Garamond" pitchFamily="18" charset="-120"/>
              </a:rPr>
              <a:t>Les cinq voyelles</a:t>
            </a:r>
            <a:endParaRPr lang="en-US" sz="7500" dirty="0"/>
          </a:p>
        </p:txBody>
      </p:sp>
      <p:sp>
        <p:nvSpPr>
          <p:cNvPr id="4" name="Text 2"/>
          <p:cNvSpPr/>
          <p:nvPr/>
        </p:nvSpPr>
        <p:spPr>
          <a:xfrm>
            <a:off x="812800" y="3937000"/>
            <a:ext cx="9156700" cy="345380"/>
          </a:xfrm>
          <a:prstGeom prst="rect">
            <a:avLst/>
          </a:prstGeom>
          <a:noFill/>
          <a:ln/>
        </p:spPr>
        <p:txBody>
          <a:bodyPr wrap="square" lIns="0" tIns="0" rIns="0" bIns="0" rtlCol="0" anchor="t">
            <a:normAutofit/>
          </a:bodyPr>
          <a:lstStyle/>
          <a:p>
            <a:pPr algn="l" indent="0" marL="0">
              <a:lnSpc>
                <a:spcPts val="2520"/>
              </a:lnSpc>
              <a:buNone/>
            </a:pPr>
            <a:r>
              <a:rPr lang="en-US" sz="1800" spc="600" kern="0" dirty="0">
                <a:solidFill>
                  <a:srgbClr val="BFD6CC"/>
                </a:solidFill>
                <a:latin typeface="Syne" pitchFamily="34" charset="0"/>
                <a:ea typeface="Syne" pitchFamily="34" charset="-122"/>
                <a:cs typeface="Syne" pitchFamily="34" charset="-120"/>
              </a:rPr>
              <a:t>A · E · I · O · U</a:t>
            </a:r>
            <a:endParaRPr lang="en-US" sz="1800" dirty="0"/>
          </a:p>
        </p:txBody>
      </p:sp>
      <p:sp>
        <p:nvSpPr>
          <p:cNvPr id="5" name="Text 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EN FRANÇAIS</a:t>
            </a:r>
            <a:endParaRPr lang="en-US" sz="1200" dirty="0"/>
          </a:p>
        </p:txBody>
      </p:sp>
      <p:sp>
        <p:nvSpPr>
          <p:cNvPr id="3" name="Text 1"/>
          <p:cNvSpPr/>
          <p:nvPr/>
        </p:nvSpPr>
        <p:spPr>
          <a:xfrm>
            <a:off x="763270" y="1397000"/>
            <a:ext cx="340106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1F6B55"/>
                </a:solidFill>
                <a:latin typeface="Cormorant Garamond" pitchFamily="18" charset="0"/>
                <a:ea typeface="Cormorant Garamond" pitchFamily="18" charset="-122"/>
                <a:cs typeface="Cormorant Garamond" pitchFamily="18" charset="-120"/>
              </a:rPr>
              <a:t>A</a:t>
            </a:r>
            <a:endParaRPr lang="en-US" sz="20000" dirty="0"/>
          </a:p>
        </p:txBody>
      </p:sp>
      <p:sp>
        <p:nvSpPr>
          <p:cNvPr id="4" name="Text 2"/>
          <p:cNvSpPr/>
          <p:nvPr/>
        </p:nvSpPr>
        <p:spPr>
          <a:xfrm>
            <a:off x="763270" y="4191000"/>
            <a:ext cx="3401060" cy="528241"/>
          </a:xfrm>
          <a:prstGeom prst="rect">
            <a:avLst/>
          </a:prstGeom>
          <a:noFill/>
          <a:ln/>
        </p:spPr>
        <p:txBody>
          <a:bodyPr wrap="square" lIns="0" tIns="0" rIns="0" bIns="0" rtlCol="0" anchor="t">
            <a:normAutofit/>
          </a:bodyPr>
          <a:lstStyle/>
          <a:p>
            <a:pPr algn="ctr" indent="0" marL="0">
              <a:lnSpc>
                <a:spcPts val="3960"/>
              </a:lnSpc>
              <a:buNone/>
            </a:pPr>
            <a:r>
              <a:rPr lang="en-US" sz="3600" i="1" dirty="0">
                <a:solidFill>
                  <a:srgbClr val="7A5E2E"/>
                </a:solidFill>
                <a:latin typeface="Cormorant Garamond" pitchFamily="18" charset="0"/>
                <a:ea typeface="Cormorant Garamond" pitchFamily="18" charset="-122"/>
                <a:cs typeface="Cormorant Garamond" pitchFamily="18" charset="-120"/>
              </a:rPr>
              <a:t>comme…</a:t>
            </a:r>
            <a:endParaRPr lang="en-US" sz="3600" dirty="0"/>
          </a:p>
        </p:txBody>
      </p:sp>
      <p:pic>
        <p:nvPicPr>
          <p:cNvPr id="5" name="Image 0" descr="Avión en pleno vuelo">    </p:cNvPr>
          <p:cNvPicPr>
            <a:picLocks noChangeAspect="1"/>
          </p:cNvPicPr>
          <p:nvPr/>
        </p:nvPicPr>
        <p:blipFill>
          <a:blip r:embed="rId1"/>
          <a:srcRect l="0" r="0" t="7684" b="7684"/>
          <a:stretch/>
        </p:blipFill>
        <p:spPr>
          <a:xfrm>
            <a:off x="4832350" y="1085850"/>
            <a:ext cx="2654300" cy="1384300"/>
          </a:xfrm>
          <a:prstGeom prst="roundRect">
            <a:avLst>
              <a:gd name="adj" fmla="val 8716"/>
            </a:avLst>
          </a:prstGeom>
          <a:effectLst>
            <a:outerShdw sx="100000" sy="100000" kx="0" ky="0" algn="bl" rotWithShape="0" blurRad="152400" dist="50800" dir="5400000">
              <a:srgbClr val="12332B">
                <a:alpha val="10000"/>
              </a:srgbClr>
            </a:outerShdw>
          </a:effectLst>
        </p:spPr>
      </p:pic>
      <p:sp>
        <p:nvSpPr>
          <p:cNvPr id="6" name="Shape 3"/>
          <p:cNvSpPr/>
          <p:nvPr/>
        </p:nvSpPr>
        <p:spPr>
          <a:xfrm>
            <a:off x="4829175" y="1082675"/>
            <a:ext cx="2660650" cy="1390650"/>
          </a:xfrm>
          <a:prstGeom prst="roundRect">
            <a:avLst>
              <a:gd name="adj" fmla="val 8904"/>
            </a:avLst>
          </a:prstGeom>
          <a:noFill/>
          <a:ln w="6350">
            <a:solidFill>
              <a:srgbClr val="D5E5DB"/>
            </a:solidFill>
            <a:prstDash val="solid"/>
          </a:ln>
        </p:spPr>
      </p:sp>
      <p:sp>
        <p:nvSpPr>
          <p:cNvPr id="7" name="Text 4"/>
          <p:cNvSpPr/>
          <p:nvPr/>
        </p:nvSpPr>
        <p:spPr>
          <a:xfrm>
            <a:off x="7747000" y="1270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A</a:t>
            </a:r>
            <a:r>
              <a:rPr lang="en-US" sz="4400" b="1" dirty="0">
                <a:solidFill>
                  <a:srgbClr val="12332B"/>
                </a:solidFill>
                <a:latin typeface="Cormorant Garamond" pitchFamily="18" charset="0"/>
                <a:ea typeface="Cormorant Garamond" pitchFamily="18" charset="-122"/>
                <a:cs typeface="Cormorant Garamond" pitchFamily="18" charset="-120"/>
              </a:rPr>
              <a:t>vion</a:t>
            </a:r>
            <a:endParaRPr lang="en-US" sz="4400" dirty="0"/>
          </a:p>
        </p:txBody>
      </p:sp>
      <p:sp>
        <p:nvSpPr>
          <p:cNvPr id="8" name="Text 5"/>
          <p:cNvSpPr/>
          <p:nvPr/>
        </p:nvSpPr>
        <p:spPr>
          <a:xfrm>
            <a:off x="7747000" y="1968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avión</a:t>
            </a:r>
            <a:endParaRPr lang="en-US" sz="1400" dirty="0"/>
          </a:p>
        </p:txBody>
      </p:sp>
      <p:sp>
        <p:nvSpPr>
          <p:cNvPr id="9" name="Shape 6"/>
          <p:cNvSpPr/>
          <p:nvPr/>
        </p:nvSpPr>
        <p:spPr>
          <a:xfrm>
            <a:off x="4826000" y="2603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10" name="Image 1" descr="Dos amigos abrazados">    </p:cNvPr>
          <p:cNvPicPr>
            <a:picLocks noChangeAspect="1"/>
          </p:cNvPicPr>
          <p:nvPr/>
        </p:nvPicPr>
        <p:blipFill>
          <a:blip r:embed="rId2"/>
          <a:stretch>
            <a:fillRect/>
          </a:stretch>
        </p:blipFill>
        <p:spPr>
          <a:xfrm>
            <a:off x="5467350" y="2609850"/>
            <a:ext cx="1384300" cy="1384300"/>
          </a:xfrm>
          <a:prstGeom prst="rect">
            <a:avLst/>
          </a:prstGeom>
        </p:spPr>
      </p:pic>
      <p:sp>
        <p:nvSpPr>
          <p:cNvPr id="11" name="Shape 7"/>
          <p:cNvSpPr/>
          <p:nvPr/>
        </p:nvSpPr>
        <p:spPr>
          <a:xfrm>
            <a:off x="4829175" y="2606675"/>
            <a:ext cx="2660650" cy="1390650"/>
          </a:xfrm>
          <a:prstGeom prst="roundRect">
            <a:avLst>
              <a:gd name="adj" fmla="val 8904"/>
            </a:avLst>
          </a:prstGeom>
          <a:noFill/>
          <a:ln w="6350">
            <a:solidFill>
              <a:srgbClr val="D5E5DB"/>
            </a:solidFill>
            <a:prstDash val="solid"/>
          </a:ln>
        </p:spPr>
      </p:sp>
      <p:sp>
        <p:nvSpPr>
          <p:cNvPr id="12" name="Text 8"/>
          <p:cNvSpPr/>
          <p:nvPr/>
        </p:nvSpPr>
        <p:spPr>
          <a:xfrm>
            <a:off x="7747000" y="2794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A</a:t>
            </a:r>
            <a:r>
              <a:rPr lang="en-US" sz="4400" b="1" dirty="0">
                <a:solidFill>
                  <a:srgbClr val="12332B"/>
                </a:solidFill>
                <a:latin typeface="Cormorant Garamond" pitchFamily="18" charset="0"/>
                <a:ea typeface="Cormorant Garamond" pitchFamily="18" charset="-122"/>
                <a:cs typeface="Cormorant Garamond" pitchFamily="18" charset="-120"/>
              </a:rPr>
              <a:t>mi (e)</a:t>
            </a:r>
            <a:endParaRPr lang="en-US" sz="4400" dirty="0"/>
          </a:p>
        </p:txBody>
      </p:sp>
      <p:sp>
        <p:nvSpPr>
          <p:cNvPr id="13" name="Text 9"/>
          <p:cNvSpPr/>
          <p:nvPr/>
        </p:nvSpPr>
        <p:spPr>
          <a:xfrm>
            <a:off x="7747000" y="3492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amigo · amiga</a:t>
            </a:r>
            <a:endParaRPr lang="en-US" sz="1400" dirty="0"/>
          </a:p>
        </p:txBody>
      </p:sp>
      <p:sp>
        <p:nvSpPr>
          <p:cNvPr id="14" name="Shape 10"/>
          <p:cNvSpPr/>
          <p:nvPr/>
        </p:nvSpPr>
        <p:spPr>
          <a:xfrm>
            <a:off x="4826000" y="4127500"/>
            <a:ext cx="1270000" cy="1397000"/>
          </a:xfrm>
          <a:prstGeom prst="roundRect">
            <a:avLst>
              <a:gd name="adj" fmla="val 10000"/>
            </a:avLst>
          </a:prstGeom>
          <a:solidFill>
            <a:srgbClr val="FFFFFF"/>
          </a:solidFill>
          <a:ln/>
          <a:effectLst>
            <a:outerShdw sx="100000" sy="100000" kx="0" ky="0" algn="bl" rotWithShape="0" blurRad="152400" dist="50800" dir="5400000">
              <a:srgbClr val="12332B">
                <a:alpha val="10000"/>
              </a:srgbClr>
            </a:outerShdw>
          </a:effectLst>
        </p:spPr>
      </p:sp>
      <p:pic>
        <p:nvPicPr>
          <p:cNvPr id="15" name="Image 2" descr="Silueta de un abogado con toga">    </p:cNvPr>
          <p:cNvPicPr>
            <a:picLocks noChangeAspect="1"/>
          </p:cNvPicPr>
          <p:nvPr/>
        </p:nvPicPr>
        <p:blipFill>
          <a:blip r:embed="rId3"/>
          <a:stretch>
            <a:fillRect/>
          </a:stretch>
        </p:blipFill>
        <p:spPr>
          <a:xfrm>
            <a:off x="4832350" y="4197350"/>
            <a:ext cx="1257300" cy="1257300"/>
          </a:xfrm>
          <a:custGeom>
            <a:avLst/>
            <a:gdLst/>
            <a:ahLst/>
            <a:cxnLst/>
            <a:rect l="l" t="t" r="r" b="b"/>
            <a:pathLst>
              <a:path w="1257300" h="1257300">
                <a:moveTo>
                  <a:pt x="0" y="57150"/>
                </a:moveTo>
                <a:arcTo wR="120650" hR="120650" stAng="10800000" swAng="1696423"/>
                <a:lnTo>
                  <a:pt x="1242906" y="0"/>
                </a:lnTo>
                <a:arcTo wR="120650" hR="120650" stAng="19903577" swAng="1696423"/>
                <a:lnTo>
                  <a:pt x="1257300" y="1200150"/>
                </a:lnTo>
                <a:arcTo wR="120650" hR="120650" stAng="0" swAng="1696423"/>
                <a:lnTo>
                  <a:pt x="14394" y="1257300"/>
                </a:lnTo>
                <a:arcTo wR="120650" hR="120650" stAng="9103577" swAng="1696423"/>
                <a:close/>
              </a:path>
            </a:pathLst>
          </a:custGeom>
        </p:spPr>
      </p:pic>
      <p:sp>
        <p:nvSpPr>
          <p:cNvPr id="16" name="Shape 11"/>
          <p:cNvSpPr/>
          <p:nvPr/>
        </p:nvSpPr>
        <p:spPr>
          <a:xfrm>
            <a:off x="4829175" y="4130675"/>
            <a:ext cx="1263650" cy="1390650"/>
          </a:xfrm>
          <a:prstGeom prst="roundRect">
            <a:avLst>
              <a:gd name="adj" fmla="val 9799"/>
            </a:avLst>
          </a:prstGeom>
          <a:noFill/>
          <a:ln w="6350">
            <a:solidFill>
              <a:srgbClr val="D5E5DB"/>
            </a:solidFill>
            <a:prstDash val="solid"/>
          </a:ln>
        </p:spPr>
      </p:sp>
      <p:sp>
        <p:nvSpPr>
          <p:cNvPr id="17" name="Text 12"/>
          <p:cNvSpPr/>
          <p:nvPr/>
        </p:nvSpPr>
        <p:spPr>
          <a:xfrm>
            <a:off x="7747000" y="4318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A</a:t>
            </a:r>
            <a:r>
              <a:rPr lang="en-US" sz="4400" b="1" dirty="0">
                <a:solidFill>
                  <a:srgbClr val="12332B"/>
                </a:solidFill>
                <a:latin typeface="Cormorant Garamond" pitchFamily="18" charset="0"/>
                <a:ea typeface="Cormorant Garamond" pitchFamily="18" charset="-122"/>
                <a:cs typeface="Cormorant Garamond" pitchFamily="18" charset="-120"/>
              </a:rPr>
              <a:t>vocat</a:t>
            </a:r>
            <a:endParaRPr lang="en-US" sz="4400" dirty="0"/>
          </a:p>
        </p:txBody>
      </p:sp>
      <p:sp>
        <p:nvSpPr>
          <p:cNvPr id="18" name="Text 13"/>
          <p:cNvSpPr/>
          <p:nvPr/>
        </p:nvSpPr>
        <p:spPr>
          <a:xfrm>
            <a:off x="7747000" y="5016500"/>
            <a:ext cx="1320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abogado…</a:t>
            </a:r>
            <a:endParaRPr lang="en-US" sz="1400" dirty="0"/>
          </a:p>
        </p:txBody>
      </p:sp>
      <p:sp>
        <p:nvSpPr>
          <p:cNvPr id="19" name="Shape 14"/>
          <p:cNvSpPr/>
          <p:nvPr/>
        </p:nvSpPr>
        <p:spPr>
          <a:xfrm>
            <a:off x="6223000" y="4127500"/>
            <a:ext cx="1270000" cy="1397000"/>
          </a:xfrm>
          <a:prstGeom prst="roundRect">
            <a:avLst>
              <a:gd name="adj" fmla="val 10000"/>
            </a:avLst>
          </a:prstGeom>
          <a:solidFill>
            <a:srgbClr val="FFFFFF"/>
          </a:solidFill>
          <a:ln/>
          <a:effectLst>
            <a:outerShdw sx="100000" sy="100000" kx="0" ky="0" algn="bl" rotWithShape="0" blurRad="152400" dist="50800" dir="5400000">
              <a:srgbClr val="12332B">
                <a:alpha val="10000"/>
              </a:srgbClr>
            </a:outerShdw>
          </a:effectLst>
        </p:spPr>
      </p:sp>
      <p:pic>
        <p:nvPicPr>
          <p:cNvPr id="20" name="Image 3" descr="Un aguacate partido por la mitad">    </p:cNvPr>
          <p:cNvPicPr>
            <a:picLocks noChangeAspect="1"/>
          </p:cNvPicPr>
          <p:nvPr/>
        </p:nvPicPr>
        <p:blipFill>
          <a:blip r:embed="rId4"/>
          <a:stretch>
            <a:fillRect/>
          </a:stretch>
        </p:blipFill>
        <p:spPr>
          <a:xfrm>
            <a:off x="6229350" y="4405526"/>
            <a:ext cx="1257300" cy="840948"/>
          </a:xfrm>
          <a:prstGeom prst="rect">
            <a:avLst/>
          </a:prstGeom>
        </p:spPr>
      </p:pic>
      <p:sp>
        <p:nvSpPr>
          <p:cNvPr id="21" name="Shape 15"/>
          <p:cNvSpPr/>
          <p:nvPr/>
        </p:nvSpPr>
        <p:spPr>
          <a:xfrm>
            <a:off x="6226175" y="4130675"/>
            <a:ext cx="1263650" cy="1390650"/>
          </a:xfrm>
          <a:prstGeom prst="roundRect">
            <a:avLst>
              <a:gd name="adj" fmla="val 9799"/>
            </a:avLst>
          </a:prstGeom>
          <a:noFill/>
          <a:ln w="6350">
            <a:solidFill>
              <a:srgbClr val="D5E5DB"/>
            </a:solidFill>
            <a:prstDash val="solid"/>
          </a:ln>
        </p:spPr>
      </p:sp>
      <p:sp>
        <p:nvSpPr>
          <p:cNvPr id="22" name="Text 16"/>
          <p:cNvSpPr/>
          <p:nvPr/>
        </p:nvSpPr>
        <p:spPr>
          <a:xfrm>
            <a:off x="9017000" y="5016500"/>
            <a:ext cx="243306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A5E2E"/>
                </a:solidFill>
                <a:latin typeface="Syne" pitchFamily="34" charset="0"/>
                <a:ea typeface="Syne" pitchFamily="34" charset="-122"/>
                <a:cs typeface="Syne" pitchFamily="34" charset="-120"/>
              </a:rPr>
              <a:t>¡y aguacate!</a:t>
            </a:r>
            <a:endParaRPr lang="en-US" sz="1400" dirty="0"/>
          </a:p>
        </p:txBody>
      </p:sp>
      <p:sp>
        <p:nvSpPr>
          <p:cNvPr id="23" name="Text 17"/>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4" name="Text 18"/>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01 · LES VOYELLES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EN FRANÇAIS</a:t>
            </a:r>
            <a:endParaRPr lang="en-US" sz="1200" dirty="0"/>
          </a:p>
        </p:txBody>
      </p:sp>
      <p:sp>
        <p:nvSpPr>
          <p:cNvPr id="3" name="Text 1"/>
          <p:cNvSpPr/>
          <p:nvPr/>
        </p:nvSpPr>
        <p:spPr>
          <a:xfrm>
            <a:off x="763270" y="1397000"/>
            <a:ext cx="340106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1F6B55"/>
                </a:solidFill>
                <a:latin typeface="Cormorant Garamond" pitchFamily="18" charset="0"/>
                <a:ea typeface="Cormorant Garamond" pitchFamily="18" charset="-122"/>
                <a:cs typeface="Cormorant Garamond" pitchFamily="18" charset="-120"/>
              </a:rPr>
              <a:t>E</a:t>
            </a:r>
            <a:endParaRPr lang="en-US" sz="20000" dirty="0"/>
          </a:p>
        </p:txBody>
      </p:sp>
      <p:sp>
        <p:nvSpPr>
          <p:cNvPr id="4" name="Text 2"/>
          <p:cNvSpPr/>
          <p:nvPr/>
        </p:nvSpPr>
        <p:spPr>
          <a:xfrm>
            <a:off x="763270" y="4191000"/>
            <a:ext cx="3401060" cy="528241"/>
          </a:xfrm>
          <a:prstGeom prst="rect">
            <a:avLst/>
          </a:prstGeom>
          <a:noFill/>
          <a:ln/>
        </p:spPr>
        <p:txBody>
          <a:bodyPr wrap="square" lIns="0" tIns="0" rIns="0" bIns="0" rtlCol="0" anchor="t">
            <a:normAutofit/>
          </a:bodyPr>
          <a:lstStyle/>
          <a:p>
            <a:pPr algn="ctr" indent="0" marL="0">
              <a:lnSpc>
                <a:spcPts val="3960"/>
              </a:lnSpc>
              <a:buNone/>
            </a:pPr>
            <a:r>
              <a:rPr lang="en-US" sz="3600" i="1" dirty="0">
                <a:solidFill>
                  <a:srgbClr val="7A5E2E"/>
                </a:solidFill>
                <a:latin typeface="Cormorant Garamond" pitchFamily="18" charset="0"/>
                <a:ea typeface="Cormorant Garamond" pitchFamily="18" charset="-122"/>
                <a:cs typeface="Cormorant Garamond" pitchFamily="18" charset="-120"/>
              </a:rPr>
              <a:t>comme…</a:t>
            </a:r>
            <a:endParaRPr lang="en-US" sz="3600" dirty="0"/>
          </a:p>
        </p:txBody>
      </p:sp>
      <p:sp>
        <p:nvSpPr>
          <p:cNvPr id="5" name="Text 3"/>
          <p:cNvSpPr/>
          <p:nvPr/>
        </p:nvSpPr>
        <p:spPr>
          <a:xfrm>
            <a:off x="763270" y="4889500"/>
            <a:ext cx="340106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4645A"/>
                </a:solidFill>
                <a:latin typeface="Syne" pitchFamily="34" charset="0"/>
                <a:ea typeface="Syne" pitchFamily="34" charset="-122"/>
                <a:cs typeface="Syne" pitchFamily="34" charset="-120"/>
              </a:rPr>
              <a:t>Solo dos: abierta o cerrada. Punto.</a:t>
            </a:r>
            <a:endParaRPr lang="en-US" sz="1400" dirty="0"/>
          </a:p>
        </p:txBody>
      </p:sp>
      <p:sp>
        <p:nvSpPr>
          <p:cNvPr id="6" name="Text 4"/>
          <p:cNvSpPr/>
          <p:nvPr/>
        </p:nvSpPr>
        <p:spPr>
          <a:xfrm>
            <a:off x="4800600" y="1079500"/>
            <a:ext cx="1320800" cy="1422400"/>
          </a:xfrm>
          <a:prstGeom prst="rect">
            <a:avLst/>
          </a:prstGeom>
          <a:noFill/>
          <a:ln/>
        </p:spPr>
        <p:txBody>
          <a:bodyPr wrap="square" lIns="0" tIns="0" rIns="0" bIns="0" rtlCol="0" anchor="t">
            <a:normAutofit/>
          </a:bodyPr>
          <a:lstStyle/>
          <a:p>
            <a:pPr algn="ctr" indent="0" marL="0">
              <a:lnSpc>
                <a:spcPts val="11000"/>
              </a:lnSpc>
              <a:buNone/>
            </a:pPr>
            <a:r>
              <a:rPr lang="en-US" sz="11000" b="1" dirty="0">
                <a:solidFill>
                  <a:srgbClr val="1F6B55"/>
                </a:solidFill>
                <a:latin typeface="Cormorant Garamond" pitchFamily="18" charset="0"/>
                <a:ea typeface="Cormorant Garamond" pitchFamily="18" charset="-122"/>
                <a:cs typeface="Cormorant Garamond" pitchFamily="18" charset="-120"/>
              </a:rPr>
              <a:t>É</a:t>
            </a:r>
            <a:endParaRPr lang="en-US" sz="11000" dirty="0"/>
          </a:p>
        </p:txBody>
      </p:sp>
      <p:sp>
        <p:nvSpPr>
          <p:cNvPr id="7" name="Shape 5"/>
          <p:cNvSpPr/>
          <p:nvPr/>
        </p:nvSpPr>
        <p:spPr>
          <a:xfrm>
            <a:off x="6286500" y="1143000"/>
            <a:ext cx="2286000" cy="1587500"/>
          </a:xfrm>
          <a:prstGeom prst="roundRect">
            <a:avLst>
              <a:gd name="adj" fmla="val 8000"/>
            </a:avLst>
          </a:prstGeom>
          <a:solidFill>
            <a:srgbClr val="FFFFFF"/>
          </a:solidFill>
          <a:ln/>
          <a:effectLst>
            <a:outerShdw sx="100000" sy="100000" kx="0" ky="0" algn="bl" rotWithShape="0" blurRad="152400" dist="50800" dir="5400000">
              <a:srgbClr val="12332B">
                <a:alpha val="10000"/>
              </a:srgbClr>
            </a:outerShdw>
          </a:effectLst>
        </p:spPr>
      </p:sp>
      <p:pic>
        <p:nvPicPr>
          <p:cNvPr id="8" name="Image 0" descr="Un elefante">    </p:cNvPr>
          <p:cNvPicPr>
            <a:picLocks noChangeAspect="1"/>
          </p:cNvPicPr>
          <p:nvPr/>
        </p:nvPicPr>
        <p:blipFill>
          <a:blip r:embed="rId1"/>
          <a:stretch>
            <a:fillRect/>
          </a:stretch>
        </p:blipFill>
        <p:spPr>
          <a:xfrm>
            <a:off x="6429627" y="1149350"/>
            <a:ext cx="1999746" cy="1574800"/>
          </a:xfrm>
          <a:prstGeom prst="rect">
            <a:avLst/>
          </a:prstGeom>
        </p:spPr>
      </p:pic>
      <p:sp>
        <p:nvSpPr>
          <p:cNvPr id="9" name="Shape 6"/>
          <p:cNvSpPr/>
          <p:nvPr/>
        </p:nvSpPr>
        <p:spPr>
          <a:xfrm>
            <a:off x="6289675" y="1146175"/>
            <a:ext cx="2279650" cy="1581150"/>
          </a:xfrm>
          <a:prstGeom prst="roundRect">
            <a:avLst>
              <a:gd name="adj" fmla="val 7831"/>
            </a:avLst>
          </a:prstGeom>
          <a:noFill/>
          <a:ln w="6350">
            <a:solidFill>
              <a:srgbClr val="D5E5DB"/>
            </a:solidFill>
            <a:prstDash val="solid"/>
          </a:ln>
        </p:spPr>
      </p:sp>
      <p:sp>
        <p:nvSpPr>
          <p:cNvPr id="10" name="Text 7"/>
          <p:cNvSpPr/>
          <p:nvPr/>
        </p:nvSpPr>
        <p:spPr>
          <a:xfrm>
            <a:off x="8763000" y="1397000"/>
            <a:ext cx="269468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A5824A"/>
                </a:solidFill>
                <a:latin typeface="Cormorant Garamond" pitchFamily="18" charset="0"/>
                <a:ea typeface="Cormorant Garamond" pitchFamily="18" charset="-122"/>
                <a:cs typeface="Cormorant Garamond" pitchFamily="18" charset="-120"/>
              </a:rPr>
              <a:t>É</a:t>
            </a:r>
            <a:r>
              <a:rPr lang="en-US" sz="4000" b="1" dirty="0">
                <a:solidFill>
                  <a:srgbClr val="12332B"/>
                </a:solidFill>
                <a:latin typeface="Cormorant Garamond" pitchFamily="18" charset="0"/>
                <a:ea typeface="Cormorant Garamond" pitchFamily="18" charset="-122"/>
                <a:cs typeface="Cormorant Garamond" pitchFamily="18" charset="-120"/>
              </a:rPr>
              <a:t>léphant</a:t>
            </a:r>
            <a:endParaRPr lang="en-US" sz="4000" dirty="0"/>
          </a:p>
        </p:txBody>
      </p:sp>
      <p:sp>
        <p:nvSpPr>
          <p:cNvPr id="11" name="Text 8"/>
          <p:cNvSpPr/>
          <p:nvPr/>
        </p:nvSpPr>
        <p:spPr>
          <a:xfrm>
            <a:off x="8763000" y="2095500"/>
            <a:ext cx="269468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5E2E"/>
                </a:solidFill>
                <a:latin typeface="Space Mono" pitchFamily="49" charset="0"/>
                <a:ea typeface="Space Mono" pitchFamily="49" charset="-122"/>
                <a:cs typeface="Space Mono" pitchFamily="49" charset="-120"/>
              </a:rPr>
              <a:t>E ABIERTA</a:t>
            </a:r>
            <a:endParaRPr lang="en-US" sz="1400" dirty="0"/>
          </a:p>
        </p:txBody>
      </p:sp>
      <p:sp>
        <p:nvSpPr>
          <p:cNvPr id="12" name="Text 9"/>
          <p:cNvSpPr/>
          <p:nvPr/>
        </p:nvSpPr>
        <p:spPr>
          <a:xfrm>
            <a:off x="4800600" y="3238500"/>
            <a:ext cx="1320800" cy="1422400"/>
          </a:xfrm>
          <a:prstGeom prst="rect">
            <a:avLst/>
          </a:prstGeom>
          <a:noFill/>
          <a:ln/>
        </p:spPr>
        <p:txBody>
          <a:bodyPr wrap="square" lIns="0" tIns="0" rIns="0" bIns="0" rtlCol="0" anchor="t">
            <a:normAutofit/>
          </a:bodyPr>
          <a:lstStyle/>
          <a:p>
            <a:pPr algn="ctr" indent="0" marL="0">
              <a:lnSpc>
                <a:spcPts val="11000"/>
              </a:lnSpc>
              <a:buNone/>
            </a:pPr>
            <a:r>
              <a:rPr lang="en-US" sz="11000" b="1" dirty="0">
                <a:solidFill>
                  <a:srgbClr val="1F6B55"/>
                </a:solidFill>
                <a:latin typeface="Cormorant Garamond" pitchFamily="18" charset="0"/>
                <a:ea typeface="Cormorant Garamond" pitchFamily="18" charset="-122"/>
                <a:cs typeface="Cormorant Garamond" pitchFamily="18" charset="-120"/>
              </a:rPr>
              <a:t>E</a:t>
            </a:r>
            <a:endParaRPr lang="en-US" sz="11000" dirty="0"/>
          </a:p>
        </p:txBody>
      </p:sp>
      <p:sp>
        <p:nvSpPr>
          <p:cNvPr id="13" name="Shape 10"/>
          <p:cNvSpPr/>
          <p:nvPr/>
        </p:nvSpPr>
        <p:spPr>
          <a:xfrm>
            <a:off x="6286500" y="3302000"/>
            <a:ext cx="2286000" cy="1587500"/>
          </a:xfrm>
          <a:prstGeom prst="roundRect">
            <a:avLst>
              <a:gd name="adj" fmla="val 8000"/>
            </a:avLst>
          </a:prstGeom>
          <a:solidFill>
            <a:srgbClr val="FFFFFF"/>
          </a:solidFill>
          <a:ln/>
          <a:effectLst>
            <a:outerShdw sx="100000" sy="100000" kx="0" ky="0" algn="bl" rotWithShape="0" blurRad="152400" dist="50800" dir="5400000">
              <a:srgbClr val="12332B">
                <a:alpha val="10000"/>
              </a:srgbClr>
            </a:outerShdw>
          </a:effectLst>
        </p:spPr>
      </p:sp>
      <p:pic>
        <p:nvPicPr>
          <p:cNvPr id="14" name="Image 1" descr="Muñeco que se señala a sí mismo">    </p:cNvPr>
          <p:cNvPicPr>
            <a:picLocks noChangeAspect="1"/>
          </p:cNvPicPr>
          <p:nvPr/>
        </p:nvPicPr>
        <p:blipFill>
          <a:blip r:embed="rId2"/>
          <a:stretch>
            <a:fillRect/>
          </a:stretch>
        </p:blipFill>
        <p:spPr>
          <a:xfrm>
            <a:off x="6378600" y="3308350"/>
            <a:ext cx="2101800" cy="1574800"/>
          </a:xfrm>
          <a:custGeom>
            <a:avLst/>
            <a:gdLst/>
            <a:ahLst/>
            <a:cxnLst/>
            <a:rect l="l" t="t" r="r" b="b"/>
            <a:pathLst>
              <a:path w="2101800" h="1574800">
                <a:moveTo>
                  <a:pt x="0" y="5158"/>
                </a:moveTo>
                <a:arcTo wR="120650" hR="120650" stAng="15191157" swAng="1008843"/>
                <a:lnTo>
                  <a:pt x="2066900" y="0"/>
                </a:lnTo>
                <a:arcTo wR="120650" hR="120650" stAng="16200000" swAng="1008843"/>
                <a:lnTo>
                  <a:pt x="2101800" y="1569642"/>
                </a:lnTo>
                <a:arcTo wR="120650" hR="120650" stAng="4391157" swAng="1008843"/>
                <a:lnTo>
                  <a:pt x="34900" y="1574800"/>
                </a:lnTo>
                <a:arcTo wR="120650" hR="120650" stAng="5400000" swAng="1008843"/>
                <a:close/>
              </a:path>
            </a:pathLst>
          </a:custGeom>
        </p:spPr>
      </p:pic>
      <p:sp>
        <p:nvSpPr>
          <p:cNvPr id="15" name="Shape 11"/>
          <p:cNvSpPr/>
          <p:nvPr/>
        </p:nvSpPr>
        <p:spPr>
          <a:xfrm>
            <a:off x="6289675" y="3305175"/>
            <a:ext cx="2279650" cy="1581150"/>
          </a:xfrm>
          <a:prstGeom prst="roundRect">
            <a:avLst>
              <a:gd name="adj" fmla="val 7831"/>
            </a:avLst>
          </a:prstGeom>
          <a:noFill/>
          <a:ln w="6350">
            <a:solidFill>
              <a:srgbClr val="D5E5DB"/>
            </a:solidFill>
            <a:prstDash val="solid"/>
          </a:ln>
        </p:spPr>
      </p:sp>
      <p:sp>
        <p:nvSpPr>
          <p:cNvPr id="16" name="Text 12"/>
          <p:cNvSpPr/>
          <p:nvPr/>
        </p:nvSpPr>
        <p:spPr>
          <a:xfrm>
            <a:off x="8763000" y="3556000"/>
            <a:ext cx="269468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2332B"/>
                </a:solidFill>
                <a:latin typeface="Cormorant Garamond" pitchFamily="18" charset="0"/>
                <a:ea typeface="Cormorant Garamond" pitchFamily="18" charset="-122"/>
                <a:cs typeface="Cormorant Garamond" pitchFamily="18" charset="-120"/>
              </a:rPr>
              <a:t>J</a:t>
            </a:r>
            <a:r>
              <a:rPr lang="en-US" sz="4000" b="1" dirty="0">
                <a:solidFill>
                  <a:srgbClr val="A5824A"/>
                </a:solidFill>
                <a:latin typeface="Cormorant Garamond" pitchFamily="18" charset="0"/>
                <a:ea typeface="Cormorant Garamond" pitchFamily="18" charset="-122"/>
                <a:cs typeface="Cormorant Garamond" pitchFamily="18" charset="-120"/>
              </a:rPr>
              <a:t>e</a:t>
            </a:r>
            <a:endParaRPr lang="en-US" sz="4000" dirty="0"/>
          </a:p>
        </p:txBody>
      </p:sp>
      <p:sp>
        <p:nvSpPr>
          <p:cNvPr id="17" name="Text 13"/>
          <p:cNvSpPr/>
          <p:nvPr/>
        </p:nvSpPr>
        <p:spPr>
          <a:xfrm>
            <a:off x="8763000" y="4191000"/>
            <a:ext cx="269468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5E2E"/>
                </a:solidFill>
                <a:latin typeface="Space Mono" pitchFamily="49" charset="0"/>
                <a:ea typeface="Space Mono" pitchFamily="49" charset="-122"/>
                <a:cs typeface="Space Mono" pitchFamily="49" charset="-120"/>
              </a:rPr>
              <a:t>E CERRADA</a:t>
            </a:r>
            <a:endParaRPr lang="en-US" sz="1400" dirty="0"/>
          </a:p>
        </p:txBody>
      </p:sp>
      <p:sp>
        <p:nvSpPr>
          <p:cNvPr id="18" name="Text 14"/>
          <p:cNvSpPr/>
          <p:nvPr/>
        </p:nvSpPr>
        <p:spPr>
          <a:xfrm>
            <a:off x="8763000" y="4572000"/>
            <a:ext cx="2694686" cy="360660"/>
          </a:xfrm>
          <a:prstGeom prst="rect">
            <a:avLst/>
          </a:prstGeom>
          <a:noFill/>
          <a:ln/>
        </p:spPr>
        <p:txBody>
          <a:bodyPr wrap="square" lIns="0" tIns="0" rIns="0" bIns="0" rtlCol="0" anchor="t">
            <a:normAutofit/>
          </a:bodyPr>
          <a:lstStyle/>
          <a:p>
            <a:pPr algn="l" indent="0" marL="0">
              <a:lnSpc>
                <a:spcPts val="2640"/>
              </a:lnSpc>
              <a:buNone/>
            </a:pPr>
            <a:r>
              <a:rPr lang="en-US" sz="2400" i="1" dirty="0">
                <a:solidFill>
                  <a:srgbClr val="44645A"/>
                </a:solidFill>
                <a:latin typeface="Cormorant Garamond" pitchFamily="18" charset="0"/>
                <a:ea typeface="Cormorant Garamond" pitchFamily="18" charset="-122"/>
                <a:cs typeface="Cormorant Garamond" pitchFamily="18" charset="-120"/>
              </a:rPr>
              <a:t>je m’appelle…</a:t>
            </a:r>
            <a:endParaRPr lang="en-US" sz="2400" dirty="0"/>
          </a:p>
        </p:txBody>
      </p:sp>
      <p:sp>
        <p:nvSpPr>
          <p:cNvPr id="19" name="Text 1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0" name="Text 16"/>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01 · LES VOYELLES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EN FRANÇAIS</a:t>
            </a:r>
            <a:endParaRPr lang="en-US" sz="1200" dirty="0"/>
          </a:p>
        </p:txBody>
      </p:sp>
      <p:sp>
        <p:nvSpPr>
          <p:cNvPr id="3" name="Text 1"/>
          <p:cNvSpPr/>
          <p:nvPr/>
        </p:nvSpPr>
        <p:spPr>
          <a:xfrm>
            <a:off x="763270" y="1397000"/>
            <a:ext cx="340106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1F6B55"/>
                </a:solidFill>
                <a:latin typeface="Cormorant Garamond" pitchFamily="18" charset="0"/>
                <a:ea typeface="Cormorant Garamond" pitchFamily="18" charset="-122"/>
                <a:cs typeface="Cormorant Garamond" pitchFamily="18" charset="-120"/>
              </a:rPr>
              <a:t>I</a:t>
            </a:r>
            <a:endParaRPr lang="en-US" sz="20000" dirty="0"/>
          </a:p>
        </p:txBody>
      </p:sp>
      <p:sp>
        <p:nvSpPr>
          <p:cNvPr id="4" name="Text 2"/>
          <p:cNvSpPr/>
          <p:nvPr/>
        </p:nvSpPr>
        <p:spPr>
          <a:xfrm>
            <a:off x="763270" y="4191000"/>
            <a:ext cx="3401060" cy="528241"/>
          </a:xfrm>
          <a:prstGeom prst="rect">
            <a:avLst/>
          </a:prstGeom>
          <a:noFill/>
          <a:ln/>
        </p:spPr>
        <p:txBody>
          <a:bodyPr wrap="square" lIns="0" tIns="0" rIns="0" bIns="0" rtlCol="0" anchor="t">
            <a:normAutofit/>
          </a:bodyPr>
          <a:lstStyle/>
          <a:p>
            <a:pPr algn="ctr" indent="0" marL="0">
              <a:lnSpc>
                <a:spcPts val="3960"/>
              </a:lnSpc>
              <a:buNone/>
            </a:pPr>
            <a:r>
              <a:rPr lang="en-US" sz="3600" i="1" dirty="0">
                <a:solidFill>
                  <a:srgbClr val="7A5E2E"/>
                </a:solidFill>
                <a:latin typeface="Cormorant Garamond" pitchFamily="18" charset="0"/>
                <a:ea typeface="Cormorant Garamond" pitchFamily="18" charset="-122"/>
                <a:cs typeface="Cormorant Garamond" pitchFamily="18" charset="-120"/>
              </a:rPr>
              <a:t>comme…</a:t>
            </a:r>
            <a:endParaRPr lang="en-US" sz="3600" dirty="0"/>
          </a:p>
        </p:txBody>
      </p:sp>
      <p:sp>
        <p:nvSpPr>
          <p:cNvPr id="5" name="Shape 3"/>
          <p:cNvSpPr/>
          <p:nvPr/>
        </p:nvSpPr>
        <p:spPr>
          <a:xfrm>
            <a:off x="4826000" y="1079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6" name="Image 0" descr="Marcador naranja con la frase Vous êtes ici">    </p:cNvPr>
          <p:cNvPicPr>
            <a:picLocks noChangeAspect="1"/>
          </p:cNvPicPr>
          <p:nvPr/>
        </p:nvPicPr>
        <p:blipFill>
          <a:blip r:embed="rId1"/>
          <a:stretch>
            <a:fillRect/>
          </a:stretch>
        </p:blipFill>
        <p:spPr>
          <a:xfrm>
            <a:off x="5527866" y="1085850"/>
            <a:ext cx="1263268" cy="1384300"/>
          </a:xfrm>
          <a:prstGeom prst="rect">
            <a:avLst/>
          </a:prstGeom>
        </p:spPr>
      </p:pic>
      <p:sp>
        <p:nvSpPr>
          <p:cNvPr id="7" name="Shape 4"/>
          <p:cNvSpPr/>
          <p:nvPr/>
        </p:nvSpPr>
        <p:spPr>
          <a:xfrm>
            <a:off x="4829175" y="1082675"/>
            <a:ext cx="2660650" cy="1390650"/>
          </a:xfrm>
          <a:prstGeom prst="roundRect">
            <a:avLst>
              <a:gd name="adj" fmla="val 8904"/>
            </a:avLst>
          </a:prstGeom>
          <a:noFill/>
          <a:ln w="6350">
            <a:solidFill>
              <a:srgbClr val="D5E5DB"/>
            </a:solidFill>
            <a:prstDash val="solid"/>
          </a:ln>
        </p:spPr>
      </p:sp>
      <p:sp>
        <p:nvSpPr>
          <p:cNvPr id="8" name="Text 5"/>
          <p:cNvSpPr/>
          <p:nvPr/>
        </p:nvSpPr>
        <p:spPr>
          <a:xfrm>
            <a:off x="7747000" y="1270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I</a:t>
            </a:r>
            <a:r>
              <a:rPr lang="en-US" sz="4400" b="1" dirty="0">
                <a:solidFill>
                  <a:srgbClr val="12332B"/>
                </a:solidFill>
                <a:latin typeface="Cormorant Garamond" pitchFamily="18" charset="0"/>
                <a:ea typeface="Cormorant Garamond" pitchFamily="18" charset="-122"/>
                <a:cs typeface="Cormorant Garamond" pitchFamily="18" charset="-120"/>
              </a:rPr>
              <a:t>c</a:t>
            </a:r>
            <a:r>
              <a:rPr lang="en-US" sz="4400" b="1" dirty="0">
                <a:solidFill>
                  <a:srgbClr val="A5824A"/>
                </a:solidFill>
                <a:latin typeface="Cormorant Garamond" pitchFamily="18" charset="0"/>
                <a:ea typeface="Cormorant Garamond" pitchFamily="18" charset="-122"/>
                <a:cs typeface="Cormorant Garamond" pitchFamily="18" charset="-120"/>
              </a:rPr>
              <a:t>i</a:t>
            </a:r>
            <a:endParaRPr lang="en-US" sz="4400" dirty="0"/>
          </a:p>
        </p:txBody>
      </p:sp>
      <p:sp>
        <p:nvSpPr>
          <p:cNvPr id="9" name="Text 6"/>
          <p:cNvSpPr/>
          <p:nvPr/>
        </p:nvSpPr>
        <p:spPr>
          <a:xfrm>
            <a:off x="7747000" y="1968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aquí · «Vous êtes ici»</a:t>
            </a:r>
            <a:endParaRPr lang="en-US" sz="1400" dirty="0"/>
          </a:p>
        </p:txBody>
      </p:sp>
      <p:sp>
        <p:nvSpPr>
          <p:cNvPr id="10" name="Shape 7"/>
          <p:cNvSpPr/>
          <p:nvPr/>
        </p:nvSpPr>
        <p:spPr>
          <a:xfrm>
            <a:off x="4826000" y="2603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11" name="Image 1" descr="Muñeco con una bombilla encendida">    </p:cNvPr>
          <p:cNvPicPr>
            <a:picLocks noChangeAspect="1"/>
          </p:cNvPicPr>
          <p:nvPr/>
        </p:nvPicPr>
        <p:blipFill>
          <a:blip r:embed="rId2"/>
          <a:stretch>
            <a:fillRect/>
          </a:stretch>
        </p:blipFill>
        <p:spPr>
          <a:xfrm>
            <a:off x="5703495" y="2609850"/>
            <a:ext cx="912009" cy="1384300"/>
          </a:xfrm>
          <a:prstGeom prst="rect">
            <a:avLst/>
          </a:prstGeom>
        </p:spPr>
      </p:pic>
      <p:sp>
        <p:nvSpPr>
          <p:cNvPr id="12" name="Shape 8"/>
          <p:cNvSpPr/>
          <p:nvPr/>
        </p:nvSpPr>
        <p:spPr>
          <a:xfrm>
            <a:off x="4829175" y="2606675"/>
            <a:ext cx="2660650" cy="1390650"/>
          </a:xfrm>
          <a:prstGeom prst="roundRect">
            <a:avLst>
              <a:gd name="adj" fmla="val 8904"/>
            </a:avLst>
          </a:prstGeom>
          <a:noFill/>
          <a:ln w="6350">
            <a:solidFill>
              <a:srgbClr val="D5E5DB"/>
            </a:solidFill>
            <a:prstDash val="solid"/>
          </a:ln>
        </p:spPr>
      </p:sp>
      <p:sp>
        <p:nvSpPr>
          <p:cNvPr id="13" name="Text 9"/>
          <p:cNvSpPr/>
          <p:nvPr/>
        </p:nvSpPr>
        <p:spPr>
          <a:xfrm>
            <a:off x="7747000" y="2794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I</a:t>
            </a:r>
            <a:r>
              <a:rPr lang="en-US" sz="4400" b="1" dirty="0">
                <a:solidFill>
                  <a:srgbClr val="12332B"/>
                </a:solidFill>
                <a:latin typeface="Cormorant Garamond" pitchFamily="18" charset="0"/>
                <a:ea typeface="Cormorant Garamond" pitchFamily="18" charset="-122"/>
                <a:cs typeface="Cormorant Garamond" pitchFamily="18" charset="-120"/>
              </a:rPr>
              <a:t>dée</a:t>
            </a:r>
            <a:endParaRPr lang="en-US" sz="4400" dirty="0"/>
          </a:p>
        </p:txBody>
      </p:sp>
      <p:sp>
        <p:nvSpPr>
          <p:cNvPr id="14" name="Text 10"/>
          <p:cNvSpPr/>
          <p:nvPr/>
        </p:nvSpPr>
        <p:spPr>
          <a:xfrm>
            <a:off x="7747000" y="3492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idea</a:t>
            </a:r>
            <a:endParaRPr lang="en-US" sz="1400" dirty="0"/>
          </a:p>
        </p:txBody>
      </p:sp>
      <p:sp>
        <p:nvSpPr>
          <p:cNvPr id="15" name="Shape 11"/>
          <p:cNvSpPr/>
          <p:nvPr/>
        </p:nvSpPr>
        <p:spPr>
          <a:xfrm>
            <a:off x="4826000" y="4127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16" name="Image 2" descr="Ilusión óptica: un rostro formado por árboles">    </p:cNvPr>
          <p:cNvPicPr>
            <a:picLocks noChangeAspect="1"/>
          </p:cNvPicPr>
          <p:nvPr/>
        </p:nvPicPr>
        <p:blipFill>
          <a:blip r:embed="rId3"/>
          <a:stretch>
            <a:fillRect/>
          </a:stretch>
        </p:blipFill>
        <p:spPr>
          <a:xfrm>
            <a:off x="5467350" y="4133850"/>
            <a:ext cx="1384300" cy="1384300"/>
          </a:xfrm>
          <a:prstGeom prst="rect">
            <a:avLst/>
          </a:prstGeom>
        </p:spPr>
      </p:pic>
      <p:sp>
        <p:nvSpPr>
          <p:cNvPr id="17" name="Shape 12"/>
          <p:cNvSpPr/>
          <p:nvPr/>
        </p:nvSpPr>
        <p:spPr>
          <a:xfrm>
            <a:off x="4829175" y="4130675"/>
            <a:ext cx="2660650" cy="1390650"/>
          </a:xfrm>
          <a:prstGeom prst="roundRect">
            <a:avLst>
              <a:gd name="adj" fmla="val 8904"/>
            </a:avLst>
          </a:prstGeom>
          <a:noFill/>
          <a:ln w="6350">
            <a:solidFill>
              <a:srgbClr val="D5E5DB"/>
            </a:solidFill>
            <a:prstDash val="solid"/>
          </a:ln>
        </p:spPr>
      </p:sp>
      <p:sp>
        <p:nvSpPr>
          <p:cNvPr id="18" name="Text 13"/>
          <p:cNvSpPr/>
          <p:nvPr/>
        </p:nvSpPr>
        <p:spPr>
          <a:xfrm>
            <a:off x="7747000" y="4318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I</a:t>
            </a:r>
            <a:r>
              <a:rPr lang="en-US" sz="4400" b="1" dirty="0">
                <a:solidFill>
                  <a:srgbClr val="12332B"/>
                </a:solidFill>
                <a:latin typeface="Cormorant Garamond" pitchFamily="18" charset="0"/>
                <a:ea typeface="Cormorant Garamond" pitchFamily="18" charset="-122"/>
                <a:cs typeface="Cormorant Garamond" pitchFamily="18" charset="-120"/>
              </a:rPr>
              <a:t>llus</a:t>
            </a:r>
            <a:r>
              <a:rPr lang="en-US" sz="4400" b="1" dirty="0">
                <a:solidFill>
                  <a:srgbClr val="A5824A"/>
                </a:solidFill>
                <a:latin typeface="Cormorant Garamond" pitchFamily="18" charset="0"/>
                <a:ea typeface="Cormorant Garamond" pitchFamily="18" charset="-122"/>
                <a:cs typeface="Cormorant Garamond" pitchFamily="18" charset="-120"/>
              </a:rPr>
              <a:t>i</a:t>
            </a:r>
            <a:r>
              <a:rPr lang="en-US" sz="4400" b="1" dirty="0">
                <a:solidFill>
                  <a:srgbClr val="12332B"/>
                </a:solidFill>
                <a:latin typeface="Cormorant Garamond" pitchFamily="18" charset="0"/>
                <a:ea typeface="Cormorant Garamond" pitchFamily="18" charset="-122"/>
                <a:cs typeface="Cormorant Garamond" pitchFamily="18" charset="-120"/>
              </a:rPr>
              <a:t>on</a:t>
            </a:r>
            <a:endParaRPr lang="en-US" sz="4400" dirty="0"/>
          </a:p>
        </p:txBody>
      </p:sp>
      <p:sp>
        <p:nvSpPr>
          <p:cNvPr id="19" name="Text 14"/>
          <p:cNvSpPr/>
          <p:nvPr/>
        </p:nvSpPr>
        <p:spPr>
          <a:xfrm>
            <a:off x="7747000" y="5016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ilusión</a:t>
            </a:r>
            <a:endParaRPr lang="en-US" sz="1400" dirty="0"/>
          </a:p>
        </p:txBody>
      </p:sp>
      <p:sp>
        <p:nvSpPr>
          <p:cNvPr id="20" name="Text 1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1" name="Text 16"/>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01 · LES VOYELLES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EN FRANÇAIS</a:t>
            </a:r>
            <a:endParaRPr lang="en-US" sz="1200" dirty="0"/>
          </a:p>
        </p:txBody>
      </p:sp>
      <p:sp>
        <p:nvSpPr>
          <p:cNvPr id="3" name="Text 1"/>
          <p:cNvSpPr/>
          <p:nvPr/>
        </p:nvSpPr>
        <p:spPr>
          <a:xfrm>
            <a:off x="763270" y="1397000"/>
            <a:ext cx="340106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1F6B55"/>
                </a:solidFill>
                <a:latin typeface="Cormorant Garamond" pitchFamily="18" charset="0"/>
                <a:ea typeface="Cormorant Garamond" pitchFamily="18" charset="-122"/>
                <a:cs typeface="Cormorant Garamond" pitchFamily="18" charset="-120"/>
              </a:rPr>
              <a:t>O</a:t>
            </a:r>
            <a:endParaRPr lang="en-US" sz="20000" dirty="0"/>
          </a:p>
        </p:txBody>
      </p:sp>
      <p:sp>
        <p:nvSpPr>
          <p:cNvPr id="4" name="Text 2"/>
          <p:cNvSpPr/>
          <p:nvPr/>
        </p:nvSpPr>
        <p:spPr>
          <a:xfrm>
            <a:off x="763270" y="4191000"/>
            <a:ext cx="3401060" cy="528241"/>
          </a:xfrm>
          <a:prstGeom prst="rect">
            <a:avLst/>
          </a:prstGeom>
          <a:noFill/>
          <a:ln/>
        </p:spPr>
        <p:txBody>
          <a:bodyPr wrap="square" lIns="0" tIns="0" rIns="0" bIns="0" rtlCol="0" anchor="t">
            <a:normAutofit/>
          </a:bodyPr>
          <a:lstStyle/>
          <a:p>
            <a:pPr algn="ctr" indent="0" marL="0">
              <a:lnSpc>
                <a:spcPts val="3960"/>
              </a:lnSpc>
              <a:buNone/>
            </a:pPr>
            <a:r>
              <a:rPr lang="en-US" sz="3600" i="1" dirty="0">
                <a:solidFill>
                  <a:srgbClr val="7A5E2E"/>
                </a:solidFill>
                <a:latin typeface="Cormorant Garamond" pitchFamily="18" charset="0"/>
                <a:ea typeface="Cormorant Garamond" pitchFamily="18" charset="-122"/>
                <a:cs typeface="Cormorant Garamond" pitchFamily="18" charset="-120"/>
              </a:rPr>
              <a:t>comme…</a:t>
            </a:r>
            <a:endParaRPr lang="en-US" sz="3600" dirty="0"/>
          </a:p>
        </p:txBody>
      </p:sp>
      <p:sp>
        <p:nvSpPr>
          <p:cNvPr id="5" name="Shape 3"/>
          <p:cNvSpPr/>
          <p:nvPr/>
        </p:nvSpPr>
        <p:spPr>
          <a:xfrm>
            <a:off x="4826000" y="1079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6" name="Image 0" descr="Colección de objetos cotidianos: lámpara, osito, teléfono, silla">    </p:cNvPr>
          <p:cNvPicPr>
            <a:picLocks noChangeAspect="1"/>
          </p:cNvPicPr>
          <p:nvPr/>
        </p:nvPicPr>
        <p:blipFill>
          <a:blip r:embed="rId1"/>
          <a:stretch>
            <a:fillRect/>
          </a:stretch>
        </p:blipFill>
        <p:spPr>
          <a:xfrm>
            <a:off x="5333639" y="1085850"/>
            <a:ext cx="1651722" cy="1384300"/>
          </a:xfrm>
          <a:prstGeom prst="rect">
            <a:avLst/>
          </a:prstGeom>
        </p:spPr>
      </p:pic>
      <p:sp>
        <p:nvSpPr>
          <p:cNvPr id="7" name="Shape 4"/>
          <p:cNvSpPr/>
          <p:nvPr/>
        </p:nvSpPr>
        <p:spPr>
          <a:xfrm>
            <a:off x="4829175" y="1082675"/>
            <a:ext cx="2660650" cy="1390650"/>
          </a:xfrm>
          <a:prstGeom prst="roundRect">
            <a:avLst>
              <a:gd name="adj" fmla="val 8904"/>
            </a:avLst>
          </a:prstGeom>
          <a:noFill/>
          <a:ln w="6350">
            <a:solidFill>
              <a:srgbClr val="D5E5DB"/>
            </a:solidFill>
            <a:prstDash val="solid"/>
          </a:ln>
        </p:spPr>
      </p:sp>
      <p:sp>
        <p:nvSpPr>
          <p:cNvPr id="8" name="Text 5"/>
          <p:cNvSpPr/>
          <p:nvPr/>
        </p:nvSpPr>
        <p:spPr>
          <a:xfrm>
            <a:off x="7747000" y="1270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O</a:t>
            </a:r>
            <a:r>
              <a:rPr lang="en-US" sz="4400" b="1" dirty="0">
                <a:solidFill>
                  <a:srgbClr val="12332B"/>
                </a:solidFill>
                <a:latin typeface="Cormorant Garamond" pitchFamily="18" charset="0"/>
                <a:ea typeface="Cormorant Garamond" pitchFamily="18" charset="-122"/>
                <a:cs typeface="Cormorant Garamond" pitchFamily="18" charset="-120"/>
              </a:rPr>
              <a:t>bj</a:t>
            </a:r>
            <a:r>
              <a:rPr lang="en-US" sz="4400" b="1" dirty="0">
                <a:solidFill>
                  <a:srgbClr val="1F6B55"/>
                </a:solidFill>
                <a:latin typeface="Cormorant Garamond" pitchFamily="18" charset="0"/>
                <a:ea typeface="Cormorant Garamond" pitchFamily="18" charset="-122"/>
                <a:cs typeface="Cormorant Garamond" pitchFamily="18" charset="-120"/>
              </a:rPr>
              <a:t>e</a:t>
            </a:r>
            <a:r>
              <a:rPr lang="en-US" sz="4400" b="1" dirty="0">
                <a:solidFill>
                  <a:srgbClr val="12332B"/>
                </a:solidFill>
                <a:latin typeface="Cormorant Garamond" pitchFamily="18" charset="0"/>
                <a:ea typeface="Cormorant Garamond" pitchFamily="18" charset="-122"/>
                <a:cs typeface="Cormorant Garamond" pitchFamily="18" charset="-120"/>
              </a:rPr>
              <a:t>ts</a:t>
            </a:r>
            <a:endParaRPr lang="en-US" sz="4400" dirty="0"/>
          </a:p>
        </p:txBody>
      </p:sp>
      <p:sp>
        <p:nvSpPr>
          <p:cNvPr id="9" name="Text 6"/>
          <p:cNvSpPr/>
          <p:nvPr/>
        </p:nvSpPr>
        <p:spPr>
          <a:xfrm>
            <a:off x="7747000" y="1968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objetos · ¿qué es esto?</a:t>
            </a:r>
            <a:endParaRPr lang="en-US" sz="1400" dirty="0"/>
          </a:p>
        </p:txBody>
      </p:sp>
      <p:sp>
        <p:nvSpPr>
          <p:cNvPr id="10" name="Shape 7"/>
          <p:cNvSpPr/>
          <p:nvPr/>
        </p:nvSpPr>
        <p:spPr>
          <a:xfrm>
            <a:off x="4826000" y="2603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11" name="Image 1" descr="Personaje que sostiene una llave gigante">    </p:cNvPr>
          <p:cNvPicPr>
            <a:picLocks noChangeAspect="1"/>
          </p:cNvPicPr>
          <p:nvPr/>
        </p:nvPicPr>
        <p:blipFill>
          <a:blip r:embed="rId2"/>
          <a:stretch>
            <a:fillRect/>
          </a:stretch>
        </p:blipFill>
        <p:spPr>
          <a:xfrm>
            <a:off x="5655485" y="2609850"/>
            <a:ext cx="1008031" cy="1384300"/>
          </a:xfrm>
          <a:prstGeom prst="rect">
            <a:avLst/>
          </a:prstGeom>
        </p:spPr>
      </p:pic>
      <p:sp>
        <p:nvSpPr>
          <p:cNvPr id="12" name="Shape 8"/>
          <p:cNvSpPr/>
          <p:nvPr/>
        </p:nvSpPr>
        <p:spPr>
          <a:xfrm>
            <a:off x="4829175" y="2606675"/>
            <a:ext cx="2660650" cy="1390650"/>
          </a:xfrm>
          <a:prstGeom prst="roundRect">
            <a:avLst>
              <a:gd name="adj" fmla="val 8904"/>
            </a:avLst>
          </a:prstGeom>
          <a:noFill/>
          <a:ln w="6350">
            <a:solidFill>
              <a:srgbClr val="D5E5DB"/>
            </a:solidFill>
            <a:prstDash val="solid"/>
          </a:ln>
        </p:spPr>
      </p:sp>
      <p:sp>
        <p:nvSpPr>
          <p:cNvPr id="13" name="Text 9"/>
          <p:cNvSpPr/>
          <p:nvPr/>
        </p:nvSpPr>
        <p:spPr>
          <a:xfrm>
            <a:off x="7747000" y="2794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O</a:t>
            </a:r>
            <a:r>
              <a:rPr lang="en-US" sz="4400" b="1" dirty="0">
                <a:solidFill>
                  <a:srgbClr val="12332B"/>
                </a:solidFill>
                <a:latin typeface="Cormorant Garamond" pitchFamily="18" charset="0"/>
                <a:ea typeface="Cormorant Garamond" pitchFamily="18" charset="-122"/>
                <a:cs typeface="Cormorant Garamond" pitchFamily="18" charset="-120"/>
              </a:rPr>
              <a:t>pp</a:t>
            </a:r>
            <a:r>
              <a:rPr lang="en-US" sz="4400" b="1" dirty="0">
                <a:solidFill>
                  <a:srgbClr val="A5824A"/>
                </a:solidFill>
                <a:latin typeface="Cormorant Garamond" pitchFamily="18" charset="0"/>
                <a:ea typeface="Cormorant Garamond" pitchFamily="18" charset="-122"/>
                <a:cs typeface="Cormorant Garamond" pitchFamily="18" charset="-120"/>
              </a:rPr>
              <a:t>o</a:t>
            </a:r>
            <a:r>
              <a:rPr lang="en-US" sz="4400" b="1" dirty="0">
                <a:solidFill>
                  <a:srgbClr val="12332B"/>
                </a:solidFill>
                <a:latin typeface="Cormorant Garamond" pitchFamily="18" charset="0"/>
                <a:ea typeface="Cormorant Garamond" pitchFamily="18" charset="-122"/>
                <a:cs typeface="Cormorant Garamond" pitchFamily="18" charset="-120"/>
              </a:rPr>
              <a:t>rtunité</a:t>
            </a:r>
            <a:endParaRPr lang="en-US" sz="4400" dirty="0"/>
          </a:p>
        </p:txBody>
      </p:sp>
      <p:sp>
        <p:nvSpPr>
          <p:cNvPr id="14" name="Text 10"/>
          <p:cNvSpPr/>
          <p:nvPr/>
        </p:nvSpPr>
        <p:spPr>
          <a:xfrm>
            <a:off x="7747000" y="3492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oportunidad</a:t>
            </a:r>
            <a:endParaRPr lang="en-US" sz="1400" dirty="0"/>
          </a:p>
        </p:txBody>
      </p:sp>
      <p:sp>
        <p:nvSpPr>
          <p:cNvPr id="15" name="Shape 11"/>
          <p:cNvSpPr/>
          <p:nvPr/>
        </p:nvSpPr>
        <p:spPr>
          <a:xfrm>
            <a:off x="4826000" y="4127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16" name="Image 2" descr="Ilustración de una mujer llamada Olga">    </p:cNvPr>
          <p:cNvPicPr>
            <a:picLocks noChangeAspect="1"/>
          </p:cNvPicPr>
          <p:nvPr/>
        </p:nvPicPr>
        <p:blipFill>
          <a:blip r:embed="rId3"/>
          <a:stretch>
            <a:fillRect/>
          </a:stretch>
        </p:blipFill>
        <p:spPr>
          <a:xfrm>
            <a:off x="5517506" y="4133850"/>
            <a:ext cx="1283988" cy="1384300"/>
          </a:xfrm>
          <a:prstGeom prst="rect">
            <a:avLst/>
          </a:prstGeom>
        </p:spPr>
      </p:pic>
      <p:sp>
        <p:nvSpPr>
          <p:cNvPr id="17" name="Shape 12"/>
          <p:cNvSpPr/>
          <p:nvPr/>
        </p:nvSpPr>
        <p:spPr>
          <a:xfrm>
            <a:off x="4829175" y="4130675"/>
            <a:ext cx="2660650" cy="1390650"/>
          </a:xfrm>
          <a:prstGeom prst="roundRect">
            <a:avLst>
              <a:gd name="adj" fmla="val 8904"/>
            </a:avLst>
          </a:prstGeom>
          <a:noFill/>
          <a:ln w="6350">
            <a:solidFill>
              <a:srgbClr val="D5E5DB"/>
            </a:solidFill>
            <a:prstDash val="solid"/>
          </a:ln>
        </p:spPr>
      </p:sp>
      <p:sp>
        <p:nvSpPr>
          <p:cNvPr id="18" name="Text 13"/>
          <p:cNvSpPr/>
          <p:nvPr/>
        </p:nvSpPr>
        <p:spPr>
          <a:xfrm>
            <a:off x="7747000" y="4318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O</a:t>
            </a:r>
            <a:r>
              <a:rPr lang="en-US" sz="4400" b="1" dirty="0">
                <a:solidFill>
                  <a:srgbClr val="12332B"/>
                </a:solidFill>
                <a:latin typeface="Cormorant Garamond" pitchFamily="18" charset="0"/>
                <a:ea typeface="Cormorant Garamond" pitchFamily="18" charset="-122"/>
                <a:cs typeface="Cormorant Garamond" pitchFamily="18" charset="-120"/>
              </a:rPr>
              <a:t>lga</a:t>
            </a:r>
            <a:endParaRPr lang="en-US" sz="4400" dirty="0"/>
          </a:p>
        </p:txBody>
      </p:sp>
      <p:sp>
        <p:nvSpPr>
          <p:cNvPr id="19" name="Text 14"/>
          <p:cNvSpPr/>
          <p:nvPr/>
        </p:nvSpPr>
        <p:spPr>
          <a:xfrm>
            <a:off x="7747000" y="5016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un nombre propio</a:t>
            </a:r>
            <a:endParaRPr lang="en-US" sz="1400" dirty="0"/>
          </a:p>
        </p:txBody>
      </p:sp>
      <p:sp>
        <p:nvSpPr>
          <p:cNvPr id="20" name="Text 15"/>
          <p:cNvSpPr/>
          <p:nvPr/>
        </p:nvSpPr>
        <p:spPr>
          <a:xfrm>
            <a:off x="812800" y="4953000"/>
            <a:ext cx="3302000" cy="417810"/>
          </a:xfrm>
          <a:prstGeom prst="roundRect">
            <a:avLst>
              <a:gd name="adj" fmla="val 30397"/>
            </a:avLst>
          </a:prstGeom>
          <a:solidFill>
            <a:srgbClr val="12332B"/>
          </a:solidFill>
          <a:ln/>
        </p:spPr>
        <p:txBody>
          <a:bodyPr wrap="square" lIns="70245" tIns="64403" rIns="70245" bIns="39003" rtlCol="0" anchor="t">
            <a:normAutofit/>
          </a:bodyPr>
          <a:lstStyle/>
          <a:p>
            <a:pPr algn="ctr" indent="0" marL="0">
              <a:lnSpc>
                <a:spcPts val="1690"/>
              </a:lnSpc>
              <a:buNone/>
            </a:pPr>
            <a:r>
              <a:rPr lang="en-US" sz="1300" dirty="0">
                <a:solidFill>
                  <a:srgbClr val="F3EEE2"/>
                </a:solidFill>
                <a:latin typeface="Syne" pitchFamily="34" charset="0"/>
                <a:ea typeface="Syne" pitchFamily="34" charset="-122"/>
                <a:cs typeface="Syne" pitchFamily="34" charset="-120"/>
              </a:rPr>
              <a:t>obj</a:t>
            </a:r>
            <a:r>
              <a:rPr lang="en-US" sz="1300" dirty="0">
                <a:solidFill>
                  <a:srgbClr val="D9BD86"/>
                </a:solidFill>
                <a:latin typeface="Syne" pitchFamily="34" charset="0"/>
                <a:ea typeface="Syne" pitchFamily="34" charset="-122"/>
                <a:cs typeface="Syne" pitchFamily="34" charset="-120"/>
              </a:rPr>
              <a:t>e</a:t>
            </a:r>
            <a:r>
              <a:rPr lang="en-US" sz="1300" dirty="0">
                <a:solidFill>
                  <a:srgbClr val="F3EEE2"/>
                </a:solidFill>
                <a:latin typeface="Syne" pitchFamily="34" charset="0"/>
                <a:ea typeface="Syne" pitchFamily="34" charset="-122"/>
                <a:cs typeface="Syne" pitchFamily="34" charset="-120"/>
              </a:rPr>
              <a:t>ts: E + 2 consonantes = E abierta</a:t>
            </a:r>
            <a:endParaRPr lang="en-US" sz="1300" dirty="0"/>
          </a:p>
        </p:txBody>
      </p:sp>
      <p:sp>
        <p:nvSpPr>
          <p:cNvPr id="21"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2" name="Text 17"/>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01 · LES VOYELLES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4304" y="825500"/>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spc="600" kern="0" dirty="0">
                <a:solidFill>
                  <a:srgbClr val="D9BD86"/>
                </a:solidFill>
                <a:latin typeface="Space Mono" pitchFamily="49" charset="0"/>
                <a:ea typeface="Space Mono" pitchFamily="49" charset="-122"/>
                <a:cs typeface="Space Mono" pitchFamily="49" charset="-120"/>
              </a:rPr>
              <a:t>ATTENTION…</a:t>
            </a:r>
            <a:endParaRPr lang="en-US" sz="1600" dirty="0"/>
          </a:p>
        </p:txBody>
      </p:sp>
      <p:sp>
        <p:nvSpPr>
          <p:cNvPr id="3" name="Text 1"/>
          <p:cNvSpPr/>
          <p:nvPr/>
        </p:nvSpPr>
        <p:spPr>
          <a:xfrm>
            <a:off x="4133850" y="1333500"/>
            <a:ext cx="392430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D9BD86"/>
                </a:solidFill>
                <a:latin typeface="Cormorant Garamond" pitchFamily="18" charset="0"/>
                <a:ea typeface="Cormorant Garamond" pitchFamily="18" charset="-122"/>
                <a:cs typeface="Cormorant Garamond" pitchFamily="18" charset="-120"/>
              </a:rPr>
              <a:t>U</a:t>
            </a:r>
            <a:endParaRPr lang="en-US" sz="20000" dirty="0"/>
          </a:p>
        </p:txBody>
      </p:sp>
      <p:sp>
        <p:nvSpPr>
          <p:cNvPr id="4" name="Text 2"/>
          <p:cNvSpPr/>
          <p:nvPr/>
        </p:nvSpPr>
        <p:spPr>
          <a:xfrm>
            <a:off x="654304" y="4191000"/>
            <a:ext cx="10883392" cy="695920"/>
          </a:xfrm>
          <a:prstGeom prst="rect">
            <a:avLst/>
          </a:prstGeom>
          <a:noFill/>
          <a:ln/>
        </p:spPr>
        <p:txBody>
          <a:bodyPr wrap="square" lIns="0" tIns="0" rIns="0" bIns="0" rtlCol="0" anchor="t">
            <a:normAutofit/>
          </a:bodyPr>
          <a:lstStyle/>
          <a:p>
            <a:pPr algn="ctr" indent="0" marL="0">
              <a:lnSpc>
                <a:spcPts val="5280"/>
              </a:lnSpc>
              <a:buNone/>
            </a:pPr>
            <a:r>
              <a:rPr lang="en-US" sz="4800" i="1" dirty="0">
                <a:solidFill>
                  <a:srgbClr val="F3EEE2"/>
                </a:solidFill>
                <a:latin typeface="Cormorant Garamond" pitchFamily="18" charset="0"/>
                <a:ea typeface="Cormorant Garamond" pitchFamily="18" charset="-122"/>
                <a:cs typeface="Cormorant Garamond" pitchFamily="18" charset="-120"/>
              </a:rPr>
              <a:t>C’est un imposteur !</a:t>
            </a:r>
            <a:endParaRPr lang="en-US" sz="4800" dirty="0"/>
          </a:p>
        </p:txBody>
      </p:sp>
      <p:pic>
        <p:nvPicPr>
          <p:cNvPr id="5" name="Image 0" descr="Símbolo de prohibición sobre la U">    </p:cNvPr>
          <p:cNvPicPr>
            <a:picLocks noChangeAspect="1"/>
          </p:cNvPicPr>
          <p:nvPr/>
        </p:nvPicPr>
        <p:blipFill>
          <a:blip r:embed="rId1"/>
          <a:srcRect l="0" r="0" t="0" b="0"/>
          <a:stretch/>
        </p:blipFill>
        <p:spPr>
          <a:xfrm>
            <a:off x="4699000" y="1206500"/>
            <a:ext cx="2794000" cy="2794000"/>
          </a:xfrm>
          <a:prstGeom prst="rect">
            <a:avLst/>
          </a:prstGeom>
        </p:spPr>
      </p:pic>
      <p:sp>
        <p:nvSpPr>
          <p:cNvPr id="6" name="Text 3"/>
          <p:cNvSpPr/>
          <p:nvPr/>
        </p:nvSpPr>
        <p:spPr>
          <a:xfrm>
            <a:off x="654304" y="5080000"/>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BFD6CC"/>
                </a:solidFill>
                <a:latin typeface="Syne" pitchFamily="34" charset="0"/>
                <a:ea typeface="Syne" pitchFamily="34" charset="-122"/>
                <a:cs typeface="Syne" pitchFamily="34" charset="-120"/>
              </a:rPr>
              <a:t>Prohibido pensar en la U española.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32B"/>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EL SECRETO DE LA U FRANCESA</a:t>
            </a:r>
            <a:endParaRPr lang="en-US" sz="1200" dirty="0"/>
          </a:p>
        </p:txBody>
      </p:sp>
      <p:sp>
        <p:nvSpPr>
          <p:cNvPr id="3" name="Text 1"/>
          <p:cNvSpPr/>
          <p:nvPr/>
        </p:nvSpPr>
        <p:spPr>
          <a:xfrm>
            <a:off x="763270" y="1270000"/>
            <a:ext cx="340106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D9BD86"/>
                </a:solidFill>
                <a:latin typeface="Cormorant Garamond" pitchFamily="18" charset="0"/>
                <a:ea typeface="Cormorant Garamond" pitchFamily="18" charset="-122"/>
                <a:cs typeface="Cormorant Garamond" pitchFamily="18" charset="-120"/>
              </a:rPr>
              <a:t>U</a:t>
            </a:r>
            <a:endParaRPr lang="en-US" sz="20000" dirty="0"/>
          </a:p>
        </p:txBody>
      </p:sp>
      <p:sp>
        <p:nvSpPr>
          <p:cNvPr id="4" name="Text 2"/>
          <p:cNvSpPr/>
          <p:nvPr/>
        </p:nvSpPr>
        <p:spPr>
          <a:xfrm>
            <a:off x="763270" y="4191000"/>
            <a:ext cx="340106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D9BD86"/>
                </a:solidFill>
                <a:latin typeface="Space Mono" pitchFamily="49" charset="0"/>
                <a:ea typeface="Space Mono" pitchFamily="49" charset="-122"/>
                <a:cs typeface="Space Mono" pitchFamily="49" charset="-120"/>
              </a:rPr>
              <a:t>[y]</a:t>
            </a:r>
            <a:endParaRPr lang="en-US" sz="1600" dirty="0"/>
          </a:p>
        </p:txBody>
      </p:sp>
      <p:sp>
        <p:nvSpPr>
          <p:cNvPr id="5" name="Shape 3"/>
          <p:cNvSpPr/>
          <p:nvPr/>
        </p:nvSpPr>
        <p:spPr>
          <a:xfrm>
            <a:off x="4826000" y="1270000"/>
            <a:ext cx="6553200" cy="711200"/>
          </a:xfrm>
          <a:prstGeom prst="roundRect">
            <a:avLst>
              <a:gd name="adj" fmla="val 21429"/>
            </a:avLst>
          </a:prstGeom>
          <a:solidFill>
            <a:srgbClr val="1A443A"/>
          </a:solidFill>
          <a:ln/>
        </p:spPr>
      </p:sp>
      <p:sp>
        <p:nvSpPr>
          <p:cNvPr id="6" name="Text 4"/>
          <p:cNvSpPr/>
          <p:nvPr/>
        </p:nvSpPr>
        <p:spPr>
          <a:xfrm>
            <a:off x="5080000" y="1447800"/>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9BD86"/>
                </a:solidFill>
                <a:latin typeface="Space Mono" pitchFamily="49" charset="0"/>
                <a:ea typeface="Space Mono" pitchFamily="49" charset="-122"/>
                <a:cs typeface="Space Mono" pitchFamily="49" charset="-120"/>
              </a:rPr>
              <a:t>1</a:t>
            </a:r>
            <a:endParaRPr lang="en-US" sz="2000" dirty="0"/>
          </a:p>
        </p:txBody>
      </p:sp>
      <p:sp>
        <p:nvSpPr>
          <p:cNvPr id="7" name="Text 5"/>
          <p:cNvSpPr/>
          <p:nvPr/>
        </p:nvSpPr>
        <p:spPr>
          <a:xfrm>
            <a:off x="5842000" y="1476970"/>
            <a:ext cx="5441696"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3EEE2"/>
                </a:solidFill>
                <a:latin typeface="Syne" pitchFamily="34" charset="0"/>
                <a:ea typeface="Syne" pitchFamily="34" charset="-122"/>
                <a:cs typeface="Syne" pitchFamily="34" charset="-120"/>
              </a:rPr>
              <a:t>Di una </a:t>
            </a:r>
            <a:r>
              <a:rPr lang="en-US" sz="1800" b="1" dirty="0">
                <a:solidFill>
                  <a:srgbClr val="F3EEE2"/>
                </a:solidFill>
                <a:latin typeface="Syne" pitchFamily="34" charset="0"/>
                <a:ea typeface="Syne" pitchFamily="34" charset="-122"/>
                <a:cs typeface="Syne" pitchFamily="34" charset="-120"/>
              </a:rPr>
              <a:t>«i»</a:t>
            </a:r>
            <a:r>
              <a:rPr lang="en-US" sz="1800" dirty="0">
                <a:solidFill>
                  <a:srgbClr val="F3EEE2"/>
                </a:solidFill>
                <a:latin typeface="Syne" pitchFamily="34" charset="0"/>
                <a:ea typeface="Syne" pitchFamily="34" charset="-122"/>
                <a:cs typeface="Syne" pitchFamily="34" charset="-120"/>
              </a:rPr>
              <a:t> española, larga: iiiii</a:t>
            </a:r>
            <a:endParaRPr lang="en-US" sz="1800" dirty="0"/>
          </a:p>
        </p:txBody>
      </p:sp>
      <p:sp>
        <p:nvSpPr>
          <p:cNvPr id="8" name="Shape 6"/>
          <p:cNvSpPr/>
          <p:nvPr/>
        </p:nvSpPr>
        <p:spPr>
          <a:xfrm>
            <a:off x="4826000" y="2222500"/>
            <a:ext cx="6553200" cy="711200"/>
          </a:xfrm>
          <a:prstGeom prst="roundRect">
            <a:avLst>
              <a:gd name="adj" fmla="val 21429"/>
            </a:avLst>
          </a:prstGeom>
          <a:solidFill>
            <a:srgbClr val="1A443A"/>
          </a:solidFill>
          <a:ln/>
        </p:spPr>
      </p:sp>
      <p:sp>
        <p:nvSpPr>
          <p:cNvPr id="9" name="Text 7"/>
          <p:cNvSpPr/>
          <p:nvPr/>
        </p:nvSpPr>
        <p:spPr>
          <a:xfrm>
            <a:off x="5080000" y="2400300"/>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9BD86"/>
                </a:solidFill>
                <a:latin typeface="Space Mono" pitchFamily="49" charset="0"/>
                <a:ea typeface="Space Mono" pitchFamily="49" charset="-122"/>
                <a:cs typeface="Space Mono" pitchFamily="49" charset="-120"/>
              </a:rPr>
              <a:t>2</a:t>
            </a:r>
            <a:endParaRPr lang="en-US" sz="2000" dirty="0"/>
          </a:p>
        </p:txBody>
      </p:sp>
      <p:sp>
        <p:nvSpPr>
          <p:cNvPr id="10" name="Text 8"/>
          <p:cNvSpPr/>
          <p:nvPr/>
        </p:nvSpPr>
        <p:spPr>
          <a:xfrm>
            <a:off x="5842000" y="2429470"/>
            <a:ext cx="5441696"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3EEE2"/>
                </a:solidFill>
                <a:latin typeface="Syne" pitchFamily="34" charset="0"/>
                <a:ea typeface="Syne" pitchFamily="34" charset="-122"/>
                <a:cs typeface="Syne" pitchFamily="34" charset="-120"/>
              </a:rPr>
              <a:t>No muevas la lengua: se queda donde está.</a:t>
            </a:r>
            <a:endParaRPr lang="en-US" sz="1800" dirty="0"/>
          </a:p>
        </p:txBody>
      </p:sp>
      <p:sp>
        <p:nvSpPr>
          <p:cNvPr id="11" name="Shape 9"/>
          <p:cNvSpPr/>
          <p:nvPr/>
        </p:nvSpPr>
        <p:spPr>
          <a:xfrm>
            <a:off x="4826000" y="3175000"/>
            <a:ext cx="6553200" cy="949920"/>
          </a:xfrm>
          <a:prstGeom prst="roundRect">
            <a:avLst>
              <a:gd name="adj" fmla="val 16043"/>
            </a:avLst>
          </a:prstGeom>
          <a:solidFill>
            <a:srgbClr val="1A443A"/>
          </a:solidFill>
          <a:ln/>
        </p:spPr>
      </p:sp>
      <p:sp>
        <p:nvSpPr>
          <p:cNvPr id="12" name="Text 10"/>
          <p:cNvSpPr/>
          <p:nvPr/>
        </p:nvSpPr>
        <p:spPr>
          <a:xfrm>
            <a:off x="5080000" y="3472160"/>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9BD86"/>
                </a:solidFill>
                <a:latin typeface="Space Mono" pitchFamily="49" charset="0"/>
                <a:ea typeface="Space Mono" pitchFamily="49" charset="-122"/>
                <a:cs typeface="Space Mono" pitchFamily="49" charset="-120"/>
              </a:rPr>
              <a:t>3</a:t>
            </a:r>
            <a:endParaRPr lang="en-US" sz="2000" dirty="0"/>
          </a:p>
        </p:txBody>
      </p:sp>
      <p:sp>
        <p:nvSpPr>
          <p:cNvPr id="13" name="Text 11"/>
          <p:cNvSpPr/>
          <p:nvPr/>
        </p:nvSpPr>
        <p:spPr>
          <a:xfrm>
            <a:off x="5842000" y="3352800"/>
            <a:ext cx="5441696"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3EEE2"/>
                </a:solidFill>
                <a:latin typeface="Syne" pitchFamily="34" charset="0"/>
                <a:ea typeface="Syne" pitchFamily="34" charset="-122"/>
                <a:cs typeface="Syne" pitchFamily="34" charset="-120"/>
              </a:rPr>
              <a:t>Cierra los labios poco a poco, redondos, como para silbar.</a:t>
            </a:r>
            <a:endParaRPr lang="en-US" sz="1800" dirty="0"/>
          </a:p>
        </p:txBody>
      </p:sp>
      <p:sp>
        <p:nvSpPr>
          <p:cNvPr id="14" name="Shape 12"/>
          <p:cNvSpPr/>
          <p:nvPr/>
        </p:nvSpPr>
        <p:spPr>
          <a:xfrm>
            <a:off x="4826000" y="4254500"/>
            <a:ext cx="6553200" cy="746720"/>
          </a:xfrm>
          <a:prstGeom prst="roundRect">
            <a:avLst>
              <a:gd name="adj" fmla="val 20409"/>
            </a:avLst>
          </a:prstGeom>
          <a:solidFill>
            <a:srgbClr val="A5824A"/>
          </a:solidFill>
          <a:ln/>
        </p:spPr>
      </p:sp>
      <p:sp>
        <p:nvSpPr>
          <p:cNvPr id="15" name="Text 13"/>
          <p:cNvSpPr/>
          <p:nvPr/>
        </p:nvSpPr>
        <p:spPr>
          <a:xfrm>
            <a:off x="5080000" y="4450060"/>
            <a:ext cx="558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332B"/>
                </a:solidFill>
                <a:latin typeface="Space Mono" pitchFamily="49" charset="0"/>
                <a:ea typeface="Space Mono" pitchFamily="49" charset="-122"/>
                <a:cs typeface="Space Mono" pitchFamily="49" charset="-120"/>
              </a:rPr>
              <a:t>→</a:t>
            </a:r>
            <a:endParaRPr lang="en-US" sz="2000" dirty="0"/>
          </a:p>
        </p:txBody>
      </p:sp>
      <p:sp>
        <p:nvSpPr>
          <p:cNvPr id="16" name="Text 14"/>
          <p:cNvSpPr/>
          <p:nvPr/>
        </p:nvSpPr>
        <p:spPr>
          <a:xfrm>
            <a:off x="5842000" y="4432300"/>
            <a:ext cx="5441696"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iiiii… → «u» française : voilà !</a:t>
            </a:r>
            <a:endParaRPr lang="en-US" sz="2800" dirty="0"/>
          </a:p>
        </p:txBody>
      </p:sp>
      <p:sp>
        <p:nvSpPr>
          <p:cNvPr id="17" name="Text 1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
        <p:nvSpPr>
          <p:cNvPr id="18" name="Text 16"/>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9BD86"/>
                </a:solidFill>
                <a:latin typeface="Space Mono" pitchFamily="49" charset="0"/>
                <a:ea typeface="Space Mono" pitchFamily="49" charset="-122"/>
                <a:cs typeface="Space Mono" pitchFamily="49" charset="-120"/>
              </a:rPr>
              <a:t>01 · LES VOYELLES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EN FRANÇAIS</a:t>
            </a:r>
            <a:endParaRPr lang="en-US" sz="1200" dirty="0"/>
          </a:p>
        </p:txBody>
      </p:sp>
      <p:sp>
        <p:nvSpPr>
          <p:cNvPr id="3" name="Text 1"/>
          <p:cNvSpPr/>
          <p:nvPr/>
        </p:nvSpPr>
        <p:spPr>
          <a:xfrm>
            <a:off x="763270" y="1270000"/>
            <a:ext cx="3401060" cy="2565400"/>
          </a:xfrm>
          <a:prstGeom prst="rect">
            <a:avLst/>
          </a:prstGeom>
          <a:noFill/>
          <a:ln/>
        </p:spPr>
        <p:txBody>
          <a:bodyPr wrap="square" lIns="0" tIns="0" rIns="0" bIns="0" rtlCol="0" anchor="t">
            <a:normAutofit/>
          </a:bodyPr>
          <a:lstStyle/>
          <a:p>
            <a:pPr algn="ctr" indent="0" marL="0">
              <a:lnSpc>
                <a:spcPts val="20000"/>
              </a:lnSpc>
              <a:buNone/>
            </a:pPr>
            <a:r>
              <a:rPr lang="en-US" sz="20000" b="1" dirty="0">
                <a:solidFill>
                  <a:srgbClr val="A5824A"/>
                </a:solidFill>
                <a:latin typeface="Cormorant Garamond" pitchFamily="18" charset="0"/>
                <a:ea typeface="Cormorant Garamond" pitchFamily="18" charset="-122"/>
                <a:cs typeface="Cormorant Garamond" pitchFamily="18" charset="-120"/>
              </a:rPr>
              <a:t>U</a:t>
            </a:r>
            <a:endParaRPr lang="en-US" sz="20000" dirty="0"/>
          </a:p>
        </p:txBody>
      </p:sp>
      <p:pic>
        <p:nvPicPr>
          <p:cNvPr id="4" name="Image 0" descr="Símbolo de prohibición sobre la U">    </p:cNvPr>
          <p:cNvPicPr>
            <a:picLocks noChangeAspect="1"/>
          </p:cNvPicPr>
          <p:nvPr/>
        </p:nvPicPr>
        <p:blipFill>
          <a:blip r:embed="rId1"/>
          <a:srcRect l="0" r="0" t="0" b="0"/>
          <a:stretch/>
        </p:blipFill>
        <p:spPr>
          <a:xfrm>
            <a:off x="1193800" y="1270000"/>
            <a:ext cx="2540000" cy="2540000"/>
          </a:xfrm>
          <a:prstGeom prst="rect">
            <a:avLst/>
          </a:prstGeom>
        </p:spPr>
      </p:pic>
      <p:sp>
        <p:nvSpPr>
          <p:cNvPr id="5" name="Text 2"/>
          <p:cNvSpPr/>
          <p:nvPr/>
        </p:nvSpPr>
        <p:spPr>
          <a:xfrm>
            <a:off x="763270" y="4064000"/>
            <a:ext cx="3401060" cy="528241"/>
          </a:xfrm>
          <a:prstGeom prst="rect">
            <a:avLst/>
          </a:prstGeom>
          <a:noFill/>
          <a:ln/>
        </p:spPr>
        <p:txBody>
          <a:bodyPr wrap="square" lIns="0" tIns="0" rIns="0" bIns="0" rtlCol="0" anchor="t">
            <a:normAutofit/>
          </a:bodyPr>
          <a:lstStyle/>
          <a:p>
            <a:pPr algn="ctr" indent="0" marL="0">
              <a:lnSpc>
                <a:spcPts val="3960"/>
              </a:lnSpc>
              <a:buNone/>
            </a:pPr>
            <a:r>
              <a:rPr lang="en-US" sz="3600" i="1" dirty="0">
                <a:solidFill>
                  <a:srgbClr val="1F6B55"/>
                </a:solidFill>
                <a:latin typeface="Cormorant Garamond" pitchFamily="18" charset="0"/>
                <a:ea typeface="Cormorant Garamond" pitchFamily="18" charset="-122"/>
                <a:cs typeface="Cormorant Garamond" pitchFamily="18" charset="-120"/>
              </a:rPr>
              <a:t>≈ une « i »</a:t>
            </a:r>
            <a:endParaRPr lang="en-US" sz="3600" dirty="0"/>
          </a:p>
        </p:txBody>
      </p:sp>
      <p:sp>
        <p:nvSpPr>
          <p:cNvPr id="6" name="Text 3"/>
          <p:cNvSpPr/>
          <p:nvPr/>
        </p:nvSpPr>
        <p:spPr>
          <a:xfrm>
            <a:off x="763270" y="4699000"/>
            <a:ext cx="3401060" cy="52308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4645A"/>
                </a:solidFill>
                <a:latin typeface="Syne" pitchFamily="34" charset="0"/>
                <a:ea typeface="Syne" pitchFamily="34" charset="-122"/>
                <a:cs typeface="Syne" pitchFamily="34" charset="-120"/>
              </a:rPr>
              <a:t>que vamos cerrando hasta redondear los labios</a:t>
            </a:r>
            <a:endParaRPr lang="en-US" sz="1400" dirty="0"/>
          </a:p>
        </p:txBody>
      </p:sp>
      <p:sp>
        <p:nvSpPr>
          <p:cNvPr id="7" name="Shape 4"/>
          <p:cNvSpPr/>
          <p:nvPr/>
        </p:nvSpPr>
        <p:spPr>
          <a:xfrm>
            <a:off x="4826000" y="1079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8" name="Image 1" descr="Dedo que señala al espectador">    </p:cNvPr>
          <p:cNvPicPr>
            <a:picLocks noChangeAspect="1"/>
          </p:cNvPicPr>
          <p:nvPr/>
        </p:nvPicPr>
        <p:blipFill>
          <a:blip r:embed="rId2"/>
          <a:stretch>
            <a:fillRect/>
          </a:stretch>
        </p:blipFill>
        <p:spPr>
          <a:xfrm>
            <a:off x="5510402" y="1085850"/>
            <a:ext cx="1298195" cy="1384300"/>
          </a:xfrm>
          <a:prstGeom prst="rect">
            <a:avLst/>
          </a:prstGeom>
        </p:spPr>
      </p:pic>
      <p:sp>
        <p:nvSpPr>
          <p:cNvPr id="9" name="Shape 5"/>
          <p:cNvSpPr/>
          <p:nvPr/>
        </p:nvSpPr>
        <p:spPr>
          <a:xfrm>
            <a:off x="4829175" y="1082675"/>
            <a:ext cx="2660650" cy="1390650"/>
          </a:xfrm>
          <a:prstGeom prst="roundRect">
            <a:avLst>
              <a:gd name="adj" fmla="val 8904"/>
            </a:avLst>
          </a:prstGeom>
          <a:noFill/>
          <a:ln w="6350">
            <a:solidFill>
              <a:srgbClr val="D5E5DB"/>
            </a:solidFill>
            <a:prstDash val="solid"/>
          </a:ln>
        </p:spPr>
      </p:sp>
      <p:sp>
        <p:nvSpPr>
          <p:cNvPr id="10" name="Text 6"/>
          <p:cNvSpPr/>
          <p:nvPr/>
        </p:nvSpPr>
        <p:spPr>
          <a:xfrm>
            <a:off x="7747000" y="1270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2332B"/>
                </a:solidFill>
                <a:latin typeface="Cormorant Garamond" pitchFamily="18" charset="0"/>
                <a:ea typeface="Cormorant Garamond" pitchFamily="18" charset="-122"/>
                <a:cs typeface="Cormorant Garamond" pitchFamily="18" charset="-120"/>
              </a:rPr>
              <a:t>T</a:t>
            </a:r>
            <a:r>
              <a:rPr lang="en-US" sz="4400" b="1" dirty="0">
                <a:solidFill>
                  <a:srgbClr val="A5824A"/>
                </a:solidFill>
                <a:latin typeface="Cormorant Garamond" pitchFamily="18" charset="0"/>
                <a:ea typeface="Cormorant Garamond" pitchFamily="18" charset="-122"/>
                <a:cs typeface="Cormorant Garamond" pitchFamily="18" charset="-120"/>
              </a:rPr>
              <a:t>u</a:t>
            </a:r>
            <a:endParaRPr lang="en-US" sz="4400" dirty="0"/>
          </a:p>
        </p:txBody>
      </p:sp>
      <p:sp>
        <p:nvSpPr>
          <p:cNvPr id="11" name="Text 7"/>
          <p:cNvSpPr/>
          <p:nvPr/>
        </p:nvSpPr>
        <p:spPr>
          <a:xfrm>
            <a:off x="7747000" y="1968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tú</a:t>
            </a:r>
            <a:endParaRPr lang="en-US" sz="1400" dirty="0"/>
          </a:p>
        </p:txBody>
      </p:sp>
      <p:sp>
        <p:nvSpPr>
          <p:cNvPr id="12" name="Shape 8"/>
          <p:cNvSpPr/>
          <p:nvPr/>
        </p:nvSpPr>
        <p:spPr>
          <a:xfrm>
            <a:off x="4826000" y="2603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13" name="Image 2" descr="Fotografía antigua de una fábrica con chimeneas">    </p:cNvPr>
          <p:cNvPicPr>
            <a:picLocks noChangeAspect="1"/>
          </p:cNvPicPr>
          <p:nvPr/>
        </p:nvPicPr>
        <p:blipFill>
          <a:blip r:embed="rId3"/>
          <a:stretch>
            <a:fillRect/>
          </a:stretch>
        </p:blipFill>
        <p:spPr>
          <a:xfrm>
            <a:off x="5469904" y="2609850"/>
            <a:ext cx="1379192" cy="1384300"/>
          </a:xfrm>
          <a:prstGeom prst="rect">
            <a:avLst/>
          </a:prstGeom>
        </p:spPr>
      </p:pic>
      <p:sp>
        <p:nvSpPr>
          <p:cNvPr id="14" name="Shape 9"/>
          <p:cNvSpPr/>
          <p:nvPr/>
        </p:nvSpPr>
        <p:spPr>
          <a:xfrm>
            <a:off x="4829175" y="2606675"/>
            <a:ext cx="2660650" cy="1390650"/>
          </a:xfrm>
          <a:prstGeom prst="roundRect">
            <a:avLst>
              <a:gd name="adj" fmla="val 8904"/>
            </a:avLst>
          </a:prstGeom>
          <a:noFill/>
          <a:ln w="6350">
            <a:solidFill>
              <a:srgbClr val="D5E5DB"/>
            </a:solidFill>
            <a:prstDash val="solid"/>
          </a:ln>
        </p:spPr>
      </p:sp>
      <p:sp>
        <p:nvSpPr>
          <p:cNvPr id="15" name="Text 10"/>
          <p:cNvSpPr/>
          <p:nvPr/>
        </p:nvSpPr>
        <p:spPr>
          <a:xfrm>
            <a:off x="7747000" y="2794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U</a:t>
            </a:r>
            <a:r>
              <a:rPr lang="en-US" sz="4400" b="1" dirty="0">
                <a:solidFill>
                  <a:srgbClr val="12332B"/>
                </a:solidFill>
                <a:latin typeface="Cormorant Garamond" pitchFamily="18" charset="0"/>
                <a:ea typeface="Cormorant Garamond" pitchFamily="18" charset="-122"/>
                <a:cs typeface="Cormorant Garamond" pitchFamily="18" charset="-120"/>
              </a:rPr>
              <a:t>sine</a:t>
            </a:r>
            <a:endParaRPr lang="en-US" sz="4400" dirty="0"/>
          </a:p>
        </p:txBody>
      </p:sp>
      <p:sp>
        <p:nvSpPr>
          <p:cNvPr id="16" name="Text 11"/>
          <p:cNvSpPr/>
          <p:nvPr/>
        </p:nvSpPr>
        <p:spPr>
          <a:xfrm>
            <a:off x="7747000" y="3492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fábrica</a:t>
            </a:r>
            <a:endParaRPr lang="en-US" sz="1400" dirty="0"/>
          </a:p>
        </p:txBody>
      </p:sp>
      <p:sp>
        <p:nvSpPr>
          <p:cNvPr id="17" name="Shape 12"/>
          <p:cNvSpPr/>
          <p:nvPr/>
        </p:nvSpPr>
        <p:spPr>
          <a:xfrm>
            <a:off x="4826000" y="4127500"/>
            <a:ext cx="2667000" cy="1397000"/>
          </a:xfrm>
          <a:prstGeom prst="roundRect">
            <a:avLst>
              <a:gd name="adj" fmla="val 9091"/>
            </a:avLst>
          </a:prstGeom>
          <a:solidFill>
            <a:srgbClr val="FFFFFF"/>
          </a:solidFill>
          <a:ln/>
          <a:effectLst>
            <a:outerShdw sx="100000" sy="100000" kx="0" ky="0" algn="bl" rotWithShape="0" blurRad="152400" dist="50800" dir="5400000">
              <a:srgbClr val="12332B">
                <a:alpha val="10000"/>
              </a:srgbClr>
            </a:outerShdw>
          </a:effectLst>
        </p:spPr>
      </p:sp>
      <p:pic>
        <p:nvPicPr>
          <p:cNvPr id="18" name="Image 3" descr="Figura roja que destaca entre figuras blancas">    </p:cNvPr>
          <p:cNvPicPr>
            <a:picLocks noChangeAspect="1"/>
          </p:cNvPicPr>
          <p:nvPr/>
        </p:nvPicPr>
        <p:blipFill>
          <a:blip r:embed="rId4"/>
          <a:stretch>
            <a:fillRect/>
          </a:stretch>
        </p:blipFill>
        <p:spPr>
          <a:xfrm>
            <a:off x="5152736" y="4133850"/>
            <a:ext cx="2013527" cy="1384300"/>
          </a:xfrm>
          <a:prstGeom prst="rect">
            <a:avLst/>
          </a:prstGeom>
        </p:spPr>
      </p:pic>
      <p:sp>
        <p:nvSpPr>
          <p:cNvPr id="19" name="Shape 13"/>
          <p:cNvSpPr/>
          <p:nvPr/>
        </p:nvSpPr>
        <p:spPr>
          <a:xfrm>
            <a:off x="4829175" y="4130675"/>
            <a:ext cx="2660650" cy="1390650"/>
          </a:xfrm>
          <a:prstGeom prst="roundRect">
            <a:avLst>
              <a:gd name="adj" fmla="val 8904"/>
            </a:avLst>
          </a:prstGeom>
          <a:noFill/>
          <a:ln w="6350">
            <a:solidFill>
              <a:srgbClr val="D5E5DB"/>
            </a:solidFill>
            <a:prstDash val="solid"/>
          </a:ln>
        </p:spPr>
      </p:sp>
      <p:sp>
        <p:nvSpPr>
          <p:cNvPr id="20" name="Text 14"/>
          <p:cNvSpPr/>
          <p:nvPr/>
        </p:nvSpPr>
        <p:spPr>
          <a:xfrm>
            <a:off x="7747000" y="4318000"/>
            <a:ext cx="3741166"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A5824A"/>
                </a:solidFill>
                <a:latin typeface="Cormorant Garamond" pitchFamily="18" charset="0"/>
                <a:ea typeface="Cormorant Garamond" pitchFamily="18" charset="-122"/>
                <a:cs typeface="Cormorant Garamond" pitchFamily="18" charset="-120"/>
              </a:rPr>
              <a:t>U</a:t>
            </a:r>
            <a:r>
              <a:rPr lang="en-US" sz="4400" b="1" dirty="0">
                <a:solidFill>
                  <a:srgbClr val="12332B"/>
                </a:solidFill>
                <a:latin typeface="Cormorant Garamond" pitchFamily="18" charset="0"/>
                <a:ea typeface="Cormorant Garamond" pitchFamily="18" charset="-122"/>
                <a:cs typeface="Cormorant Garamond" pitchFamily="18" charset="-120"/>
              </a:rPr>
              <a:t>nique</a:t>
            </a:r>
            <a:endParaRPr lang="en-US" sz="4400" dirty="0"/>
          </a:p>
        </p:txBody>
      </p:sp>
      <p:sp>
        <p:nvSpPr>
          <p:cNvPr id="21" name="Text 15"/>
          <p:cNvSpPr/>
          <p:nvPr/>
        </p:nvSpPr>
        <p:spPr>
          <a:xfrm>
            <a:off x="7747000" y="5016500"/>
            <a:ext cx="37411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único · única</a:t>
            </a:r>
            <a:endParaRPr lang="en-US" sz="1400" dirty="0"/>
          </a:p>
        </p:txBody>
      </p:sp>
      <p:sp>
        <p:nvSpPr>
          <p:cNvPr id="22"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3" name="Text 17"/>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01 · LES VOYELLES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RÉCAPITULONS</a:t>
            </a:r>
            <a:endParaRPr lang="en-US" sz="1200" dirty="0"/>
          </a:p>
        </p:txBody>
      </p:sp>
      <p:sp>
        <p:nvSpPr>
          <p:cNvPr id="3" name="Text 1"/>
          <p:cNvSpPr/>
          <p:nvPr>
            <p:ph type="title"/>
          </p:nvPr>
        </p:nvSpPr>
        <p:spPr>
          <a:xfrm>
            <a:off x="812800" y="10795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2332B"/>
                </a:solidFill>
                <a:latin typeface="Cormorant Garamond" pitchFamily="18" charset="0"/>
                <a:ea typeface="Cormorant Garamond" pitchFamily="18" charset="-122"/>
                <a:cs typeface="Cormorant Garamond" pitchFamily="18" charset="-120"/>
              </a:rPr>
              <a:t>Cuatro amigas y una impostora</a:t>
            </a:r>
            <a:endParaRPr lang="en-US" sz="4400" dirty="0"/>
          </a:p>
        </p:txBody>
      </p:sp>
      <p:sp>
        <p:nvSpPr>
          <p:cNvPr id="4" name="Shape 2"/>
          <p:cNvSpPr/>
          <p:nvPr/>
        </p:nvSpPr>
        <p:spPr>
          <a:xfrm>
            <a:off x="815975" y="2162175"/>
            <a:ext cx="1924050" cy="3041650"/>
          </a:xfrm>
          <a:prstGeom prst="roundRect">
            <a:avLst>
              <a:gd name="adj" fmla="val 7756"/>
            </a:avLst>
          </a:prstGeom>
          <a:solidFill>
            <a:srgbClr val="FBFDF9"/>
          </a:solidFill>
          <a:ln w="6350">
            <a:solidFill>
              <a:srgbClr val="D5E5DB"/>
            </a:solidFill>
            <a:prstDash val="solid"/>
          </a:ln>
        </p:spPr>
      </p:sp>
      <p:sp>
        <p:nvSpPr>
          <p:cNvPr id="5" name="Text 3"/>
          <p:cNvSpPr/>
          <p:nvPr/>
        </p:nvSpPr>
        <p:spPr>
          <a:xfrm>
            <a:off x="1290330" y="2672060"/>
            <a:ext cx="975241"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1F6B55"/>
                </a:solidFill>
                <a:latin typeface="Cormorant Garamond" pitchFamily="18" charset="0"/>
                <a:ea typeface="Cormorant Garamond" pitchFamily="18" charset="-122"/>
                <a:cs typeface="Cormorant Garamond" pitchFamily="18" charset="-120"/>
              </a:rPr>
              <a:t>A</a:t>
            </a:r>
            <a:endParaRPr lang="en-US" sz="9000" dirty="0"/>
          </a:p>
        </p:txBody>
      </p:sp>
      <p:sp>
        <p:nvSpPr>
          <p:cNvPr id="6" name="Text 4"/>
          <p:cNvSpPr/>
          <p:nvPr/>
        </p:nvSpPr>
        <p:spPr>
          <a:xfrm>
            <a:off x="1357719" y="3916660"/>
            <a:ext cx="840462" cy="487660"/>
          </a:xfrm>
          <a:prstGeom prst="rect">
            <a:avLst/>
          </a:prstGeom>
          <a:noFill/>
          <a:ln/>
        </p:spPr>
        <p:txBody>
          <a:bodyPr wrap="square" lIns="0" tIns="0" rIns="0" bIns="0" rtlCol="0" anchor="t">
            <a:normAutofit/>
          </a:bodyPr>
          <a:lstStyle/>
          <a:p>
            <a:pPr algn="ctr"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avion</a:t>
            </a:r>
            <a:endParaRPr lang="en-US" sz="2600" dirty="0"/>
          </a:p>
        </p:txBody>
      </p:sp>
      <p:sp>
        <p:nvSpPr>
          <p:cNvPr id="7" name="Text 5"/>
          <p:cNvSpPr/>
          <p:nvPr/>
        </p:nvSpPr>
        <p:spPr>
          <a:xfrm>
            <a:off x="1399381" y="4480520"/>
            <a:ext cx="75723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645A"/>
                </a:solidFill>
                <a:latin typeface="Syne" pitchFamily="34" charset="0"/>
                <a:ea typeface="Syne" pitchFamily="34" charset="-122"/>
                <a:cs typeface="Syne" pitchFamily="34" charset="-120"/>
              </a:rPr>
              <a:t>= español</a:t>
            </a:r>
            <a:endParaRPr lang="en-US" sz="1200" dirty="0"/>
          </a:p>
        </p:txBody>
      </p:sp>
      <p:sp>
        <p:nvSpPr>
          <p:cNvPr id="8" name="Shape 6"/>
          <p:cNvSpPr/>
          <p:nvPr/>
        </p:nvSpPr>
        <p:spPr>
          <a:xfrm>
            <a:off x="2974975" y="2162175"/>
            <a:ext cx="1924050" cy="3041650"/>
          </a:xfrm>
          <a:prstGeom prst="roundRect">
            <a:avLst>
              <a:gd name="adj" fmla="val 7756"/>
            </a:avLst>
          </a:prstGeom>
          <a:solidFill>
            <a:srgbClr val="FBFDF9"/>
          </a:solidFill>
          <a:ln w="6350">
            <a:solidFill>
              <a:srgbClr val="D5E5DB"/>
            </a:solidFill>
            <a:prstDash val="solid"/>
          </a:ln>
        </p:spPr>
      </p:sp>
      <p:sp>
        <p:nvSpPr>
          <p:cNvPr id="9" name="Text 7"/>
          <p:cNvSpPr/>
          <p:nvPr/>
        </p:nvSpPr>
        <p:spPr>
          <a:xfrm>
            <a:off x="3133685" y="2725440"/>
            <a:ext cx="1606629" cy="1168400"/>
          </a:xfrm>
          <a:prstGeom prst="rect">
            <a:avLst/>
          </a:prstGeom>
          <a:noFill/>
          <a:ln/>
        </p:spPr>
        <p:txBody>
          <a:bodyPr wrap="square" lIns="0" tIns="0" rIns="0" bIns="0" rtlCol="0" anchor="t">
            <a:normAutofit/>
          </a:bodyPr>
          <a:lstStyle/>
          <a:p>
            <a:pPr algn="ctr" indent="0" marL="0">
              <a:lnSpc>
                <a:spcPts val="9000"/>
              </a:lnSpc>
              <a:buNone/>
            </a:pPr>
            <a:r>
              <a:rPr lang="en-US" sz="6000" b="1" dirty="0">
                <a:solidFill>
                  <a:srgbClr val="1F6B55"/>
                </a:solidFill>
                <a:latin typeface="Cormorant Garamond" pitchFamily="18" charset="0"/>
                <a:ea typeface="Cormorant Garamond" pitchFamily="18" charset="-122"/>
                <a:cs typeface="Cormorant Garamond" pitchFamily="18" charset="-120"/>
              </a:rPr>
              <a:t>É · E</a:t>
            </a:r>
            <a:endParaRPr lang="en-US" sz="6000" dirty="0"/>
          </a:p>
        </p:txBody>
      </p:sp>
      <p:sp>
        <p:nvSpPr>
          <p:cNvPr id="10" name="Text 8"/>
          <p:cNvSpPr/>
          <p:nvPr/>
        </p:nvSpPr>
        <p:spPr>
          <a:xfrm>
            <a:off x="3216434" y="3970040"/>
            <a:ext cx="1441133"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2332B"/>
                </a:solidFill>
                <a:latin typeface="Cormorant Garamond" pitchFamily="18" charset="0"/>
                <a:ea typeface="Cormorant Garamond" pitchFamily="18" charset="-122"/>
                <a:cs typeface="Cormorant Garamond" pitchFamily="18" charset="-120"/>
              </a:rPr>
              <a:t>éléphant · je</a:t>
            </a:r>
            <a:endParaRPr lang="en-US" sz="2000" dirty="0"/>
          </a:p>
        </p:txBody>
      </p:sp>
      <p:sp>
        <p:nvSpPr>
          <p:cNvPr id="11" name="Text 9"/>
          <p:cNvSpPr/>
          <p:nvPr/>
        </p:nvSpPr>
        <p:spPr>
          <a:xfrm>
            <a:off x="3272879" y="4427240"/>
            <a:ext cx="13281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645A"/>
                </a:solidFill>
                <a:latin typeface="Syne" pitchFamily="34" charset="0"/>
                <a:ea typeface="Syne" pitchFamily="34" charset="-122"/>
                <a:cs typeface="Syne" pitchFamily="34" charset="-120"/>
              </a:rPr>
              <a:t>abierta · cerrada</a:t>
            </a:r>
            <a:endParaRPr lang="en-US" sz="1200" dirty="0"/>
          </a:p>
        </p:txBody>
      </p:sp>
      <p:sp>
        <p:nvSpPr>
          <p:cNvPr id="12" name="Shape 10"/>
          <p:cNvSpPr/>
          <p:nvPr/>
        </p:nvSpPr>
        <p:spPr>
          <a:xfrm>
            <a:off x="5133975" y="2162175"/>
            <a:ext cx="1924050" cy="3041650"/>
          </a:xfrm>
          <a:prstGeom prst="roundRect">
            <a:avLst>
              <a:gd name="adj" fmla="val 7756"/>
            </a:avLst>
          </a:prstGeom>
          <a:solidFill>
            <a:srgbClr val="FBFDF9"/>
          </a:solidFill>
          <a:ln w="6350">
            <a:solidFill>
              <a:srgbClr val="D5E5DB"/>
            </a:solidFill>
            <a:prstDash val="solid"/>
          </a:ln>
        </p:spPr>
      </p:sp>
      <p:sp>
        <p:nvSpPr>
          <p:cNvPr id="13" name="Text 11"/>
          <p:cNvSpPr/>
          <p:nvPr/>
        </p:nvSpPr>
        <p:spPr>
          <a:xfrm>
            <a:off x="5863471" y="2672060"/>
            <a:ext cx="465058"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1F6B55"/>
                </a:solidFill>
                <a:latin typeface="Cormorant Garamond" pitchFamily="18" charset="0"/>
                <a:ea typeface="Cormorant Garamond" pitchFamily="18" charset="-122"/>
                <a:cs typeface="Cormorant Garamond" pitchFamily="18" charset="-120"/>
              </a:rPr>
              <a:t>I</a:t>
            </a:r>
            <a:endParaRPr lang="en-US" sz="9000" dirty="0"/>
          </a:p>
        </p:txBody>
      </p:sp>
      <p:sp>
        <p:nvSpPr>
          <p:cNvPr id="14" name="Text 12"/>
          <p:cNvSpPr/>
          <p:nvPr/>
        </p:nvSpPr>
        <p:spPr>
          <a:xfrm>
            <a:off x="5907296" y="3916660"/>
            <a:ext cx="377309" cy="487660"/>
          </a:xfrm>
          <a:prstGeom prst="rect">
            <a:avLst/>
          </a:prstGeom>
          <a:noFill/>
          <a:ln/>
        </p:spPr>
        <p:txBody>
          <a:bodyPr wrap="square" lIns="0" tIns="0" rIns="0" bIns="0" rtlCol="0" anchor="t">
            <a:normAutofit/>
          </a:bodyPr>
          <a:lstStyle/>
          <a:p>
            <a:pPr algn="ctr"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ici</a:t>
            </a:r>
            <a:endParaRPr lang="en-US" sz="2600" dirty="0"/>
          </a:p>
        </p:txBody>
      </p:sp>
      <p:sp>
        <p:nvSpPr>
          <p:cNvPr id="15" name="Text 13"/>
          <p:cNvSpPr/>
          <p:nvPr/>
        </p:nvSpPr>
        <p:spPr>
          <a:xfrm>
            <a:off x="5717381" y="4480520"/>
            <a:ext cx="75723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645A"/>
                </a:solidFill>
                <a:latin typeface="Syne" pitchFamily="34" charset="0"/>
                <a:ea typeface="Syne" pitchFamily="34" charset="-122"/>
                <a:cs typeface="Syne" pitchFamily="34" charset="-120"/>
              </a:rPr>
              <a:t>= español</a:t>
            </a:r>
            <a:endParaRPr lang="en-US" sz="1200" dirty="0"/>
          </a:p>
        </p:txBody>
      </p:sp>
      <p:sp>
        <p:nvSpPr>
          <p:cNvPr id="16" name="Shape 14"/>
          <p:cNvSpPr/>
          <p:nvPr/>
        </p:nvSpPr>
        <p:spPr>
          <a:xfrm>
            <a:off x="7292975" y="2162175"/>
            <a:ext cx="1924050" cy="3041650"/>
          </a:xfrm>
          <a:prstGeom prst="roundRect">
            <a:avLst>
              <a:gd name="adj" fmla="val 7756"/>
            </a:avLst>
          </a:prstGeom>
          <a:solidFill>
            <a:srgbClr val="FBFDF9"/>
          </a:solidFill>
          <a:ln w="6350">
            <a:solidFill>
              <a:srgbClr val="D5E5DB"/>
            </a:solidFill>
            <a:prstDash val="solid"/>
          </a:ln>
        </p:spPr>
      </p:sp>
      <p:sp>
        <p:nvSpPr>
          <p:cNvPr id="17" name="Text 15"/>
          <p:cNvSpPr/>
          <p:nvPr/>
        </p:nvSpPr>
        <p:spPr>
          <a:xfrm>
            <a:off x="7729587" y="2672060"/>
            <a:ext cx="1050727"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1F6B55"/>
                </a:solidFill>
                <a:latin typeface="Cormorant Garamond" pitchFamily="18" charset="0"/>
                <a:ea typeface="Cormorant Garamond" pitchFamily="18" charset="-122"/>
                <a:cs typeface="Cormorant Garamond" pitchFamily="18" charset="-120"/>
              </a:rPr>
              <a:t>O</a:t>
            </a:r>
            <a:endParaRPr lang="en-US" sz="9000" dirty="0"/>
          </a:p>
        </p:txBody>
      </p:sp>
      <p:sp>
        <p:nvSpPr>
          <p:cNvPr id="18" name="Text 16"/>
          <p:cNvSpPr/>
          <p:nvPr/>
        </p:nvSpPr>
        <p:spPr>
          <a:xfrm>
            <a:off x="7789585" y="3916660"/>
            <a:ext cx="930831" cy="487660"/>
          </a:xfrm>
          <a:prstGeom prst="rect">
            <a:avLst/>
          </a:prstGeom>
          <a:noFill/>
          <a:ln/>
        </p:spPr>
        <p:txBody>
          <a:bodyPr wrap="square" lIns="0" tIns="0" rIns="0" bIns="0" rtlCol="0" anchor="t">
            <a:normAutofit/>
          </a:bodyPr>
          <a:lstStyle/>
          <a:p>
            <a:pPr algn="ctr" indent="0" marL="0">
              <a:lnSpc>
                <a:spcPts val="3640"/>
              </a:lnSpc>
              <a:buNone/>
            </a:pPr>
            <a:r>
              <a:rPr lang="en-US" sz="2600" b="1" dirty="0">
                <a:solidFill>
                  <a:srgbClr val="12332B"/>
                </a:solidFill>
                <a:latin typeface="Cormorant Garamond" pitchFamily="18" charset="0"/>
                <a:ea typeface="Cormorant Garamond" pitchFamily="18" charset="-122"/>
                <a:cs typeface="Cormorant Garamond" pitchFamily="18" charset="-120"/>
              </a:rPr>
              <a:t>objets</a:t>
            </a:r>
            <a:endParaRPr lang="en-US" sz="2600" dirty="0"/>
          </a:p>
        </p:txBody>
      </p:sp>
      <p:sp>
        <p:nvSpPr>
          <p:cNvPr id="19" name="Text 17"/>
          <p:cNvSpPr/>
          <p:nvPr/>
        </p:nvSpPr>
        <p:spPr>
          <a:xfrm>
            <a:off x="7876381" y="4480520"/>
            <a:ext cx="75723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645A"/>
                </a:solidFill>
                <a:latin typeface="Syne" pitchFamily="34" charset="0"/>
                <a:ea typeface="Syne" pitchFamily="34" charset="-122"/>
                <a:cs typeface="Syne" pitchFamily="34" charset="-120"/>
              </a:rPr>
              <a:t>= español</a:t>
            </a:r>
            <a:endParaRPr lang="en-US" sz="1200" dirty="0"/>
          </a:p>
        </p:txBody>
      </p:sp>
      <p:sp>
        <p:nvSpPr>
          <p:cNvPr id="20" name="Shape 18"/>
          <p:cNvSpPr/>
          <p:nvPr/>
        </p:nvSpPr>
        <p:spPr>
          <a:xfrm>
            <a:off x="9448800" y="2159000"/>
            <a:ext cx="1930400" cy="3048000"/>
          </a:xfrm>
          <a:prstGeom prst="roundRect">
            <a:avLst>
              <a:gd name="adj" fmla="val 7895"/>
            </a:avLst>
          </a:prstGeom>
          <a:solidFill>
            <a:srgbClr val="12332B"/>
          </a:solidFill>
          <a:ln/>
        </p:spPr>
      </p:sp>
      <p:sp>
        <p:nvSpPr>
          <p:cNvPr id="21" name="Text 19"/>
          <p:cNvSpPr/>
          <p:nvPr/>
        </p:nvSpPr>
        <p:spPr>
          <a:xfrm>
            <a:off x="9933226" y="2672060"/>
            <a:ext cx="961549"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D9BD86"/>
                </a:solidFill>
                <a:latin typeface="Cormorant Garamond" pitchFamily="18" charset="0"/>
                <a:ea typeface="Cormorant Garamond" pitchFamily="18" charset="-122"/>
                <a:cs typeface="Cormorant Garamond" pitchFamily="18" charset="-120"/>
              </a:rPr>
              <a:t>U</a:t>
            </a:r>
            <a:endParaRPr lang="en-US" sz="9000" dirty="0"/>
          </a:p>
        </p:txBody>
      </p:sp>
      <p:sp>
        <p:nvSpPr>
          <p:cNvPr id="22" name="Text 20"/>
          <p:cNvSpPr/>
          <p:nvPr/>
        </p:nvSpPr>
        <p:spPr>
          <a:xfrm>
            <a:off x="10247918" y="3916660"/>
            <a:ext cx="332065" cy="487660"/>
          </a:xfrm>
          <a:prstGeom prst="rect">
            <a:avLst/>
          </a:prstGeom>
          <a:noFill/>
          <a:ln/>
        </p:spPr>
        <p:txBody>
          <a:bodyPr wrap="square" lIns="0" tIns="0" rIns="0" bIns="0" rtlCol="0" anchor="t">
            <a:normAutofit/>
          </a:bodyPr>
          <a:lstStyle/>
          <a:p>
            <a:pPr algn="ctr" indent="0" marL="0">
              <a:lnSpc>
                <a:spcPts val="3640"/>
              </a:lnSpc>
              <a:buNone/>
            </a:pPr>
            <a:r>
              <a:rPr lang="en-US" sz="2600" b="1" dirty="0">
                <a:solidFill>
                  <a:srgbClr val="F3EEE2"/>
                </a:solidFill>
                <a:latin typeface="Cormorant Garamond" pitchFamily="18" charset="0"/>
                <a:ea typeface="Cormorant Garamond" pitchFamily="18" charset="-122"/>
                <a:cs typeface="Cormorant Garamond" pitchFamily="18" charset="-120"/>
              </a:rPr>
              <a:t>tu</a:t>
            </a:r>
            <a:endParaRPr lang="en-US" sz="2600" dirty="0"/>
          </a:p>
        </p:txBody>
      </p:sp>
      <p:sp>
        <p:nvSpPr>
          <p:cNvPr id="23" name="Text 21"/>
          <p:cNvSpPr/>
          <p:nvPr/>
        </p:nvSpPr>
        <p:spPr>
          <a:xfrm>
            <a:off x="9793218" y="4480520"/>
            <a:ext cx="124146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D6CC"/>
                </a:solidFill>
                <a:latin typeface="Syne" pitchFamily="34" charset="0"/>
                <a:ea typeface="Syne" pitchFamily="34" charset="-122"/>
                <a:cs typeface="Syne" pitchFamily="34" charset="-120"/>
              </a:rPr>
              <a:t>una «i» cerrada</a:t>
            </a:r>
            <a:endParaRPr lang="en-US" sz="1200" dirty="0"/>
          </a:p>
        </p:txBody>
      </p:sp>
      <p:sp>
        <p:nvSpPr>
          <p:cNvPr id="24" name="Text 2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5" name="Text 23"/>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01 · LES VOYELLES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332B"/>
        </a:solidFill>
      </p:bgPr>
    </p:bg>
    <p:spTree>
      <p:nvGrpSpPr>
        <p:cNvPr id="1" name=""/>
        <p:cNvGrpSpPr/>
        <p:nvPr/>
      </p:nvGrpSpPr>
      <p:grpSpPr>
        <a:xfrm>
          <a:off x="0" y="0"/>
          <a:ext cx="0" cy="0"/>
          <a:chOff x="0" y="0"/>
          <a:chExt cx="0" cy="0"/>
        </a:xfrm>
      </p:grpSpPr>
      <p:sp>
        <p:nvSpPr>
          <p:cNvPr id="2" name="Text 0"/>
          <p:cNvSpPr/>
          <p:nvPr/>
        </p:nvSpPr>
        <p:spPr>
          <a:xfrm>
            <a:off x="812800" y="2159000"/>
            <a:ext cx="39243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9BD86"/>
                </a:solidFill>
                <a:latin typeface="Space Mono" pitchFamily="49" charset="0"/>
                <a:ea typeface="Space Mono" pitchFamily="49" charset="-122"/>
                <a:cs typeface="Space Mono" pitchFamily="49" charset="-120"/>
              </a:rPr>
              <a:t>02</a:t>
            </a:r>
            <a:endParaRPr lang="en-US" sz="2200" dirty="0"/>
          </a:p>
        </p:txBody>
      </p:sp>
      <p:sp>
        <p:nvSpPr>
          <p:cNvPr id="3" name="Text 1"/>
          <p:cNvSpPr/>
          <p:nvPr>
            <p:ph type="title"/>
          </p:nvPr>
        </p:nvSpPr>
        <p:spPr>
          <a:xfrm>
            <a:off x="812800" y="266700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0" i="0" dirty="0">
                <a:solidFill>
                  <a:srgbClr val="F3EEE2"/>
                </a:solidFill>
                <a:latin typeface="Cormorant Garamond" pitchFamily="18" charset="0"/>
                <a:ea typeface="Cormorant Garamond" pitchFamily="18" charset="-122"/>
                <a:cs typeface="Cormorant Garamond" pitchFamily="18" charset="-120"/>
              </a:rPr>
              <a:t>Les voyelles composées</a:t>
            </a:r>
            <a:endParaRPr lang="en-US" sz="7500" dirty="0"/>
          </a:p>
        </p:txBody>
      </p:sp>
      <p:sp>
        <p:nvSpPr>
          <p:cNvPr id="4" name="Text 2"/>
          <p:cNvSpPr/>
          <p:nvPr/>
        </p:nvSpPr>
        <p:spPr>
          <a:xfrm>
            <a:off x="812800" y="3937000"/>
            <a:ext cx="91567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6CC"/>
                </a:solidFill>
                <a:latin typeface="Syne" pitchFamily="34" charset="0"/>
                <a:ea typeface="Syne" pitchFamily="34" charset="-122"/>
                <a:cs typeface="Syne" pitchFamily="34" charset="-120"/>
              </a:rPr>
              <a:t>Dos vocales juntas… y un solo sonido.</a:t>
            </a:r>
            <a:endParaRPr lang="en-US" sz="1800" dirty="0"/>
          </a:p>
        </p:txBody>
      </p:sp>
      <p:sp>
        <p:nvSpPr>
          <p:cNvPr id="5" name="Text 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LA COMBINAISON DES VOYELLES · A</a:t>
            </a:r>
            <a:endParaRPr lang="en-US" sz="1200" dirty="0"/>
          </a:p>
        </p:txBody>
      </p:sp>
      <p:sp>
        <p:nvSpPr>
          <p:cNvPr id="3" name="Text 1"/>
          <p:cNvSpPr/>
          <p:nvPr/>
        </p:nvSpPr>
        <p:spPr>
          <a:xfrm>
            <a:off x="9469374" y="698500"/>
            <a:ext cx="1909826"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1F6B55"/>
                </a:solidFill>
                <a:latin typeface="Cormorant Garamond" pitchFamily="18" charset="0"/>
                <a:ea typeface="Cormorant Garamond" pitchFamily="18" charset="-122"/>
                <a:cs typeface="Cormorant Garamond" pitchFamily="18" charset="-120"/>
              </a:rPr>
              <a:t>A</a:t>
            </a:r>
            <a:endParaRPr lang="en-US" sz="10000" dirty="0"/>
          </a:p>
        </p:txBody>
      </p:sp>
      <p:sp>
        <p:nvSpPr>
          <p:cNvPr id="4" name="Shape 2"/>
          <p:cNvSpPr/>
          <p:nvPr/>
        </p:nvSpPr>
        <p:spPr>
          <a:xfrm>
            <a:off x="815975" y="2098675"/>
            <a:ext cx="10560050" cy="1263650"/>
          </a:xfrm>
          <a:prstGeom prst="roundRect">
            <a:avLst>
              <a:gd name="adj" fmla="val 11809"/>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5" name="Text 3"/>
          <p:cNvSpPr/>
          <p:nvPr/>
        </p:nvSpPr>
        <p:spPr>
          <a:xfrm>
            <a:off x="1117600" y="2444750"/>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B55"/>
                </a:solidFill>
                <a:latin typeface="Cormorant Garamond" pitchFamily="18" charset="0"/>
                <a:ea typeface="Cormorant Garamond" pitchFamily="18" charset="-122"/>
                <a:cs typeface="Cormorant Garamond" pitchFamily="18" charset="-120"/>
              </a:rPr>
              <a:t>A + I</a:t>
            </a:r>
            <a:endParaRPr lang="en-US" sz="3600" dirty="0"/>
          </a:p>
        </p:txBody>
      </p:sp>
      <p:pic>
        <p:nvPicPr>
          <p:cNvPr id="6" name="Image 0" descr="arrow-right">    </p:cNvPr>
          <p:cNvPicPr>
            <a:picLocks noChangeAspect="1"/>
          </p:cNvPicPr>
          <p:nvPr/>
        </p:nvPicPr>
        <p:blipFill>
          <a:blip r:embed="rId1"/>
          <a:srcRect l="0" r="0" t="0" b="0"/>
          <a:stretch/>
        </p:blipFill>
        <p:spPr>
          <a:xfrm>
            <a:off x="3251200" y="2540000"/>
            <a:ext cx="609600" cy="304800"/>
          </a:xfrm>
          <a:prstGeom prst="rect">
            <a:avLst/>
          </a:prstGeom>
        </p:spPr>
      </p:pic>
      <p:sp>
        <p:nvSpPr>
          <p:cNvPr id="7" name="Text 4"/>
          <p:cNvSpPr/>
          <p:nvPr/>
        </p:nvSpPr>
        <p:spPr>
          <a:xfrm>
            <a:off x="4000500" y="2400300"/>
            <a:ext cx="1333500" cy="670520"/>
          </a:xfrm>
          <a:custGeom>
            <a:avLst/>
            <a:gdLst/>
            <a:ahLst/>
            <a:cxnLst/>
            <a:rect l="l" t="t" r="r" b="b"/>
            <a:pathLst>
              <a:path w="1333500" h="670520">
                <a:moveTo>
                  <a:pt x="335260" y="0"/>
                </a:moveTo>
                <a:lnTo>
                  <a:pt x="998240" y="0"/>
                </a:lnTo>
                <a:arcTo hR="335260" wR="335260" stAng="16200000" swAng="5400000"/>
                <a:lnTo>
                  <a:pt x="1333500" y="335260"/>
                </a:lnTo>
                <a:arcTo hR="335260" wR="335260" stAng="0" swAng="5400000"/>
                <a:lnTo>
                  <a:pt x="335260" y="670520"/>
                </a:lnTo>
                <a:arcTo hR="335260" wR="335260" stAng="5400000" swAng="5400000"/>
                <a:lnTo>
                  <a:pt x="0" y="335260"/>
                </a:lnTo>
                <a:arcTo hR="335260" wR="335260" stAng="10800000" swAng="5400000"/>
                <a:close/>
              </a:path>
            </a:pathLst>
          </a:custGeom>
          <a:solidFill>
            <a:srgbClr val="12332B"/>
          </a:solidFill>
          <a:ln/>
        </p:spPr>
        <p:txBody>
          <a:bodyPr wrap="square" lIns="76200" tIns="50800" rIns="76200" bIns="25400" rtlCol="0" anchor="t">
            <a:normAutofit/>
          </a:bodyPr>
          <a:lstStyle/>
          <a:p>
            <a:pPr algn="ctr" indent="0" marL="0">
              <a:lnSpc>
                <a:spcPts val="4480"/>
              </a:lnSpc>
              <a:buNone/>
            </a:pPr>
            <a:r>
              <a:rPr lang="en-US" sz="3200" b="1" dirty="0">
                <a:solidFill>
                  <a:srgbClr val="F3EEE2"/>
                </a:solidFill>
                <a:latin typeface="Cormorant Garamond" pitchFamily="18" charset="0"/>
                <a:ea typeface="Cormorant Garamond" pitchFamily="18" charset="-122"/>
                <a:cs typeface="Cormorant Garamond" pitchFamily="18" charset="-120"/>
              </a:rPr>
              <a:t>E</a:t>
            </a:r>
            <a:endParaRPr lang="en-US" sz="3200" dirty="0"/>
          </a:p>
        </p:txBody>
      </p:sp>
      <p:sp>
        <p:nvSpPr>
          <p:cNvPr id="8" name="Text 5"/>
          <p:cNvSpPr/>
          <p:nvPr/>
        </p:nvSpPr>
        <p:spPr>
          <a:xfrm>
            <a:off x="5524500" y="250825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Franç</a:t>
            </a:r>
            <a:r>
              <a:rPr lang="en-US" sz="2800" b="1" dirty="0">
                <a:solidFill>
                  <a:srgbClr val="A5824A"/>
                </a:solidFill>
                <a:latin typeface="Cormorant Garamond" pitchFamily="18" charset="0"/>
                <a:ea typeface="Cormorant Garamond" pitchFamily="18" charset="-122"/>
                <a:cs typeface="Cormorant Garamond" pitchFamily="18" charset="-120"/>
              </a:rPr>
              <a:t>ai</a:t>
            </a:r>
            <a:r>
              <a:rPr lang="en-US" sz="2800" b="1" dirty="0">
                <a:solidFill>
                  <a:srgbClr val="12332B"/>
                </a:solidFill>
                <a:latin typeface="Cormorant Garamond" pitchFamily="18" charset="0"/>
                <a:ea typeface="Cormorant Garamond" pitchFamily="18" charset="-122"/>
                <a:cs typeface="Cormorant Garamond" pitchFamily="18" charset="-120"/>
              </a:rPr>
              <a:t>s</a:t>
            </a:r>
            <a:endParaRPr lang="en-US" sz="2800" dirty="0"/>
          </a:p>
        </p:txBody>
      </p:sp>
      <p:sp>
        <p:nvSpPr>
          <p:cNvPr id="9" name="Text 6"/>
          <p:cNvSpPr/>
          <p:nvPr/>
        </p:nvSpPr>
        <p:spPr>
          <a:xfrm>
            <a:off x="7429500" y="250825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Portug</a:t>
            </a:r>
            <a:r>
              <a:rPr lang="en-US" sz="2800" b="1" dirty="0">
                <a:solidFill>
                  <a:srgbClr val="A5824A"/>
                </a:solidFill>
                <a:latin typeface="Cormorant Garamond" pitchFamily="18" charset="0"/>
                <a:ea typeface="Cormorant Garamond" pitchFamily="18" charset="-122"/>
                <a:cs typeface="Cormorant Garamond" pitchFamily="18" charset="-120"/>
              </a:rPr>
              <a:t>ai</a:t>
            </a:r>
            <a:r>
              <a:rPr lang="en-US" sz="2800" b="1" dirty="0">
                <a:solidFill>
                  <a:srgbClr val="12332B"/>
                </a:solidFill>
                <a:latin typeface="Cormorant Garamond" pitchFamily="18" charset="0"/>
                <a:ea typeface="Cormorant Garamond" pitchFamily="18" charset="-122"/>
                <a:cs typeface="Cormorant Garamond" pitchFamily="18" charset="-120"/>
              </a:rPr>
              <a:t>s</a:t>
            </a:r>
            <a:endParaRPr lang="en-US" sz="2800" dirty="0"/>
          </a:p>
        </p:txBody>
      </p:sp>
      <p:sp>
        <p:nvSpPr>
          <p:cNvPr id="10" name="Text 7"/>
          <p:cNvSpPr/>
          <p:nvPr/>
        </p:nvSpPr>
        <p:spPr>
          <a:xfrm>
            <a:off x="9334500" y="250825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Polon</a:t>
            </a:r>
            <a:r>
              <a:rPr lang="en-US" sz="2800" b="1" dirty="0">
                <a:solidFill>
                  <a:srgbClr val="A5824A"/>
                </a:solidFill>
                <a:latin typeface="Cormorant Garamond" pitchFamily="18" charset="0"/>
                <a:ea typeface="Cormorant Garamond" pitchFamily="18" charset="-122"/>
                <a:cs typeface="Cormorant Garamond" pitchFamily="18" charset="-120"/>
              </a:rPr>
              <a:t>ai</a:t>
            </a:r>
            <a:r>
              <a:rPr lang="en-US" sz="2800" b="1" dirty="0">
                <a:solidFill>
                  <a:srgbClr val="12332B"/>
                </a:solidFill>
                <a:latin typeface="Cormorant Garamond" pitchFamily="18" charset="0"/>
                <a:ea typeface="Cormorant Garamond" pitchFamily="18" charset="-122"/>
                <a:cs typeface="Cormorant Garamond" pitchFamily="18" charset="-120"/>
              </a:rPr>
              <a:t>s…</a:t>
            </a:r>
            <a:endParaRPr lang="en-US" sz="2800" dirty="0"/>
          </a:p>
        </p:txBody>
      </p:sp>
      <p:sp>
        <p:nvSpPr>
          <p:cNvPr id="11" name="Shape 8"/>
          <p:cNvSpPr/>
          <p:nvPr/>
        </p:nvSpPr>
        <p:spPr>
          <a:xfrm>
            <a:off x="815975" y="3686175"/>
            <a:ext cx="10560050" cy="1263650"/>
          </a:xfrm>
          <a:prstGeom prst="roundRect">
            <a:avLst>
              <a:gd name="adj" fmla="val 11809"/>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2" name="Text 9"/>
          <p:cNvSpPr/>
          <p:nvPr/>
        </p:nvSpPr>
        <p:spPr>
          <a:xfrm>
            <a:off x="1117600" y="4032250"/>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B55"/>
                </a:solidFill>
                <a:latin typeface="Cormorant Garamond" pitchFamily="18" charset="0"/>
                <a:ea typeface="Cormorant Garamond" pitchFamily="18" charset="-122"/>
                <a:cs typeface="Cormorant Garamond" pitchFamily="18" charset="-120"/>
              </a:rPr>
              <a:t>A + U</a:t>
            </a:r>
            <a:endParaRPr lang="en-US" sz="3600" dirty="0"/>
          </a:p>
        </p:txBody>
      </p:sp>
      <p:pic>
        <p:nvPicPr>
          <p:cNvPr id="13" name="Image 1" descr="arrow-right">    </p:cNvPr>
          <p:cNvPicPr>
            <a:picLocks noChangeAspect="1"/>
          </p:cNvPicPr>
          <p:nvPr/>
        </p:nvPicPr>
        <p:blipFill>
          <a:blip r:embed="rId2"/>
          <a:srcRect l="0" r="0" t="0" b="0"/>
          <a:stretch/>
        </p:blipFill>
        <p:spPr>
          <a:xfrm>
            <a:off x="3251200" y="4127500"/>
            <a:ext cx="609600" cy="304800"/>
          </a:xfrm>
          <a:prstGeom prst="rect">
            <a:avLst/>
          </a:prstGeom>
        </p:spPr>
      </p:pic>
      <p:sp>
        <p:nvSpPr>
          <p:cNvPr id="14" name="Text 10"/>
          <p:cNvSpPr/>
          <p:nvPr/>
        </p:nvSpPr>
        <p:spPr>
          <a:xfrm>
            <a:off x="4000500" y="3987800"/>
            <a:ext cx="1333500" cy="670520"/>
          </a:xfrm>
          <a:custGeom>
            <a:avLst/>
            <a:gdLst/>
            <a:ahLst/>
            <a:cxnLst/>
            <a:rect l="l" t="t" r="r" b="b"/>
            <a:pathLst>
              <a:path w="1333500" h="670520">
                <a:moveTo>
                  <a:pt x="335260" y="0"/>
                </a:moveTo>
                <a:lnTo>
                  <a:pt x="998240" y="0"/>
                </a:lnTo>
                <a:arcTo hR="335260" wR="335260" stAng="16200000" swAng="5400000"/>
                <a:lnTo>
                  <a:pt x="1333500" y="335260"/>
                </a:lnTo>
                <a:arcTo hR="335260" wR="335260" stAng="0" swAng="5400000"/>
                <a:lnTo>
                  <a:pt x="335260" y="670520"/>
                </a:lnTo>
                <a:arcTo hR="335260" wR="335260" stAng="5400000" swAng="5400000"/>
                <a:lnTo>
                  <a:pt x="0" y="335260"/>
                </a:lnTo>
                <a:arcTo hR="335260" wR="335260" stAng="10800000" swAng="5400000"/>
                <a:close/>
              </a:path>
            </a:pathLst>
          </a:custGeom>
          <a:solidFill>
            <a:srgbClr val="12332B"/>
          </a:solidFill>
          <a:ln/>
        </p:spPr>
        <p:txBody>
          <a:bodyPr wrap="square" lIns="76200" tIns="50800" rIns="76200" bIns="25400" rtlCol="0" anchor="t">
            <a:normAutofit/>
          </a:bodyPr>
          <a:lstStyle/>
          <a:p>
            <a:pPr algn="ctr" indent="0" marL="0">
              <a:lnSpc>
                <a:spcPts val="4480"/>
              </a:lnSpc>
              <a:buNone/>
            </a:pPr>
            <a:r>
              <a:rPr lang="en-US" sz="3200" b="1" dirty="0">
                <a:solidFill>
                  <a:srgbClr val="F3EEE2"/>
                </a:solidFill>
                <a:latin typeface="Cormorant Garamond" pitchFamily="18" charset="0"/>
                <a:ea typeface="Cormorant Garamond" pitchFamily="18" charset="-122"/>
                <a:cs typeface="Cormorant Garamond" pitchFamily="18" charset="-120"/>
              </a:rPr>
              <a:t>O</a:t>
            </a:r>
            <a:endParaRPr lang="en-US" sz="3200" dirty="0"/>
          </a:p>
        </p:txBody>
      </p:sp>
      <p:sp>
        <p:nvSpPr>
          <p:cNvPr id="15" name="Text 11"/>
          <p:cNvSpPr/>
          <p:nvPr/>
        </p:nvSpPr>
        <p:spPr>
          <a:xfrm>
            <a:off x="5524500" y="409575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A5824A"/>
                </a:solidFill>
                <a:latin typeface="Cormorant Garamond" pitchFamily="18" charset="0"/>
                <a:ea typeface="Cormorant Garamond" pitchFamily="18" charset="-122"/>
                <a:cs typeface="Cormorant Garamond" pitchFamily="18" charset="-120"/>
              </a:rPr>
              <a:t>Au</a:t>
            </a:r>
            <a:r>
              <a:rPr lang="en-US" sz="2800" b="1" dirty="0">
                <a:solidFill>
                  <a:srgbClr val="12332B"/>
                </a:solidFill>
                <a:latin typeface="Cormorant Garamond" pitchFamily="18" charset="0"/>
                <a:ea typeface="Cormorant Garamond" pitchFamily="18" charset="-122"/>
                <a:cs typeface="Cormorant Garamond" pitchFamily="18" charset="-120"/>
              </a:rPr>
              <a:t>tomatique</a:t>
            </a:r>
            <a:endParaRPr lang="en-US" sz="2800" dirty="0"/>
          </a:p>
        </p:txBody>
      </p:sp>
      <p:sp>
        <p:nvSpPr>
          <p:cNvPr id="16" name="Text 12"/>
          <p:cNvSpPr/>
          <p:nvPr/>
        </p:nvSpPr>
        <p:spPr>
          <a:xfrm>
            <a:off x="7429500" y="409575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A5824A"/>
                </a:solidFill>
                <a:latin typeface="Cormorant Garamond" pitchFamily="18" charset="0"/>
                <a:ea typeface="Cormorant Garamond" pitchFamily="18" charset="-122"/>
                <a:cs typeface="Cormorant Garamond" pitchFamily="18" charset="-120"/>
              </a:rPr>
              <a:t>Au</a:t>
            </a:r>
            <a:r>
              <a:rPr lang="en-US" sz="2800" b="1" dirty="0">
                <a:solidFill>
                  <a:srgbClr val="12332B"/>
                </a:solidFill>
                <a:latin typeface="Cormorant Garamond" pitchFamily="18" charset="0"/>
                <a:ea typeface="Cormorant Garamond" pitchFamily="18" charset="-122"/>
                <a:cs typeface="Cormorant Garamond" pitchFamily="18" charset="-120"/>
              </a:rPr>
              <a:t>tomobile</a:t>
            </a:r>
            <a:endParaRPr lang="en-US" sz="2800" dirty="0"/>
          </a:p>
        </p:txBody>
      </p:sp>
      <p:sp>
        <p:nvSpPr>
          <p:cNvPr id="17" name="Text 13"/>
          <p:cNvSpPr/>
          <p:nvPr/>
        </p:nvSpPr>
        <p:spPr>
          <a:xfrm>
            <a:off x="9334500" y="409575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A5824A"/>
                </a:solidFill>
                <a:latin typeface="Cormorant Garamond" pitchFamily="18" charset="0"/>
                <a:ea typeface="Cormorant Garamond" pitchFamily="18" charset="-122"/>
                <a:cs typeface="Cormorant Garamond" pitchFamily="18" charset="-120"/>
              </a:rPr>
              <a:t>Au</a:t>
            </a:r>
            <a:r>
              <a:rPr lang="en-US" sz="2800" b="1" dirty="0">
                <a:solidFill>
                  <a:srgbClr val="12332B"/>
                </a:solidFill>
                <a:latin typeface="Cormorant Garamond" pitchFamily="18" charset="0"/>
                <a:ea typeface="Cormorant Garamond" pitchFamily="18" charset="-122"/>
                <a:cs typeface="Cormorant Garamond" pitchFamily="18" charset="-120"/>
              </a:rPr>
              <a:t>torité…</a:t>
            </a:r>
            <a:endParaRPr lang="en-US" sz="2800" dirty="0"/>
          </a:p>
        </p:txBody>
      </p:sp>
      <p:sp>
        <p:nvSpPr>
          <p:cNvPr id="18" name="Text 14"/>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19" name="Text 15"/>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02 · VOYELLES COMPOSÉES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LA COMBINAISON DES VOYELLES · E</a:t>
            </a:r>
            <a:endParaRPr lang="en-US" sz="1200" dirty="0"/>
          </a:p>
        </p:txBody>
      </p:sp>
      <p:sp>
        <p:nvSpPr>
          <p:cNvPr id="3" name="Text 1"/>
          <p:cNvSpPr/>
          <p:nvPr/>
        </p:nvSpPr>
        <p:spPr>
          <a:xfrm>
            <a:off x="9469374" y="571500"/>
            <a:ext cx="1909826" cy="1168400"/>
          </a:xfrm>
          <a:prstGeom prst="rect">
            <a:avLst/>
          </a:prstGeom>
          <a:noFill/>
          <a:ln/>
        </p:spPr>
        <p:txBody>
          <a:bodyPr wrap="square" lIns="0" tIns="0" rIns="0" bIns="0" rtlCol="0" anchor="t">
            <a:normAutofit/>
          </a:bodyPr>
          <a:lstStyle/>
          <a:p>
            <a:pPr algn="r" indent="0" marL="0">
              <a:lnSpc>
                <a:spcPts val="9000"/>
              </a:lnSpc>
              <a:buNone/>
            </a:pPr>
            <a:r>
              <a:rPr lang="en-US" sz="9000" b="1" dirty="0">
                <a:solidFill>
                  <a:srgbClr val="1F6B55"/>
                </a:solidFill>
                <a:latin typeface="Cormorant Garamond" pitchFamily="18" charset="0"/>
                <a:ea typeface="Cormorant Garamond" pitchFamily="18" charset="-122"/>
                <a:cs typeface="Cormorant Garamond" pitchFamily="18" charset="-120"/>
              </a:rPr>
              <a:t>E</a:t>
            </a:r>
            <a:endParaRPr lang="en-US" sz="9000" dirty="0"/>
          </a:p>
        </p:txBody>
      </p:sp>
      <p:sp>
        <p:nvSpPr>
          <p:cNvPr id="4" name="Shape 2"/>
          <p:cNvSpPr/>
          <p:nvPr/>
        </p:nvSpPr>
        <p:spPr>
          <a:xfrm>
            <a:off x="815975" y="1844675"/>
            <a:ext cx="10560050" cy="1136650"/>
          </a:xfrm>
          <a:prstGeom prst="roundRect">
            <a:avLst>
              <a:gd name="adj" fmla="val 13128"/>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5" name="Text 3"/>
          <p:cNvSpPr/>
          <p:nvPr/>
        </p:nvSpPr>
        <p:spPr>
          <a:xfrm>
            <a:off x="1117600" y="2133600"/>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B55"/>
                </a:solidFill>
                <a:latin typeface="Cormorant Garamond" pitchFamily="18" charset="0"/>
                <a:ea typeface="Cormorant Garamond" pitchFamily="18" charset="-122"/>
                <a:cs typeface="Cormorant Garamond" pitchFamily="18" charset="-120"/>
              </a:rPr>
              <a:t>E + I</a:t>
            </a:r>
            <a:endParaRPr lang="en-US" sz="3600" dirty="0"/>
          </a:p>
        </p:txBody>
      </p:sp>
      <p:pic>
        <p:nvPicPr>
          <p:cNvPr id="6" name="Image 0" descr="arrow-right">    </p:cNvPr>
          <p:cNvPicPr>
            <a:picLocks noChangeAspect="1"/>
          </p:cNvPicPr>
          <p:nvPr/>
        </p:nvPicPr>
        <p:blipFill>
          <a:blip r:embed="rId1"/>
          <a:srcRect l="0" r="0" t="0" b="0"/>
          <a:stretch/>
        </p:blipFill>
        <p:spPr>
          <a:xfrm>
            <a:off x="3251200" y="2260600"/>
            <a:ext cx="609600" cy="304800"/>
          </a:xfrm>
          <a:prstGeom prst="rect">
            <a:avLst/>
          </a:prstGeom>
        </p:spPr>
      </p:pic>
      <p:sp>
        <p:nvSpPr>
          <p:cNvPr id="7" name="Text 4"/>
          <p:cNvSpPr/>
          <p:nvPr/>
        </p:nvSpPr>
        <p:spPr>
          <a:xfrm>
            <a:off x="4000500" y="2082800"/>
            <a:ext cx="1333500" cy="670520"/>
          </a:xfrm>
          <a:custGeom>
            <a:avLst/>
            <a:gdLst/>
            <a:ahLst/>
            <a:cxnLst/>
            <a:rect l="l" t="t" r="r" b="b"/>
            <a:pathLst>
              <a:path w="1333500" h="670520">
                <a:moveTo>
                  <a:pt x="335260" y="0"/>
                </a:moveTo>
                <a:lnTo>
                  <a:pt x="998240" y="0"/>
                </a:lnTo>
                <a:arcTo hR="335260" wR="335260" stAng="16200000" swAng="5400000"/>
                <a:lnTo>
                  <a:pt x="1333500" y="335260"/>
                </a:lnTo>
                <a:arcTo hR="335260" wR="335260" stAng="0" swAng="5400000"/>
                <a:lnTo>
                  <a:pt x="335260" y="670520"/>
                </a:lnTo>
                <a:arcTo hR="335260" wR="335260" stAng="5400000" swAng="5400000"/>
                <a:lnTo>
                  <a:pt x="0" y="335260"/>
                </a:lnTo>
                <a:arcTo hR="335260" wR="335260" stAng="10800000" swAng="5400000"/>
                <a:close/>
              </a:path>
            </a:pathLst>
          </a:custGeom>
          <a:solidFill>
            <a:srgbClr val="12332B"/>
          </a:solidFill>
          <a:ln/>
        </p:spPr>
        <p:txBody>
          <a:bodyPr wrap="square" lIns="76200" tIns="50800" rIns="76200" bIns="25400" rtlCol="0" anchor="t">
            <a:normAutofit/>
          </a:bodyPr>
          <a:lstStyle/>
          <a:p>
            <a:pPr algn="ctr" indent="0" marL="0">
              <a:lnSpc>
                <a:spcPts val="4480"/>
              </a:lnSpc>
              <a:buNone/>
            </a:pPr>
            <a:r>
              <a:rPr lang="en-US" sz="3200" b="1" dirty="0">
                <a:solidFill>
                  <a:srgbClr val="F3EEE2"/>
                </a:solidFill>
                <a:latin typeface="Cormorant Garamond" pitchFamily="18" charset="0"/>
                <a:ea typeface="Cormorant Garamond" pitchFamily="18" charset="-122"/>
                <a:cs typeface="Cormorant Garamond" pitchFamily="18" charset="-120"/>
              </a:rPr>
              <a:t>E</a:t>
            </a:r>
            <a:endParaRPr lang="en-US" sz="3200" dirty="0"/>
          </a:p>
        </p:txBody>
      </p:sp>
      <p:sp>
        <p:nvSpPr>
          <p:cNvPr id="8" name="Text 5"/>
          <p:cNvSpPr/>
          <p:nvPr/>
        </p:nvSpPr>
        <p:spPr>
          <a:xfrm>
            <a:off x="5524500" y="219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Tr</a:t>
            </a:r>
            <a:r>
              <a:rPr lang="en-US" sz="2800" b="1" dirty="0">
                <a:solidFill>
                  <a:srgbClr val="A5824A"/>
                </a:solidFill>
                <a:latin typeface="Cormorant Garamond" pitchFamily="18" charset="0"/>
                <a:ea typeface="Cormorant Garamond" pitchFamily="18" charset="-122"/>
                <a:cs typeface="Cormorant Garamond" pitchFamily="18" charset="-120"/>
              </a:rPr>
              <a:t>ei</a:t>
            </a:r>
            <a:r>
              <a:rPr lang="en-US" sz="2800" b="1" dirty="0">
                <a:solidFill>
                  <a:srgbClr val="12332B"/>
                </a:solidFill>
                <a:latin typeface="Cormorant Garamond" pitchFamily="18" charset="0"/>
                <a:ea typeface="Cormorant Garamond" pitchFamily="18" charset="-122"/>
                <a:cs typeface="Cormorant Garamond" pitchFamily="18" charset="-120"/>
              </a:rPr>
              <a:t>ze</a:t>
            </a:r>
            <a:endParaRPr lang="en-US" sz="2800" dirty="0"/>
          </a:p>
        </p:txBody>
      </p:sp>
      <p:sp>
        <p:nvSpPr>
          <p:cNvPr id="9" name="Text 6"/>
          <p:cNvSpPr/>
          <p:nvPr/>
        </p:nvSpPr>
        <p:spPr>
          <a:xfrm>
            <a:off x="7429500" y="219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S</a:t>
            </a:r>
            <a:r>
              <a:rPr lang="en-US" sz="2800" b="1" dirty="0">
                <a:solidFill>
                  <a:srgbClr val="A5824A"/>
                </a:solidFill>
                <a:latin typeface="Cormorant Garamond" pitchFamily="18" charset="0"/>
                <a:ea typeface="Cormorant Garamond" pitchFamily="18" charset="-122"/>
                <a:cs typeface="Cormorant Garamond" pitchFamily="18" charset="-120"/>
              </a:rPr>
              <a:t>ei</a:t>
            </a:r>
            <a:r>
              <a:rPr lang="en-US" sz="2800" b="1" dirty="0">
                <a:solidFill>
                  <a:srgbClr val="12332B"/>
                </a:solidFill>
                <a:latin typeface="Cormorant Garamond" pitchFamily="18" charset="0"/>
                <a:ea typeface="Cormorant Garamond" pitchFamily="18" charset="-122"/>
                <a:cs typeface="Cormorant Garamond" pitchFamily="18" charset="-120"/>
              </a:rPr>
              <a:t>ze</a:t>
            </a:r>
            <a:endParaRPr lang="en-US" sz="2800" dirty="0"/>
          </a:p>
        </p:txBody>
      </p:sp>
      <p:sp>
        <p:nvSpPr>
          <p:cNvPr id="10" name="Shape 7"/>
          <p:cNvSpPr/>
          <p:nvPr/>
        </p:nvSpPr>
        <p:spPr>
          <a:xfrm>
            <a:off x="815975" y="3114675"/>
            <a:ext cx="10560050" cy="1136650"/>
          </a:xfrm>
          <a:prstGeom prst="roundRect">
            <a:avLst>
              <a:gd name="adj" fmla="val 13128"/>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1" name="Text 8"/>
          <p:cNvSpPr/>
          <p:nvPr/>
        </p:nvSpPr>
        <p:spPr>
          <a:xfrm>
            <a:off x="1117600" y="3403600"/>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B55"/>
                </a:solidFill>
                <a:latin typeface="Cormorant Garamond" pitchFamily="18" charset="0"/>
                <a:ea typeface="Cormorant Garamond" pitchFamily="18" charset="-122"/>
                <a:cs typeface="Cormorant Garamond" pitchFamily="18" charset="-120"/>
              </a:rPr>
              <a:t>E + U</a:t>
            </a:r>
            <a:endParaRPr lang="en-US" sz="3600" dirty="0"/>
          </a:p>
        </p:txBody>
      </p:sp>
      <p:pic>
        <p:nvPicPr>
          <p:cNvPr id="12" name="Image 1" descr="arrow-right">    </p:cNvPr>
          <p:cNvPicPr>
            <a:picLocks noChangeAspect="1"/>
          </p:cNvPicPr>
          <p:nvPr/>
        </p:nvPicPr>
        <p:blipFill>
          <a:blip r:embed="rId2"/>
          <a:srcRect l="0" r="0" t="0" b="0"/>
          <a:stretch/>
        </p:blipFill>
        <p:spPr>
          <a:xfrm>
            <a:off x="3251200" y="3530600"/>
            <a:ext cx="609600" cy="304800"/>
          </a:xfrm>
          <a:prstGeom prst="rect">
            <a:avLst/>
          </a:prstGeom>
        </p:spPr>
      </p:pic>
      <p:sp>
        <p:nvSpPr>
          <p:cNvPr id="13" name="Text 9"/>
          <p:cNvSpPr/>
          <p:nvPr/>
        </p:nvSpPr>
        <p:spPr>
          <a:xfrm>
            <a:off x="4000500" y="3352800"/>
            <a:ext cx="1333500" cy="670520"/>
          </a:xfrm>
          <a:custGeom>
            <a:avLst/>
            <a:gdLst/>
            <a:ahLst/>
            <a:cxnLst/>
            <a:rect l="l" t="t" r="r" b="b"/>
            <a:pathLst>
              <a:path w="1333500" h="670520">
                <a:moveTo>
                  <a:pt x="335260" y="0"/>
                </a:moveTo>
                <a:lnTo>
                  <a:pt x="998240" y="0"/>
                </a:lnTo>
                <a:arcTo hR="335260" wR="335260" stAng="16200000" swAng="5400000"/>
                <a:lnTo>
                  <a:pt x="1333500" y="335260"/>
                </a:lnTo>
                <a:arcTo hR="335260" wR="335260" stAng="0" swAng="5400000"/>
                <a:lnTo>
                  <a:pt x="335260" y="670520"/>
                </a:lnTo>
                <a:arcTo hR="335260" wR="335260" stAng="5400000" swAng="5400000"/>
                <a:lnTo>
                  <a:pt x="0" y="335260"/>
                </a:lnTo>
                <a:arcTo hR="335260" wR="335260" stAng="10800000" swAng="5400000"/>
                <a:close/>
              </a:path>
            </a:pathLst>
          </a:custGeom>
          <a:solidFill>
            <a:srgbClr val="A5824A"/>
          </a:solidFill>
          <a:ln/>
        </p:spPr>
        <p:txBody>
          <a:bodyPr wrap="square" lIns="76200" tIns="50800" rIns="76200" bIns="25400" rtlCol="0" anchor="t">
            <a:normAutofit/>
          </a:bodyPr>
          <a:lstStyle/>
          <a:p>
            <a:pPr algn="ctr" indent="0" marL="0">
              <a:lnSpc>
                <a:spcPts val="4480"/>
              </a:lnSpc>
              <a:buNone/>
            </a:pPr>
            <a:r>
              <a:rPr lang="en-US" sz="3200" b="1" dirty="0">
                <a:solidFill>
                  <a:srgbClr val="12332B"/>
                </a:solidFill>
                <a:latin typeface="Cormorant Garamond" pitchFamily="18" charset="0"/>
                <a:ea typeface="Cormorant Garamond" pitchFamily="18" charset="-122"/>
                <a:cs typeface="Cormorant Garamond" pitchFamily="18" charset="-120"/>
              </a:rPr>
              <a:t>e</a:t>
            </a:r>
            <a:endParaRPr lang="en-US" sz="3200" dirty="0"/>
          </a:p>
        </p:txBody>
      </p:sp>
      <p:sp>
        <p:nvSpPr>
          <p:cNvPr id="14" name="Text 10"/>
          <p:cNvSpPr/>
          <p:nvPr/>
        </p:nvSpPr>
        <p:spPr>
          <a:xfrm>
            <a:off x="5524500" y="346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P</a:t>
            </a:r>
            <a:r>
              <a:rPr lang="en-US" sz="2800" b="1" dirty="0">
                <a:solidFill>
                  <a:srgbClr val="A5824A"/>
                </a:solidFill>
                <a:latin typeface="Cormorant Garamond" pitchFamily="18" charset="0"/>
                <a:ea typeface="Cormorant Garamond" pitchFamily="18" charset="-122"/>
                <a:cs typeface="Cormorant Garamond" pitchFamily="18" charset="-120"/>
              </a:rPr>
              <a:t>eu</a:t>
            </a:r>
            <a:endParaRPr lang="en-US" sz="2800" dirty="0"/>
          </a:p>
        </p:txBody>
      </p:sp>
      <p:sp>
        <p:nvSpPr>
          <p:cNvPr id="15" name="Text 11"/>
          <p:cNvSpPr/>
          <p:nvPr/>
        </p:nvSpPr>
        <p:spPr>
          <a:xfrm>
            <a:off x="7429500" y="346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F</a:t>
            </a:r>
            <a:r>
              <a:rPr lang="en-US" sz="2800" b="1" dirty="0">
                <a:solidFill>
                  <a:srgbClr val="A5824A"/>
                </a:solidFill>
                <a:latin typeface="Cormorant Garamond" pitchFamily="18" charset="0"/>
                <a:ea typeface="Cormorant Garamond" pitchFamily="18" charset="-122"/>
                <a:cs typeface="Cormorant Garamond" pitchFamily="18" charset="-120"/>
              </a:rPr>
              <a:t>eu</a:t>
            </a:r>
            <a:endParaRPr lang="en-US" sz="2800" dirty="0"/>
          </a:p>
        </p:txBody>
      </p:sp>
      <p:sp>
        <p:nvSpPr>
          <p:cNvPr id="16" name="Text 12"/>
          <p:cNvSpPr/>
          <p:nvPr/>
        </p:nvSpPr>
        <p:spPr>
          <a:xfrm>
            <a:off x="9334500" y="346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L</a:t>
            </a:r>
            <a:r>
              <a:rPr lang="en-US" sz="2800" b="1" dirty="0">
                <a:solidFill>
                  <a:srgbClr val="A5824A"/>
                </a:solidFill>
                <a:latin typeface="Cormorant Garamond" pitchFamily="18" charset="0"/>
                <a:ea typeface="Cormorant Garamond" pitchFamily="18" charset="-122"/>
                <a:cs typeface="Cormorant Garamond" pitchFamily="18" charset="-120"/>
              </a:rPr>
              <a:t>eu</a:t>
            </a:r>
            <a:r>
              <a:rPr lang="en-US" sz="2800" b="1" dirty="0">
                <a:solidFill>
                  <a:srgbClr val="12332B"/>
                </a:solidFill>
                <a:latin typeface="Cormorant Garamond" pitchFamily="18" charset="0"/>
                <a:ea typeface="Cormorant Garamond" pitchFamily="18" charset="-122"/>
                <a:cs typeface="Cormorant Garamond" pitchFamily="18" charset="-120"/>
              </a:rPr>
              <a:t>r…</a:t>
            </a:r>
            <a:endParaRPr lang="en-US" sz="2800" dirty="0"/>
          </a:p>
        </p:txBody>
      </p:sp>
      <p:sp>
        <p:nvSpPr>
          <p:cNvPr id="17" name="Shape 13"/>
          <p:cNvSpPr/>
          <p:nvPr/>
        </p:nvSpPr>
        <p:spPr>
          <a:xfrm>
            <a:off x="815975" y="4384675"/>
            <a:ext cx="10560050" cy="1136650"/>
          </a:xfrm>
          <a:prstGeom prst="roundRect">
            <a:avLst>
              <a:gd name="adj" fmla="val 13128"/>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8" name="Text 14"/>
          <p:cNvSpPr/>
          <p:nvPr/>
        </p:nvSpPr>
        <p:spPr>
          <a:xfrm>
            <a:off x="1117600" y="4673600"/>
            <a:ext cx="209296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6B55"/>
                </a:solidFill>
                <a:latin typeface="Cormorant Garamond" pitchFamily="18" charset="0"/>
                <a:ea typeface="Cormorant Garamond" pitchFamily="18" charset="-122"/>
                <a:cs typeface="Cormorant Garamond" pitchFamily="18" charset="-120"/>
              </a:rPr>
              <a:t>E + A + U</a:t>
            </a:r>
            <a:endParaRPr lang="en-US" sz="3200" dirty="0"/>
          </a:p>
        </p:txBody>
      </p:sp>
      <p:pic>
        <p:nvPicPr>
          <p:cNvPr id="19" name="Image 2" descr="arrow-right">    </p:cNvPr>
          <p:cNvPicPr>
            <a:picLocks noChangeAspect="1"/>
          </p:cNvPicPr>
          <p:nvPr/>
        </p:nvPicPr>
        <p:blipFill>
          <a:blip r:embed="rId3"/>
          <a:srcRect l="0" r="0" t="0" b="0"/>
          <a:stretch/>
        </p:blipFill>
        <p:spPr>
          <a:xfrm>
            <a:off x="3251200" y="4800600"/>
            <a:ext cx="609600" cy="304800"/>
          </a:xfrm>
          <a:prstGeom prst="rect">
            <a:avLst/>
          </a:prstGeom>
        </p:spPr>
      </p:pic>
      <p:sp>
        <p:nvSpPr>
          <p:cNvPr id="20" name="Text 15"/>
          <p:cNvSpPr/>
          <p:nvPr/>
        </p:nvSpPr>
        <p:spPr>
          <a:xfrm>
            <a:off x="4000500" y="4622800"/>
            <a:ext cx="1333500" cy="670520"/>
          </a:xfrm>
          <a:custGeom>
            <a:avLst/>
            <a:gdLst/>
            <a:ahLst/>
            <a:cxnLst/>
            <a:rect l="l" t="t" r="r" b="b"/>
            <a:pathLst>
              <a:path w="1333500" h="670520">
                <a:moveTo>
                  <a:pt x="335260" y="0"/>
                </a:moveTo>
                <a:lnTo>
                  <a:pt x="998240" y="0"/>
                </a:lnTo>
                <a:arcTo hR="335260" wR="335260" stAng="16200000" swAng="5400000"/>
                <a:lnTo>
                  <a:pt x="1333500" y="335260"/>
                </a:lnTo>
                <a:arcTo hR="335260" wR="335260" stAng="0" swAng="5400000"/>
                <a:lnTo>
                  <a:pt x="335260" y="670520"/>
                </a:lnTo>
                <a:arcTo hR="335260" wR="335260" stAng="5400000" swAng="5400000"/>
                <a:lnTo>
                  <a:pt x="0" y="335260"/>
                </a:lnTo>
                <a:arcTo hR="335260" wR="335260" stAng="10800000" swAng="5400000"/>
                <a:close/>
              </a:path>
            </a:pathLst>
          </a:custGeom>
          <a:solidFill>
            <a:srgbClr val="12332B"/>
          </a:solidFill>
          <a:ln/>
        </p:spPr>
        <p:txBody>
          <a:bodyPr wrap="square" lIns="76200" tIns="50800" rIns="76200" bIns="25400" rtlCol="0" anchor="t">
            <a:normAutofit/>
          </a:bodyPr>
          <a:lstStyle/>
          <a:p>
            <a:pPr algn="ctr" indent="0" marL="0">
              <a:lnSpc>
                <a:spcPts val="4480"/>
              </a:lnSpc>
              <a:buNone/>
            </a:pPr>
            <a:r>
              <a:rPr lang="en-US" sz="3200" b="1" dirty="0">
                <a:solidFill>
                  <a:srgbClr val="F3EEE2"/>
                </a:solidFill>
                <a:latin typeface="Cormorant Garamond" pitchFamily="18" charset="0"/>
                <a:ea typeface="Cormorant Garamond" pitchFamily="18" charset="-122"/>
                <a:cs typeface="Cormorant Garamond" pitchFamily="18" charset="-120"/>
              </a:rPr>
              <a:t>O</a:t>
            </a:r>
            <a:endParaRPr lang="en-US" sz="3200" dirty="0"/>
          </a:p>
        </p:txBody>
      </p:sp>
      <p:sp>
        <p:nvSpPr>
          <p:cNvPr id="21" name="Text 16"/>
          <p:cNvSpPr/>
          <p:nvPr/>
        </p:nvSpPr>
        <p:spPr>
          <a:xfrm>
            <a:off x="5524500" y="473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Chap</a:t>
            </a:r>
            <a:r>
              <a:rPr lang="en-US" sz="2800" b="1" dirty="0">
                <a:solidFill>
                  <a:srgbClr val="A5824A"/>
                </a:solidFill>
                <a:latin typeface="Cormorant Garamond" pitchFamily="18" charset="0"/>
                <a:ea typeface="Cormorant Garamond" pitchFamily="18" charset="-122"/>
                <a:cs typeface="Cormorant Garamond" pitchFamily="18" charset="-120"/>
              </a:rPr>
              <a:t>eau</a:t>
            </a:r>
            <a:endParaRPr lang="en-US" sz="2800" dirty="0"/>
          </a:p>
        </p:txBody>
      </p:sp>
      <p:sp>
        <p:nvSpPr>
          <p:cNvPr id="22" name="Text 17"/>
          <p:cNvSpPr/>
          <p:nvPr/>
        </p:nvSpPr>
        <p:spPr>
          <a:xfrm>
            <a:off x="7429500" y="473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Drap</a:t>
            </a:r>
            <a:r>
              <a:rPr lang="en-US" sz="2800" b="1" dirty="0">
                <a:solidFill>
                  <a:srgbClr val="A5824A"/>
                </a:solidFill>
                <a:latin typeface="Cormorant Garamond" pitchFamily="18" charset="0"/>
                <a:ea typeface="Cormorant Garamond" pitchFamily="18" charset="-122"/>
                <a:cs typeface="Cormorant Garamond" pitchFamily="18" charset="-120"/>
              </a:rPr>
              <a:t>eau</a:t>
            </a:r>
            <a:endParaRPr lang="en-US" sz="2800" dirty="0"/>
          </a:p>
        </p:txBody>
      </p:sp>
      <p:sp>
        <p:nvSpPr>
          <p:cNvPr id="23" name="Text 18"/>
          <p:cNvSpPr/>
          <p:nvPr/>
        </p:nvSpPr>
        <p:spPr>
          <a:xfrm>
            <a:off x="9334500" y="4737100"/>
            <a:ext cx="196215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B</a:t>
            </a:r>
            <a:r>
              <a:rPr lang="en-US" sz="2800" b="1" dirty="0">
                <a:solidFill>
                  <a:srgbClr val="A5824A"/>
                </a:solidFill>
                <a:latin typeface="Cormorant Garamond" pitchFamily="18" charset="0"/>
                <a:ea typeface="Cormorant Garamond" pitchFamily="18" charset="-122"/>
                <a:cs typeface="Cormorant Garamond" pitchFamily="18" charset="-120"/>
              </a:rPr>
              <a:t>eau</a:t>
            </a:r>
            <a:r>
              <a:rPr lang="en-US" sz="2800" b="1" dirty="0">
                <a:solidFill>
                  <a:srgbClr val="12332B"/>
                </a:solidFill>
                <a:latin typeface="Cormorant Garamond" pitchFamily="18" charset="0"/>
                <a:ea typeface="Cormorant Garamond" pitchFamily="18" charset="-122"/>
                <a:cs typeface="Cormorant Garamond" pitchFamily="18" charset="-120"/>
              </a:rPr>
              <a:t>coup</a:t>
            </a:r>
            <a:endParaRPr lang="en-US" sz="2800" dirty="0"/>
          </a:p>
        </p:txBody>
      </p:sp>
      <p:sp>
        <p:nvSpPr>
          <p:cNvPr id="24" name="Text 1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5" name="Text 20"/>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02 · VOYELLES COMPOSÉES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LA COMBINAISON DES VOYELLES · O</a:t>
            </a:r>
            <a:endParaRPr lang="en-US" sz="1200" dirty="0"/>
          </a:p>
        </p:txBody>
      </p:sp>
      <p:sp>
        <p:nvSpPr>
          <p:cNvPr id="3" name="Text 1"/>
          <p:cNvSpPr/>
          <p:nvPr/>
        </p:nvSpPr>
        <p:spPr>
          <a:xfrm>
            <a:off x="9469374" y="698500"/>
            <a:ext cx="1909826"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1F6B55"/>
                </a:solidFill>
                <a:latin typeface="Cormorant Garamond" pitchFamily="18" charset="0"/>
                <a:ea typeface="Cormorant Garamond" pitchFamily="18" charset="-122"/>
                <a:cs typeface="Cormorant Garamond" pitchFamily="18" charset="-120"/>
              </a:rPr>
              <a:t>O</a:t>
            </a:r>
            <a:endParaRPr lang="en-US" sz="10000" dirty="0"/>
          </a:p>
        </p:txBody>
      </p:sp>
      <p:sp>
        <p:nvSpPr>
          <p:cNvPr id="4" name="Shape 2"/>
          <p:cNvSpPr/>
          <p:nvPr/>
        </p:nvSpPr>
        <p:spPr>
          <a:xfrm>
            <a:off x="815975" y="2098675"/>
            <a:ext cx="10560050" cy="1263650"/>
          </a:xfrm>
          <a:prstGeom prst="roundRect">
            <a:avLst>
              <a:gd name="adj" fmla="val 11809"/>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5" name="Text 3"/>
          <p:cNvSpPr/>
          <p:nvPr/>
        </p:nvSpPr>
        <p:spPr>
          <a:xfrm>
            <a:off x="1117600" y="2444750"/>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B55"/>
                </a:solidFill>
                <a:latin typeface="Cormorant Garamond" pitchFamily="18" charset="0"/>
                <a:ea typeface="Cormorant Garamond" pitchFamily="18" charset="-122"/>
                <a:cs typeface="Cormorant Garamond" pitchFamily="18" charset="-120"/>
              </a:rPr>
              <a:t>O + I</a:t>
            </a:r>
            <a:endParaRPr lang="en-US" sz="3600" dirty="0"/>
          </a:p>
        </p:txBody>
      </p:sp>
      <p:pic>
        <p:nvPicPr>
          <p:cNvPr id="6" name="Image 0" descr="arrow-right">    </p:cNvPr>
          <p:cNvPicPr>
            <a:picLocks noChangeAspect="1"/>
          </p:cNvPicPr>
          <p:nvPr/>
        </p:nvPicPr>
        <p:blipFill>
          <a:blip r:embed="rId1"/>
          <a:srcRect l="0" r="0" t="0" b="0"/>
          <a:stretch/>
        </p:blipFill>
        <p:spPr>
          <a:xfrm>
            <a:off x="3251200" y="2540000"/>
            <a:ext cx="609600" cy="304800"/>
          </a:xfrm>
          <a:prstGeom prst="rect">
            <a:avLst/>
          </a:prstGeom>
        </p:spPr>
      </p:pic>
      <p:sp>
        <p:nvSpPr>
          <p:cNvPr id="7" name="Text 4"/>
          <p:cNvSpPr/>
          <p:nvPr/>
        </p:nvSpPr>
        <p:spPr>
          <a:xfrm>
            <a:off x="4000500" y="2400300"/>
            <a:ext cx="1333500" cy="670520"/>
          </a:xfrm>
          <a:custGeom>
            <a:avLst/>
            <a:gdLst/>
            <a:ahLst/>
            <a:cxnLst/>
            <a:rect l="l" t="t" r="r" b="b"/>
            <a:pathLst>
              <a:path w="1333500" h="670520">
                <a:moveTo>
                  <a:pt x="335260" y="0"/>
                </a:moveTo>
                <a:lnTo>
                  <a:pt x="998240" y="0"/>
                </a:lnTo>
                <a:arcTo hR="335260" wR="335260" stAng="16200000" swAng="5400000"/>
                <a:lnTo>
                  <a:pt x="1333500" y="335260"/>
                </a:lnTo>
                <a:arcTo hR="335260" wR="335260" stAng="0" swAng="5400000"/>
                <a:lnTo>
                  <a:pt x="335260" y="670520"/>
                </a:lnTo>
                <a:arcTo hR="335260" wR="335260" stAng="5400000" swAng="5400000"/>
                <a:lnTo>
                  <a:pt x="0" y="335260"/>
                </a:lnTo>
                <a:arcTo hR="335260" wR="335260" stAng="10800000" swAng="5400000"/>
                <a:close/>
              </a:path>
            </a:pathLst>
          </a:custGeom>
          <a:solidFill>
            <a:srgbClr val="12332B"/>
          </a:solidFill>
          <a:ln/>
        </p:spPr>
        <p:txBody>
          <a:bodyPr wrap="square" lIns="76200" tIns="50800" rIns="76200" bIns="25400" rtlCol="0" anchor="t">
            <a:normAutofit/>
          </a:bodyPr>
          <a:lstStyle/>
          <a:p>
            <a:pPr algn="ctr" indent="0" marL="0">
              <a:lnSpc>
                <a:spcPts val="4480"/>
              </a:lnSpc>
              <a:buNone/>
            </a:pPr>
            <a:r>
              <a:rPr lang="en-US" sz="3200" b="1" dirty="0">
                <a:solidFill>
                  <a:srgbClr val="F3EEE2"/>
                </a:solidFill>
                <a:latin typeface="Cormorant Garamond" pitchFamily="18" charset="0"/>
                <a:ea typeface="Cormorant Garamond" pitchFamily="18" charset="-122"/>
                <a:cs typeface="Cormorant Garamond" pitchFamily="18" charset="-120"/>
              </a:rPr>
              <a:t>WA</a:t>
            </a:r>
            <a:endParaRPr lang="en-US" sz="3200" dirty="0"/>
          </a:p>
        </p:txBody>
      </p:sp>
      <p:sp>
        <p:nvSpPr>
          <p:cNvPr id="8" name="Text 5"/>
          <p:cNvSpPr/>
          <p:nvPr/>
        </p:nvSpPr>
        <p:spPr>
          <a:xfrm>
            <a:off x="5524500" y="25082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M</a:t>
            </a:r>
            <a:r>
              <a:rPr lang="en-US" sz="2800" b="1" dirty="0">
                <a:solidFill>
                  <a:srgbClr val="A5824A"/>
                </a:solidFill>
                <a:latin typeface="Cormorant Garamond" pitchFamily="18" charset="0"/>
                <a:ea typeface="Cormorant Garamond" pitchFamily="18" charset="-122"/>
                <a:cs typeface="Cormorant Garamond" pitchFamily="18" charset="-120"/>
              </a:rPr>
              <a:t>oi</a:t>
            </a:r>
            <a:endParaRPr lang="en-US" sz="2800" dirty="0"/>
          </a:p>
        </p:txBody>
      </p:sp>
      <p:sp>
        <p:nvSpPr>
          <p:cNvPr id="9" name="Text 6"/>
          <p:cNvSpPr/>
          <p:nvPr/>
        </p:nvSpPr>
        <p:spPr>
          <a:xfrm>
            <a:off x="6985000" y="25082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L</a:t>
            </a:r>
            <a:r>
              <a:rPr lang="en-US" sz="2800" b="1" dirty="0">
                <a:solidFill>
                  <a:srgbClr val="A5824A"/>
                </a:solidFill>
                <a:latin typeface="Cormorant Garamond" pitchFamily="18" charset="0"/>
                <a:ea typeface="Cormorant Garamond" pitchFamily="18" charset="-122"/>
                <a:cs typeface="Cormorant Garamond" pitchFamily="18" charset="-120"/>
              </a:rPr>
              <a:t>oi</a:t>
            </a:r>
            <a:endParaRPr lang="en-US" sz="2800" dirty="0"/>
          </a:p>
        </p:txBody>
      </p:sp>
      <p:sp>
        <p:nvSpPr>
          <p:cNvPr id="10" name="Text 7"/>
          <p:cNvSpPr/>
          <p:nvPr/>
        </p:nvSpPr>
        <p:spPr>
          <a:xfrm>
            <a:off x="8445500" y="25082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T</a:t>
            </a:r>
            <a:r>
              <a:rPr lang="en-US" sz="2800" b="1" dirty="0">
                <a:solidFill>
                  <a:srgbClr val="A5824A"/>
                </a:solidFill>
                <a:latin typeface="Cormorant Garamond" pitchFamily="18" charset="0"/>
                <a:ea typeface="Cormorant Garamond" pitchFamily="18" charset="-122"/>
                <a:cs typeface="Cormorant Garamond" pitchFamily="18" charset="-120"/>
              </a:rPr>
              <a:t>oi</a:t>
            </a:r>
            <a:endParaRPr lang="en-US" sz="2800" dirty="0"/>
          </a:p>
        </p:txBody>
      </p:sp>
      <p:sp>
        <p:nvSpPr>
          <p:cNvPr id="11" name="Text 8"/>
          <p:cNvSpPr/>
          <p:nvPr/>
        </p:nvSpPr>
        <p:spPr>
          <a:xfrm>
            <a:off x="9906000" y="25082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F</a:t>
            </a:r>
            <a:r>
              <a:rPr lang="en-US" sz="2800" b="1" dirty="0">
                <a:solidFill>
                  <a:srgbClr val="A5824A"/>
                </a:solidFill>
                <a:latin typeface="Cormorant Garamond" pitchFamily="18" charset="0"/>
                <a:ea typeface="Cormorant Garamond" pitchFamily="18" charset="-122"/>
                <a:cs typeface="Cormorant Garamond" pitchFamily="18" charset="-120"/>
              </a:rPr>
              <a:t>oi</a:t>
            </a:r>
            <a:r>
              <a:rPr lang="en-US" sz="2800" b="1" dirty="0">
                <a:solidFill>
                  <a:srgbClr val="12332B"/>
                </a:solidFill>
                <a:latin typeface="Cormorant Garamond" pitchFamily="18" charset="0"/>
                <a:ea typeface="Cormorant Garamond" pitchFamily="18" charset="-122"/>
                <a:cs typeface="Cormorant Garamond" pitchFamily="18" charset="-120"/>
              </a:rPr>
              <a:t>s</a:t>
            </a:r>
            <a:endParaRPr lang="en-US" sz="2800" dirty="0"/>
          </a:p>
        </p:txBody>
      </p:sp>
      <p:sp>
        <p:nvSpPr>
          <p:cNvPr id="12" name="Shape 9"/>
          <p:cNvSpPr/>
          <p:nvPr/>
        </p:nvSpPr>
        <p:spPr>
          <a:xfrm>
            <a:off x="815975" y="3686175"/>
            <a:ext cx="10560050" cy="1263650"/>
          </a:xfrm>
          <a:prstGeom prst="roundRect">
            <a:avLst>
              <a:gd name="adj" fmla="val 11809"/>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3" name="Text 10"/>
          <p:cNvSpPr/>
          <p:nvPr/>
        </p:nvSpPr>
        <p:spPr>
          <a:xfrm>
            <a:off x="1117600" y="4032250"/>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B55"/>
                </a:solidFill>
                <a:latin typeface="Cormorant Garamond" pitchFamily="18" charset="0"/>
                <a:ea typeface="Cormorant Garamond" pitchFamily="18" charset="-122"/>
                <a:cs typeface="Cormorant Garamond" pitchFamily="18" charset="-120"/>
              </a:rPr>
              <a:t>O + U</a:t>
            </a:r>
            <a:endParaRPr lang="en-US" sz="3600" dirty="0"/>
          </a:p>
        </p:txBody>
      </p:sp>
      <p:pic>
        <p:nvPicPr>
          <p:cNvPr id="14" name="Image 1" descr="arrow-right">    </p:cNvPr>
          <p:cNvPicPr>
            <a:picLocks noChangeAspect="1"/>
          </p:cNvPicPr>
          <p:nvPr/>
        </p:nvPicPr>
        <p:blipFill>
          <a:blip r:embed="rId2"/>
          <a:srcRect l="0" r="0" t="0" b="0"/>
          <a:stretch/>
        </p:blipFill>
        <p:spPr>
          <a:xfrm>
            <a:off x="3251200" y="4127500"/>
            <a:ext cx="609600" cy="304800"/>
          </a:xfrm>
          <a:prstGeom prst="rect">
            <a:avLst/>
          </a:prstGeom>
        </p:spPr>
      </p:pic>
      <p:sp>
        <p:nvSpPr>
          <p:cNvPr id="15" name="Text 11"/>
          <p:cNvSpPr/>
          <p:nvPr/>
        </p:nvSpPr>
        <p:spPr>
          <a:xfrm>
            <a:off x="4000500" y="3873500"/>
            <a:ext cx="1333500" cy="670520"/>
          </a:xfrm>
          <a:custGeom>
            <a:avLst/>
            <a:gdLst/>
            <a:ahLst/>
            <a:cxnLst/>
            <a:rect l="l" t="t" r="r" b="b"/>
            <a:pathLst>
              <a:path w="1333500" h="670520">
                <a:moveTo>
                  <a:pt x="335260" y="0"/>
                </a:moveTo>
                <a:lnTo>
                  <a:pt x="998240" y="0"/>
                </a:lnTo>
                <a:arcTo hR="335260" wR="335260" stAng="16200000" swAng="5400000"/>
                <a:lnTo>
                  <a:pt x="1333500" y="335260"/>
                </a:lnTo>
                <a:arcTo hR="335260" wR="335260" stAng="0" swAng="5400000"/>
                <a:lnTo>
                  <a:pt x="335260" y="670520"/>
                </a:lnTo>
                <a:arcTo hR="335260" wR="335260" stAng="5400000" swAng="5400000"/>
                <a:lnTo>
                  <a:pt x="0" y="335260"/>
                </a:lnTo>
                <a:arcTo hR="335260" wR="335260" stAng="10800000" swAng="5400000"/>
                <a:close/>
              </a:path>
            </a:pathLst>
          </a:custGeom>
          <a:solidFill>
            <a:srgbClr val="A5824A"/>
          </a:solidFill>
          <a:ln/>
        </p:spPr>
        <p:txBody>
          <a:bodyPr wrap="square" lIns="76200" tIns="50800" rIns="76200" bIns="25400" rtlCol="0" anchor="t">
            <a:normAutofit/>
          </a:bodyPr>
          <a:lstStyle/>
          <a:p>
            <a:pPr algn="ctr" indent="0" marL="0">
              <a:lnSpc>
                <a:spcPts val="4480"/>
              </a:lnSpc>
              <a:buNone/>
            </a:pPr>
            <a:r>
              <a:rPr lang="en-US" sz="3200" b="1" dirty="0">
                <a:solidFill>
                  <a:srgbClr val="12332B"/>
                </a:solidFill>
                <a:latin typeface="Cormorant Garamond" pitchFamily="18" charset="0"/>
                <a:ea typeface="Cormorant Garamond" pitchFamily="18" charset="-122"/>
                <a:cs typeface="Cormorant Garamond" pitchFamily="18" charset="-120"/>
              </a:rPr>
              <a:t>U</a:t>
            </a:r>
            <a:endParaRPr lang="en-US" sz="3200" dirty="0"/>
          </a:p>
        </p:txBody>
      </p:sp>
      <p:sp>
        <p:nvSpPr>
          <p:cNvPr id="16" name="Text 12"/>
          <p:cNvSpPr/>
          <p:nvPr/>
        </p:nvSpPr>
        <p:spPr>
          <a:xfrm>
            <a:off x="3975100" y="4572000"/>
            <a:ext cx="1384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castellana</a:t>
            </a:r>
            <a:endParaRPr lang="en-US" sz="1200" dirty="0"/>
          </a:p>
        </p:txBody>
      </p:sp>
      <p:sp>
        <p:nvSpPr>
          <p:cNvPr id="17" name="Text 13"/>
          <p:cNvSpPr/>
          <p:nvPr/>
        </p:nvSpPr>
        <p:spPr>
          <a:xfrm>
            <a:off x="5524500" y="40957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T</a:t>
            </a:r>
            <a:r>
              <a:rPr lang="en-US" sz="2800" b="1" dirty="0">
                <a:solidFill>
                  <a:srgbClr val="A5824A"/>
                </a:solidFill>
                <a:latin typeface="Cormorant Garamond" pitchFamily="18" charset="0"/>
                <a:ea typeface="Cormorant Garamond" pitchFamily="18" charset="-122"/>
                <a:cs typeface="Cormorant Garamond" pitchFamily="18" charset="-120"/>
              </a:rPr>
              <a:t>ou</a:t>
            </a:r>
            <a:r>
              <a:rPr lang="en-US" sz="2800" b="1" dirty="0">
                <a:solidFill>
                  <a:srgbClr val="12332B"/>
                </a:solidFill>
                <a:latin typeface="Cormorant Garamond" pitchFamily="18" charset="0"/>
                <a:ea typeface="Cormorant Garamond" pitchFamily="18" charset="-122"/>
                <a:cs typeface="Cormorant Garamond" pitchFamily="18" charset="-120"/>
              </a:rPr>
              <a:t>t</a:t>
            </a:r>
            <a:endParaRPr lang="en-US" sz="2800" dirty="0"/>
          </a:p>
        </p:txBody>
      </p:sp>
      <p:sp>
        <p:nvSpPr>
          <p:cNvPr id="18" name="Text 14"/>
          <p:cNvSpPr/>
          <p:nvPr/>
        </p:nvSpPr>
        <p:spPr>
          <a:xfrm>
            <a:off x="6985000" y="40957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T</a:t>
            </a:r>
            <a:r>
              <a:rPr lang="en-US" sz="2800" b="1" dirty="0">
                <a:solidFill>
                  <a:srgbClr val="A5824A"/>
                </a:solidFill>
                <a:latin typeface="Cormorant Garamond" pitchFamily="18" charset="0"/>
                <a:ea typeface="Cormorant Garamond" pitchFamily="18" charset="-122"/>
                <a:cs typeface="Cormorant Garamond" pitchFamily="18" charset="-120"/>
              </a:rPr>
              <a:t>ou</a:t>
            </a:r>
            <a:r>
              <a:rPr lang="en-US" sz="2800" b="1" dirty="0">
                <a:solidFill>
                  <a:srgbClr val="12332B"/>
                </a:solidFill>
                <a:latin typeface="Cormorant Garamond" pitchFamily="18" charset="0"/>
                <a:ea typeface="Cormorant Garamond" pitchFamily="18" charset="-122"/>
                <a:cs typeface="Cormorant Garamond" pitchFamily="18" charset="-120"/>
              </a:rPr>
              <a:t>s</a:t>
            </a:r>
            <a:endParaRPr lang="en-US" sz="2800" dirty="0"/>
          </a:p>
        </p:txBody>
      </p:sp>
      <p:sp>
        <p:nvSpPr>
          <p:cNvPr id="19" name="Text 15"/>
          <p:cNvSpPr/>
          <p:nvPr/>
        </p:nvSpPr>
        <p:spPr>
          <a:xfrm>
            <a:off x="8445500" y="40957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T</a:t>
            </a:r>
            <a:r>
              <a:rPr lang="en-US" sz="2800" b="1" dirty="0">
                <a:solidFill>
                  <a:srgbClr val="A5824A"/>
                </a:solidFill>
                <a:latin typeface="Cormorant Garamond" pitchFamily="18" charset="0"/>
                <a:ea typeface="Cormorant Garamond" pitchFamily="18" charset="-122"/>
                <a:cs typeface="Cormorant Garamond" pitchFamily="18" charset="-120"/>
              </a:rPr>
              <a:t>ou</a:t>
            </a:r>
            <a:r>
              <a:rPr lang="en-US" sz="2800" b="1" dirty="0">
                <a:solidFill>
                  <a:srgbClr val="12332B"/>
                </a:solidFill>
                <a:latin typeface="Cormorant Garamond" pitchFamily="18" charset="0"/>
                <a:ea typeface="Cormorant Garamond" pitchFamily="18" charset="-122"/>
                <a:cs typeface="Cormorant Garamond" pitchFamily="18" charset="-120"/>
              </a:rPr>
              <a:t>te</a:t>
            </a:r>
            <a:endParaRPr lang="en-US" sz="2800" dirty="0"/>
          </a:p>
        </p:txBody>
      </p:sp>
      <p:sp>
        <p:nvSpPr>
          <p:cNvPr id="20" name="Text 16"/>
          <p:cNvSpPr/>
          <p:nvPr/>
        </p:nvSpPr>
        <p:spPr>
          <a:xfrm>
            <a:off x="9906000" y="4095750"/>
            <a:ext cx="15113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T</a:t>
            </a:r>
            <a:r>
              <a:rPr lang="en-US" sz="2800" b="1" dirty="0">
                <a:solidFill>
                  <a:srgbClr val="A5824A"/>
                </a:solidFill>
                <a:latin typeface="Cormorant Garamond" pitchFamily="18" charset="0"/>
                <a:ea typeface="Cormorant Garamond" pitchFamily="18" charset="-122"/>
                <a:cs typeface="Cormorant Garamond" pitchFamily="18" charset="-120"/>
              </a:rPr>
              <a:t>ou</a:t>
            </a:r>
            <a:r>
              <a:rPr lang="en-US" sz="2800" b="1" dirty="0">
                <a:solidFill>
                  <a:srgbClr val="12332B"/>
                </a:solidFill>
                <a:latin typeface="Cormorant Garamond" pitchFamily="18" charset="0"/>
                <a:ea typeface="Cormorant Garamond" pitchFamily="18" charset="-122"/>
                <a:cs typeface="Cormorant Garamond" pitchFamily="18" charset="-120"/>
              </a:rPr>
              <a:t>tes</a:t>
            </a:r>
            <a:endParaRPr lang="en-US" sz="2800" dirty="0"/>
          </a:p>
        </p:txBody>
      </p:sp>
      <p:sp>
        <p:nvSpPr>
          <p:cNvPr id="21" name="Text 17"/>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2" name="Text 18"/>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02 · VOYELLES COMPOSÉES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PAIRES MINIMALES · U ≠ OU</a:t>
            </a:r>
            <a:endParaRPr lang="en-US" sz="1200" dirty="0"/>
          </a:p>
        </p:txBody>
      </p:sp>
      <p:sp>
        <p:nvSpPr>
          <p:cNvPr id="3" name="Text 1"/>
          <p:cNvSpPr/>
          <p:nvPr>
            <p:ph type="title"/>
          </p:nvPr>
        </p:nvSpPr>
        <p:spPr>
          <a:xfrm>
            <a:off x="812800" y="10795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2332B"/>
                </a:solidFill>
                <a:latin typeface="Cormorant Garamond" pitchFamily="18" charset="0"/>
                <a:ea typeface="Cormorant Garamond" pitchFamily="18" charset="-122"/>
                <a:cs typeface="Cormorant Garamond" pitchFamily="18" charset="-120"/>
              </a:rPr>
              <a:t>Un son de différence</a:t>
            </a:r>
            <a:endParaRPr lang="en-US" sz="4400" dirty="0"/>
          </a:p>
        </p:txBody>
      </p:sp>
      <p:sp>
        <p:nvSpPr>
          <p:cNvPr id="4" name="Text 2"/>
          <p:cNvSpPr/>
          <p:nvPr/>
        </p:nvSpPr>
        <p:spPr>
          <a:xfrm>
            <a:off x="713740" y="1905000"/>
            <a:ext cx="340106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A5824A"/>
                </a:solidFill>
                <a:latin typeface="Space Mono" pitchFamily="49" charset="0"/>
                <a:ea typeface="Space Mono" pitchFamily="49" charset="-122"/>
                <a:cs typeface="Space Mono" pitchFamily="49" charset="-120"/>
              </a:rPr>
              <a:t>[y] · U</a:t>
            </a:r>
            <a:endParaRPr lang="en-US" sz="1400" dirty="0"/>
          </a:p>
        </p:txBody>
      </p:sp>
      <p:sp>
        <p:nvSpPr>
          <p:cNvPr id="5" name="Text 3"/>
          <p:cNvSpPr/>
          <p:nvPr/>
        </p:nvSpPr>
        <p:spPr>
          <a:xfrm>
            <a:off x="4876800" y="1905000"/>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6B55"/>
                </a:solidFill>
                <a:latin typeface="Space Mono" pitchFamily="49" charset="0"/>
                <a:ea typeface="Space Mono" pitchFamily="49" charset="-122"/>
                <a:cs typeface="Space Mono" pitchFamily="49" charset="-120"/>
              </a:rPr>
              <a:t>[u] · OU</a:t>
            </a:r>
            <a:endParaRPr lang="en-US" sz="1400" dirty="0"/>
          </a:p>
        </p:txBody>
      </p:sp>
      <p:sp>
        <p:nvSpPr>
          <p:cNvPr id="6" name="Shape 4"/>
          <p:cNvSpPr/>
          <p:nvPr/>
        </p:nvSpPr>
        <p:spPr>
          <a:xfrm>
            <a:off x="812800" y="2289175"/>
            <a:ext cx="10566400" cy="0"/>
          </a:xfrm>
          <a:prstGeom prst="line">
            <a:avLst/>
          </a:prstGeom>
          <a:noFill/>
          <a:ln w="6350">
            <a:solidFill>
              <a:srgbClr val="C9DCD1"/>
            </a:solidFill>
            <a:prstDash val="solid"/>
          </a:ln>
        </p:spPr>
      </p:sp>
      <p:sp>
        <p:nvSpPr>
          <p:cNvPr id="7" name="Text 5"/>
          <p:cNvSpPr/>
          <p:nvPr/>
        </p:nvSpPr>
        <p:spPr>
          <a:xfrm>
            <a:off x="713740" y="2393950"/>
            <a:ext cx="3401060" cy="528241"/>
          </a:xfrm>
          <a:prstGeom prst="rect">
            <a:avLst/>
          </a:prstGeom>
          <a:noFill/>
          <a:ln/>
        </p:spPr>
        <p:txBody>
          <a:bodyPr wrap="square" lIns="0" tIns="0" rIns="0" bIns="0" rtlCol="0" anchor="t">
            <a:normAutofit/>
          </a:bodyPr>
          <a:lstStyle/>
          <a:p>
            <a:pPr algn="r"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t</a:t>
            </a:r>
            <a:r>
              <a:rPr lang="en-US" sz="3600" b="1" dirty="0">
                <a:solidFill>
                  <a:srgbClr val="A5824A"/>
                </a:solidFill>
                <a:latin typeface="Cormorant Garamond" pitchFamily="18" charset="0"/>
                <a:ea typeface="Cormorant Garamond" pitchFamily="18" charset="-122"/>
                <a:cs typeface="Cormorant Garamond" pitchFamily="18" charset="-120"/>
              </a:rPr>
              <a:t>u</a:t>
            </a:r>
            <a:endParaRPr lang="en-US" sz="3600" dirty="0"/>
          </a:p>
        </p:txBody>
      </p:sp>
      <p:sp>
        <p:nvSpPr>
          <p:cNvPr id="8" name="Text 6"/>
          <p:cNvSpPr/>
          <p:nvPr/>
        </p:nvSpPr>
        <p:spPr>
          <a:xfrm>
            <a:off x="4089400" y="2396430"/>
            <a:ext cx="812800" cy="523180"/>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A5824A"/>
                </a:solidFill>
                <a:latin typeface="Cormorant Garamond" pitchFamily="18" charset="0"/>
                <a:ea typeface="Cormorant Garamond" pitchFamily="18" charset="-122"/>
                <a:cs typeface="Cormorant Garamond" pitchFamily="18" charset="-120"/>
              </a:rPr>
              <a:t>≠</a:t>
            </a:r>
            <a:endParaRPr lang="en-US" sz="2800" dirty="0"/>
          </a:p>
        </p:txBody>
      </p:sp>
      <p:sp>
        <p:nvSpPr>
          <p:cNvPr id="9" name="Text 7"/>
          <p:cNvSpPr/>
          <p:nvPr/>
        </p:nvSpPr>
        <p:spPr>
          <a:xfrm>
            <a:off x="4876800" y="2393950"/>
            <a:ext cx="34010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t</a:t>
            </a:r>
            <a:r>
              <a:rPr lang="en-US" sz="3600" b="1" dirty="0">
                <a:solidFill>
                  <a:srgbClr val="1F6B55"/>
                </a:solidFill>
                <a:latin typeface="Cormorant Garamond" pitchFamily="18" charset="0"/>
                <a:ea typeface="Cormorant Garamond" pitchFamily="18" charset="-122"/>
                <a:cs typeface="Cormorant Garamond" pitchFamily="18" charset="-120"/>
              </a:rPr>
              <a:t>ou</a:t>
            </a:r>
            <a:r>
              <a:rPr lang="en-US" sz="3600" b="1" dirty="0">
                <a:solidFill>
                  <a:srgbClr val="12332B"/>
                </a:solidFill>
                <a:latin typeface="Cormorant Garamond" pitchFamily="18" charset="0"/>
                <a:ea typeface="Cormorant Garamond" pitchFamily="18" charset="-122"/>
                <a:cs typeface="Cormorant Garamond" pitchFamily="18" charset="-120"/>
              </a:rPr>
              <a:t>t</a:t>
            </a:r>
            <a:endParaRPr lang="en-US" sz="3600" dirty="0"/>
          </a:p>
        </p:txBody>
      </p:sp>
      <p:sp>
        <p:nvSpPr>
          <p:cNvPr id="10" name="Text 8"/>
          <p:cNvSpPr/>
          <p:nvPr/>
        </p:nvSpPr>
        <p:spPr>
          <a:xfrm>
            <a:off x="8178800" y="2520950"/>
            <a:ext cx="329641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tú · todo</a:t>
            </a:r>
            <a:endParaRPr lang="en-US" sz="1400" dirty="0"/>
          </a:p>
        </p:txBody>
      </p:sp>
      <p:sp>
        <p:nvSpPr>
          <p:cNvPr id="11" name="Shape 9"/>
          <p:cNvSpPr/>
          <p:nvPr/>
        </p:nvSpPr>
        <p:spPr>
          <a:xfrm>
            <a:off x="812800" y="3114675"/>
            <a:ext cx="10566400" cy="0"/>
          </a:xfrm>
          <a:prstGeom prst="line">
            <a:avLst/>
          </a:prstGeom>
          <a:noFill/>
          <a:ln w="6350">
            <a:solidFill>
              <a:srgbClr val="C9DCD1"/>
            </a:solidFill>
            <a:prstDash val="solid"/>
          </a:ln>
        </p:spPr>
      </p:sp>
      <p:sp>
        <p:nvSpPr>
          <p:cNvPr id="12" name="Text 10"/>
          <p:cNvSpPr/>
          <p:nvPr/>
        </p:nvSpPr>
        <p:spPr>
          <a:xfrm>
            <a:off x="713740" y="3219450"/>
            <a:ext cx="3401060" cy="528241"/>
          </a:xfrm>
          <a:prstGeom prst="rect">
            <a:avLst/>
          </a:prstGeom>
          <a:noFill/>
          <a:ln/>
        </p:spPr>
        <p:txBody>
          <a:bodyPr wrap="square" lIns="0" tIns="0" rIns="0" bIns="0" rtlCol="0" anchor="t">
            <a:normAutofit/>
          </a:bodyPr>
          <a:lstStyle/>
          <a:p>
            <a:pPr algn="r"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v</a:t>
            </a:r>
            <a:r>
              <a:rPr lang="en-US" sz="3600" b="1" dirty="0">
                <a:solidFill>
                  <a:srgbClr val="A5824A"/>
                </a:solidFill>
                <a:latin typeface="Cormorant Garamond" pitchFamily="18" charset="0"/>
                <a:ea typeface="Cormorant Garamond" pitchFamily="18" charset="-122"/>
                <a:cs typeface="Cormorant Garamond" pitchFamily="18" charset="-120"/>
              </a:rPr>
              <a:t>u</a:t>
            </a:r>
            <a:endParaRPr lang="en-US" sz="3600" dirty="0"/>
          </a:p>
        </p:txBody>
      </p:sp>
      <p:sp>
        <p:nvSpPr>
          <p:cNvPr id="13" name="Text 11"/>
          <p:cNvSpPr/>
          <p:nvPr/>
        </p:nvSpPr>
        <p:spPr>
          <a:xfrm>
            <a:off x="4089400" y="3221930"/>
            <a:ext cx="812800" cy="523180"/>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A5824A"/>
                </a:solidFill>
                <a:latin typeface="Cormorant Garamond" pitchFamily="18" charset="0"/>
                <a:ea typeface="Cormorant Garamond" pitchFamily="18" charset="-122"/>
                <a:cs typeface="Cormorant Garamond" pitchFamily="18" charset="-120"/>
              </a:rPr>
              <a:t>≠</a:t>
            </a:r>
            <a:endParaRPr lang="en-US" sz="2800" dirty="0"/>
          </a:p>
        </p:txBody>
      </p:sp>
      <p:sp>
        <p:nvSpPr>
          <p:cNvPr id="14" name="Text 12"/>
          <p:cNvSpPr/>
          <p:nvPr/>
        </p:nvSpPr>
        <p:spPr>
          <a:xfrm>
            <a:off x="4876800" y="3219450"/>
            <a:ext cx="34010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v</a:t>
            </a:r>
            <a:r>
              <a:rPr lang="en-US" sz="3600" b="1" dirty="0">
                <a:solidFill>
                  <a:srgbClr val="1F6B55"/>
                </a:solidFill>
                <a:latin typeface="Cormorant Garamond" pitchFamily="18" charset="0"/>
                <a:ea typeface="Cormorant Garamond" pitchFamily="18" charset="-122"/>
                <a:cs typeface="Cormorant Garamond" pitchFamily="18" charset="-120"/>
              </a:rPr>
              <a:t>ou</a:t>
            </a:r>
            <a:r>
              <a:rPr lang="en-US" sz="3600" b="1" dirty="0">
                <a:solidFill>
                  <a:srgbClr val="12332B"/>
                </a:solidFill>
                <a:latin typeface="Cormorant Garamond" pitchFamily="18" charset="0"/>
                <a:ea typeface="Cormorant Garamond" pitchFamily="18" charset="-122"/>
                <a:cs typeface="Cormorant Garamond" pitchFamily="18" charset="-120"/>
              </a:rPr>
              <a:t>s</a:t>
            </a:r>
            <a:endParaRPr lang="en-US" sz="3600" dirty="0"/>
          </a:p>
        </p:txBody>
      </p:sp>
      <p:sp>
        <p:nvSpPr>
          <p:cNvPr id="15" name="Text 13"/>
          <p:cNvSpPr/>
          <p:nvPr/>
        </p:nvSpPr>
        <p:spPr>
          <a:xfrm>
            <a:off x="8178800" y="3346450"/>
            <a:ext cx="329641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visto · ustedes</a:t>
            </a:r>
            <a:endParaRPr lang="en-US" sz="1400" dirty="0"/>
          </a:p>
        </p:txBody>
      </p:sp>
      <p:sp>
        <p:nvSpPr>
          <p:cNvPr id="16" name="Shape 14"/>
          <p:cNvSpPr/>
          <p:nvPr/>
        </p:nvSpPr>
        <p:spPr>
          <a:xfrm>
            <a:off x="812800" y="3940175"/>
            <a:ext cx="10566400" cy="0"/>
          </a:xfrm>
          <a:prstGeom prst="line">
            <a:avLst/>
          </a:prstGeom>
          <a:noFill/>
          <a:ln w="6350">
            <a:solidFill>
              <a:srgbClr val="C9DCD1"/>
            </a:solidFill>
            <a:prstDash val="solid"/>
          </a:ln>
        </p:spPr>
      </p:sp>
      <p:sp>
        <p:nvSpPr>
          <p:cNvPr id="17" name="Text 15"/>
          <p:cNvSpPr/>
          <p:nvPr/>
        </p:nvSpPr>
        <p:spPr>
          <a:xfrm>
            <a:off x="713740" y="4044950"/>
            <a:ext cx="3401060" cy="528241"/>
          </a:xfrm>
          <a:prstGeom prst="rect">
            <a:avLst/>
          </a:prstGeom>
          <a:noFill/>
          <a:ln/>
        </p:spPr>
        <p:txBody>
          <a:bodyPr wrap="square" lIns="0" tIns="0" rIns="0" bIns="0" rtlCol="0" anchor="t">
            <a:normAutofit/>
          </a:bodyPr>
          <a:lstStyle/>
          <a:p>
            <a:pPr algn="r"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r</a:t>
            </a:r>
            <a:r>
              <a:rPr lang="en-US" sz="3600" b="1" dirty="0">
                <a:solidFill>
                  <a:srgbClr val="A5824A"/>
                </a:solidFill>
                <a:latin typeface="Cormorant Garamond" pitchFamily="18" charset="0"/>
                <a:ea typeface="Cormorant Garamond" pitchFamily="18" charset="-122"/>
                <a:cs typeface="Cormorant Garamond" pitchFamily="18" charset="-120"/>
              </a:rPr>
              <a:t>u</a:t>
            </a:r>
            <a:r>
              <a:rPr lang="en-US" sz="3600" b="1" dirty="0">
                <a:solidFill>
                  <a:srgbClr val="12332B"/>
                </a:solidFill>
                <a:latin typeface="Cormorant Garamond" pitchFamily="18" charset="0"/>
                <a:ea typeface="Cormorant Garamond" pitchFamily="18" charset="-122"/>
                <a:cs typeface="Cormorant Garamond" pitchFamily="18" charset="-120"/>
              </a:rPr>
              <a:t>e</a:t>
            </a:r>
            <a:endParaRPr lang="en-US" sz="3600" dirty="0"/>
          </a:p>
        </p:txBody>
      </p:sp>
      <p:sp>
        <p:nvSpPr>
          <p:cNvPr id="18" name="Text 16"/>
          <p:cNvSpPr/>
          <p:nvPr/>
        </p:nvSpPr>
        <p:spPr>
          <a:xfrm>
            <a:off x="4089400" y="4047430"/>
            <a:ext cx="812800" cy="523180"/>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A5824A"/>
                </a:solidFill>
                <a:latin typeface="Cormorant Garamond" pitchFamily="18" charset="0"/>
                <a:ea typeface="Cormorant Garamond" pitchFamily="18" charset="-122"/>
                <a:cs typeface="Cormorant Garamond" pitchFamily="18" charset="-120"/>
              </a:rPr>
              <a:t>≠</a:t>
            </a:r>
            <a:endParaRPr lang="en-US" sz="2800" dirty="0"/>
          </a:p>
        </p:txBody>
      </p:sp>
      <p:sp>
        <p:nvSpPr>
          <p:cNvPr id="19" name="Text 17"/>
          <p:cNvSpPr/>
          <p:nvPr/>
        </p:nvSpPr>
        <p:spPr>
          <a:xfrm>
            <a:off x="4876800" y="4044950"/>
            <a:ext cx="34010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r</a:t>
            </a:r>
            <a:r>
              <a:rPr lang="en-US" sz="3600" b="1" dirty="0">
                <a:solidFill>
                  <a:srgbClr val="1F6B55"/>
                </a:solidFill>
                <a:latin typeface="Cormorant Garamond" pitchFamily="18" charset="0"/>
                <a:ea typeface="Cormorant Garamond" pitchFamily="18" charset="-122"/>
                <a:cs typeface="Cormorant Garamond" pitchFamily="18" charset="-120"/>
              </a:rPr>
              <a:t>ou</a:t>
            </a:r>
            <a:r>
              <a:rPr lang="en-US" sz="3600" b="1" dirty="0">
                <a:solidFill>
                  <a:srgbClr val="12332B"/>
                </a:solidFill>
                <a:latin typeface="Cormorant Garamond" pitchFamily="18" charset="0"/>
                <a:ea typeface="Cormorant Garamond" pitchFamily="18" charset="-122"/>
                <a:cs typeface="Cormorant Garamond" pitchFamily="18" charset="-120"/>
              </a:rPr>
              <a:t>e</a:t>
            </a:r>
            <a:endParaRPr lang="en-US" sz="3600" dirty="0"/>
          </a:p>
        </p:txBody>
      </p:sp>
      <p:sp>
        <p:nvSpPr>
          <p:cNvPr id="20" name="Text 18"/>
          <p:cNvSpPr/>
          <p:nvPr/>
        </p:nvSpPr>
        <p:spPr>
          <a:xfrm>
            <a:off x="8178800" y="4171950"/>
            <a:ext cx="329641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calle · rueda</a:t>
            </a:r>
            <a:endParaRPr lang="en-US" sz="1400" dirty="0"/>
          </a:p>
        </p:txBody>
      </p:sp>
      <p:sp>
        <p:nvSpPr>
          <p:cNvPr id="21" name="Shape 19"/>
          <p:cNvSpPr/>
          <p:nvPr/>
        </p:nvSpPr>
        <p:spPr>
          <a:xfrm>
            <a:off x="812800" y="4765675"/>
            <a:ext cx="10566400" cy="0"/>
          </a:xfrm>
          <a:prstGeom prst="line">
            <a:avLst/>
          </a:prstGeom>
          <a:noFill/>
          <a:ln w="6350">
            <a:solidFill>
              <a:srgbClr val="C9DCD1"/>
            </a:solidFill>
            <a:prstDash val="solid"/>
          </a:ln>
        </p:spPr>
      </p:sp>
      <p:sp>
        <p:nvSpPr>
          <p:cNvPr id="22" name="Shape 20"/>
          <p:cNvSpPr/>
          <p:nvPr/>
        </p:nvSpPr>
        <p:spPr>
          <a:xfrm>
            <a:off x="812800" y="5478066"/>
            <a:ext cx="10566400" cy="0"/>
          </a:xfrm>
          <a:prstGeom prst="line">
            <a:avLst/>
          </a:prstGeom>
          <a:noFill/>
          <a:ln w="6350">
            <a:solidFill>
              <a:srgbClr val="C9DCD1"/>
            </a:solidFill>
            <a:prstDash val="solid"/>
          </a:ln>
        </p:spPr>
      </p:sp>
      <p:sp>
        <p:nvSpPr>
          <p:cNvPr id="23" name="Text 21"/>
          <p:cNvSpPr/>
          <p:nvPr/>
        </p:nvSpPr>
        <p:spPr>
          <a:xfrm>
            <a:off x="713740" y="4870450"/>
            <a:ext cx="3401060" cy="528241"/>
          </a:xfrm>
          <a:prstGeom prst="rect">
            <a:avLst/>
          </a:prstGeom>
          <a:noFill/>
          <a:ln/>
        </p:spPr>
        <p:txBody>
          <a:bodyPr wrap="square" lIns="0" tIns="0" rIns="0" bIns="0" rtlCol="0" anchor="t">
            <a:normAutofit/>
          </a:bodyPr>
          <a:lstStyle/>
          <a:p>
            <a:pPr algn="r"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dess</a:t>
            </a:r>
            <a:r>
              <a:rPr lang="en-US" sz="3600" b="1" dirty="0">
                <a:solidFill>
                  <a:srgbClr val="A5824A"/>
                </a:solidFill>
                <a:latin typeface="Cormorant Garamond" pitchFamily="18" charset="0"/>
                <a:ea typeface="Cormorant Garamond" pitchFamily="18" charset="-122"/>
                <a:cs typeface="Cormorant Garamond" pitchFamily="18" charset="-120"/>
              </a:rPr>
              <a:t>u</a:t>
            </a:r>
            <a:r>
              <a:rPr lang="en-US" sz="3600" b="1" dirty="0">
                <a:solidFill>
                  <a:srgbClr val="12332B"/>
                </a:solidFill>
                <a:latin typeface="Cormorant Garamond" pitchFamily="18" charset="0"/>
                <a:ea typeface="Cormorant Garamond" pitchFamily="18" charset="-122"/>
                <a:cs typeface="Cormorant Garamond" pitchFamily="18" charset="-120"/>
              </a:rPr>
              <a:t>s</a:t>
            </a:r>
            <a:endParaRPr lang="en-US" sz="3600" dirty="0"/>
          </a:p>
        </p:txBody>
      </p:sp>
      <p:sp>
        <p:nvSpPr>
          <p:cNvPr id="24" name="Text 22"/>
          <p:cNvSpPr/>
          <p:nvPr/>
        </p:nvSpPr>
        <p:spPr>
          <a:xfrm>
            <a:off x="4089400" y="4872930"/>
            <a:ext cx="812800" cy="523180"/>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A5824A"/>
                </a:solidFill>
                <a:latin typeface="Cormorant Garamond" pitchFamily="18" charset="0"/>
                <a:ea typeface="Cormorant Garamond" pitchFamily="18" charset="-122"/>
                <a:cs typeface="Cormorant Garamond" pitchFamily="18" charset="-120"/>
              </a:rPr>
              <a:t>≠</a:t>
            </a:r>
            <a:endParaRPr lang="en-US" sz="2800" dirty="0"/>
          </a:p>
        </p:txBody>
      </p:sp>
      <p:sp>
        <p:nvSpPr>
          <p:cNvPr id="25" name="Text 23"/>
          <p:cNvSpPr/>
          <p:nvPr/>
        </p:nvSpPr>
        <p:spPr>
          <a:xfrm>
            <a:off x="4876800" y="4870450"/>
            <a:ext cx="34010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332B"/>
                </a:solidFill>
                <a:latin typeface="Cormorant Garamond" pitchFamily="18" charset="0"/>
                <a:ea typeface="Cormorant Garamond" pitchFamily="18" charset="-122"/>
                <a:cs typeface="Cormorant Garamond" pitchFamily="18" charset="-120"/>
              </a:rPr>
              <a:t>dess</a:t>
            </a:r>
            <a:r>
              <a:rPr lang="en-US" sz="3600" b="1" dirty="0">
                <a:solidFill>
                  <a:srgbClr val="1F6B55"/>
                </a:solidFill>
                <a:latin typeface="Cormorant Garamond" pitchFamily="18" charset="0"/>
                <a:ea typeface="Cormorant Garamond" pitchFamily="18" charset="-122"/>
                <a:cs typeface="Cormorant Garamond" pitchFamily="18" charset="-120"/>
              </a:rPr>
              <a:t>ou</a:t>
            </a:r>
            <a:r>
              <a:rPr lang="en-US" sz="3600" b="1" dirty="0">
                <a:solidFill>
                  <a:srgbClr val="12332B"/>
                </a:solidFill>
                <a:latin typeface="Cormorant Garamond" pitchFamily="18" charset="0"/>
                <a:ea typeface="Cormorant Garamond" pitchFamily="18" charset="-122"/>
                <a:cs typeface="Cormorant Garamond" pitchFamily="18" charset="-120"/>
              </a:rPr>
              <a:t>s</a:t>
            </a:r>
            <a:endParaRPr lang="en-US" sz="3600" dirty="0"/>
          </a:p>
        </p:txBody>
      </p:sp>
      <p:sp>
        <p:nvSpPr>
          <p:cNvPr id="26" name="Text 24"/>
          <p:cNvSpPr/>
          <p:nvPr/>
        </p:nvSpPr>
        <p:spPr>
          <a:xfrm>
            <a:off x="8178800" y="4997450"/>
            <a:ext cx="329641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encima · debajo</a:t>
            </a:r>
            <a:endParaRPr lang="en-US" sz="1400" dirty="0"/>
          </a:p>
        </p:txBody>
      </p:sp>
      <p:sp>
        <p:nvSpPr>
          <p:cNvPr id="27" name="Text 2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28" name="Text 26"/>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02 · VOYELLES COMPOSÉES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RÉCAPITULONS</a:t>
            </a:r>
            <a:endParaRPr lang="en-US" sz="1200" dirty="0"/>
          </a:p>
        </p:txBody>
      </p:sp>
      <p:sp>
        <p:nvSpPr>
          <p:cNvPr id="3" name="Text 1"/>
          <p:cNvSpPr/>
          <p:nvPr>
            <p:ph type="title"/>
          </p:nvPr>
        </p:nvSpPr>
        <p:spPr>
          <a:xfrm>
            <a:off x="812800" y="10795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2332B"/>
                </a:solidFill>
                <a:latin typeface="Cormorant Garamond" pitchFamily="18" charset="0"/>
                <a:ea typeface="Cormorant Garamond" pitchFamily="18" charset="-122"/>
                <a:cs typeface="Cormorant Garamond" pitchFamily="18" charset="-120"/>
              </a:rPr>
              <a:t>Toutes les combinaisons</a:t>
            </a:r>
            <a:endParaRPr lang="en-US" sz="4400" dirty="0"/>
          </a:p>
        </p:txBody>
      </p:sp>
      <p:sp>
        <p:nvSpPr>
          <p:cNvPr id="4" name="Shape 2"/>
          <p:cNvSpPr/>
          <p:nvPr/>
        </p:nvSpPr>
        <p:spPr>
          <a:xfrm>
            <a:off x="815975" y="2035175"/>
            <a:ext cx="3295650" cy="3422650"/>
          </a:xfrm>
          <a:prstGeom prst="roundRect">
            <a:avLst>
              <a:gd name="adj" fmla="val 4528"/>
            </a:avLst>
          </a:prstGeom>
          <a:solidFill>
            <a:srgbClr val="FBFDF9"/>
          </a:solidFill>
          <a:ln w="6350">
            <a:solidFill>
              <a:srgbClr val="D5E5DB"/>
            </a:solidFill>
            <a:prstDash val="solid"/>
          </a:ln>
        </p:spPr>
      </p:sp>
      <p:sp>
        <p:nvSpPr>
          <p:cNvPr id="5" name="Shape 3"/>
          <p:cNvSpPr/>
          <p:nvPr/>
        </p:nvSpPr>
        <p:spPr>
          <a:xfrm>
            <a:off x="4448175" y="2035175"/>
            <a:ext cx="3295650" cy="3422650"/>
          </a:xfrm>
          <a:prstGeom prst="roundRect">
            <a:avLst>
              <a:gd name="adj" fmla="val 4528"/>
            </a:avLst>
          </a:prstGeom>
          <a:solidFill>
            <a:srgbClr val="FBFDF9"/>
          </a:solidFill>
          <a:ln w="6350">
            <a:solidFill>
              <a:srgbClr val="D5E5DB"/>
            </a:solidFill>
            <a:prstDash val="solid"/>
          </a:ln>
        </p:spPr>
      </p:sp>
      <p:sp>
        <p:nvSpPr>
          <p:cNvPr id="6" name="Shape 4"/>
          <p:cNvSpPr/>
          <p:nvPr/>
        </p:nvSpPr>
        <p:spPr>
          <a:xfrm>
            <a:off x="8077200" y="2032000"/>
            <a:ext cx="3302000" cy="3429000"/>
          </a:xfrm>
          <a:prstGeom prst="roundRect">
            <a:avLst>
              <a:gd name="adj" fmla="val 4615"/>
            </a:avLst>
          </a:prstGeom>
          <a:solidFill>
            <a:srgbClr val="12332B"/>
          </a:solidFill>
          <a:ln/>
        </p:spPr>
      </p:sp>
      <p:sp>
        <p:nvSpPr>
          <p:cNvPr id="7" name="Text 5"/>
          <p:cNvSpPr/>
          <p:nvPr/>
        </p:nvSpPr>
        <p:spPr>
          <a:xfrm>
            <a:off x="763270" y="2159000"/>
            <a:ext cx="3401060"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1F6B55"/>
                </a:solidFill>
                <a:latin typeface="Cormorant Garamond" pitchFamily="18" charset="0"/>
                <a:ea typeface="Cormorant Garamond" pitchFamily="18" charset="-122"/>
                <a:cs typeface="Cormorant Garamond" pitchFamily="18" charset="-120"/>
              </a:rPr>
              <a:t>A</a:t>
            </a:r>
            <a:endParaRPr lang="en-US" sz="9000" dirty="0"/>
          </a:p>
        </p:txBody>
      </p:sp>
      <p:sp>
        <p:nvSpPr>
          <p:cNvPr id="8" name="Text 6"/>
          <p:cNvSpPr/>
          <p:nvPr/>
        </p:nvSpPr>
        <p:spPr>
          <a:xfrm>
            <a:off x="1117600" y="3556000"/>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A + I = </a:t>
            </a:r>
            <a:r>
              <a:rPr lang="en-US" sz="2800" b="1" dirty="0">
                <a:solidFill>
                  <a:srgbClr val="A5824A"/>
                </a:solidFill>
                <a:latin typeface="Cormorant Garamond" pitchFamily="18" charset="0"/>
                <a:ea typeface="Cormorant Garamond" pitchFamily="18" charset="-122"/>
                <a:cs typeface="Cormorant Garamond" pitchFamily="18" charset="-120"/>
              </a:rPr>
              <a:t>E</a:t>
            </a:r>
            <a:endParaRPr lang="en-US" sz="2800" dirty="0"/>
          </a:p>
        </p:txBody>
      </p:sp>
      <p:sp>
        <p:nvSpPr>
          <p:cNvPr id="9" name="Text 7"/>
          <p:cNvSpPr/>
          <p:nvPr/>
        </p:nvSpPr>
        <p:spPr>
          <a:xfrm>
            <a:off x="1117600" y="4127500"/>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A + U = </a:t>
            </a:r>
            <a:r>
              <a:rPr lang="en-US" sz="2800" b="1" dirty="0">
                <a:solidFill>
                  <a:srgbClr val="A5824A"/>
                </a:solidFill>
                <a:latin typeface="Cormorant Garamond" pitchFamily="18" charset="0"/>
                <a:ea typeface="Cormorant Garamond" pitchFamily="18" charset="-122"/>
                <a:cs typeface="Cormorant Garamond" pitchFamily="18" charset="-120"/>
              </a:rPr>
              <a:t>O</a:t>
            </a:r>
            <a:endParaRPr lang="en-US" sz="2800" dirty="0"/>
          </a:p>
        </p:txBody>
      </p:sp>
      <p:sp>
        <p:nvSpPr>
          <p:cNvPr id="10" name="Text 8"/>
          <p:cNvSpPr/>
          <p:nvPr/>
        </p:nvSpPr>
        <p:spPr>
          <a:xfrm>
            <a:off x="4395470" y="2159000"/>
            <a:ext cx="3401060"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1F6B55"/>
                </a:solidFill>
                <a:latin typeface="Cormorant Garamond" pitchFamily="18" charset="0"/>
                <a:ea typeface="Cormorant Garamond" pitchFamily="18" charset="-122"/>
                <a:cs typeface="Cormorant Garamond" pitchFamily="18" charset="-120"/>
              </a:rPr>
              <a:t>E</a:t>
            </a:r>
            <a:endParaRPr lang="en-US" sz="9000" dirty="0"/>
          </a:p>
        </p:txBody>
      </p:sp>
      <p:sp>
        <p:nvSpPr>
          <p:cNvPr id="11" name="Text 9"/>
          <p:cNvSpPr/>
          <p:nvPr/>
        </p:nvSpPr>
        <p:spPr>
          <a:xfrm>
            <a:off x="4749800" y="3556000"/>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E + I = </a:t>
            </a:r>
            <a:r>
              <a:rPr lang="en-US" sz="2800" b="1" dirty="0">
                <a:solidFill>
                  <a:srgbClr val="A5824A"/>
                </a:solidFill>
                <a:latin typeface="Cormorant Garamond" pitchFamily="18" charset="0"/>
                <a:ea typeface="Cormorant Garamond" pitchFamily="18" charset="-122"/>
                <a:cs typeface="Cormorant Garamond" pitchFamily="18" charset="-120"/>
              </a:rPr>
              <a:t>E</a:t>
            </a:r>
            <a:endParaRPr lang="en-US" sz="2800" dirty="0"/>
          </a:p>
        </p:txBody>
      </p:sp>
      <p:sp>
        <p:nvSpPr>
          <p:cNvPr id="12" name="Text 10"/>
          <p:cNvSpPr/>
          <p:nvPr/>
        </p:nvSpPr>
        <p:spPr>
          <a:xfrm>
            <a:off x="4749800" y="4127500"/>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E + U = </a:t>
            </a:r>
            <a:r>
              <a:rPr lang="en-US" sz="2800" b="1" dirty="0">
                <a:solidFill>
                  <a:srgbClr val="A5824A"/>
                </a:solidFill>
                <a:latin typeface="Cormorant Garamond" pitchFamily="18" charset="0"/>
                <a:ea typeface="Cormorant Garamond" pitchFamily="18" charset="-122"/>
                <a:cs typeface="Cormorant Garamond" pitchFamily="18" charset="-120"/>
              </a:rPr>
              <a:t>e</a:t>
            </a:r>
            <a:endParaRPr lang="en-US" sz="2800" dirty="0"/>
          </a:p>
        </p:txBody>
      </p:sp>
      <p:sp>
        <p:nvSpPr>
          <p:cNvPr id="13" name="Text 11"/>
          <p:cNvSpPr/>
          <p:nvPr/>
        </p:nvSpPr>
        <p:spPr>
          <a:xfrm>
            <a:off x="4749800" y="4699000"/>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2332B"/>
                </a:solidFill>
                <a:latin typeface="Cormorant Garamond" pitchFamily="18" charset="0"/>
                <a:ea typeface="Cormorant Garamond" pitchFamily="18" charset="-122"/>
                <a:cs typeface="Cormorant Garamond" pitchFamily="18" charset="-120"/>
              </a:rPr>
              <a:t>E + A + U = </a:t>
            </a:r>
            <a:r>
              <a:rPr lang="en-US" sz="2800" b="1" dirty="0">
                <a:solidFill>
                  <a:srgbClr val="A5824A"/>
                </a:solidFill>
                <a:latin typeface="Cormorant Garamond" pitchFamily="18" charset="0"/>
                <a:ea typeface="Cormorant Garamond" pitchFamily="18" charset="-122"/>
                <a:cs typeface="Cormorant Garamond" pitchFamily="18" charset="-120"/>
              </a:rPr>
              <a:t>O</a:t>
            </a:r>
            <a:endParaRPr lang="en-US" sz="2800" dirty="0"/>
          </a:p>
        </p:txBody>
      </p:sp>
      <p:sp>
        <p:nvSpPr>
          <p:cNvPr id="14" name="Text 12"/>
          <p:cNvSpPr/>
          <p:nvPr/>
        </p:nvSpPr>
        <p:spPr>
          <a:xfrm>
            <a:off x="8027670" y="2159000"/>
            <a:ext cx="3401060" cy="1168400"/>
          </a:xfrm>
          <a:prstGeom prst="rect">
            <a:avLst/>
          </a:prstGeom>
          <a:noFill/>
          <a:ln/>
        </p:spPr>
        <p:txBody>
          <a:bodyPr wrap="square" lIns="0" tIns="0" rIns="0" bIns="0" rtlCol="0" anchor="t">
            <a:normAutofit/>
          </a:bodyPr>
          <a:lstStyle/>
          <a:p>
            <a:pPr algn="ctr" indent="0" marL="0">
              <a:lnSpc>
                <a:spcPts val="9000"/>
              </a:lnSpc>
              <a:buNone/>
            </a:pPr>
            <a:r>
              <a:rPr lang="en-US" sz="9000" b="1" dirty="0">
                <a:solidFill>
                  <a:srgbClr val="D9BD86"/>
                </a:solidFill>
                <a:latin typeface="Cormorant Garamond" pitchFamily="18" charset="0"/>
                <a:ea typeface="Cormorant Garamond" pitchFamily="18" charset="-122"/>
                <a:cs typeface="Cormorant Garamond" pitchFamily="18" charset="-120"/>
              </a:rPr>
              <a:t>O</a:t>
            </a:r>
            <a:endParaRPr lang="en-US" sz="9000" dirty="0"/>
          </a:p>
        </p:txBody>
      </p:sp>
      <p:sp>
        <p:nvSpPr>
          <p:cNvPr id="15" name="Text 13"/>
          <p:cNvSpPr/>
          <p:nvPr/>
        </p:nvSpPr>
        <p:spPr>
          <a:xfrm>
            <a:off x="8382000" y="3556000"/>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3EEE2"/>
                </a:solidFill>
                <a:latin typeface="Cormorant Garamond" pitchFamily="18" charset="0"/>
                <a:ea typeface="Cormorant Garamond" pitchFamily="18" charset="-122"/>
                <a:cs typeface="Cormorant Garamond" pitchFamily="18" charset="-120"/>
              </a:rPr>
              <a:t>O + I = </a:t>
            </a:r>
            <a:r>
              <a:rPr lang="en-US" sz="2800" b="1" dirty="0">
                <a:solidFill>
                  <a:srgbClr val="D9BD86"/>
                </a:solidFill>
                <a:latin typeface="Cormorant Garamond" pitchFamily="18" charset="0"/>
                <a:ea typeface="Cormorant Garamond" pitchFamily="18" charset="-122"/>
                <a:cs typeface="Cormorant Garamond" pitchFamily="18" charset="-120"/>
              </a:rPr>
              <a:t>WA</a:t>
            </a:r>
            <a:endParaRPr lang="en-US" sz="2800" dirty="0"/>
          </a:p>
        </p:txBody>
      </p:sp>
      <p:sp>
        <p:nvSpPr>
          <p:cNvPr id="16" name="Text 14"/>
          <p:cNvSpPr/>
          <p:nvPr/>
        </p:nvSpPr>
        <p:spPr>
          <a:xfrm>
            <a:off x="8382000" y="4127500"/>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3EEE2"/>
                </a:solidFill>
                <a:latin typeface="Cormorant Garamond" pitchFamily="18" charset="0"/>
                <a:ea typeface="Cormorant Garamond" pitchFamily="18" charset="-122"/>
                <a:cs typeface="Cormorant Garamond" pitchFamily="18" charset="-120"/>
              </a:rPr>
              <a:t>O + U = </a:t>
            </a:r>
            <a:r>
              <a:rPr lang="en-US" sz="2800" b="1" dirty="0">
                <a:solidFill>
                  <a:srgbClr val="D9BD86"/>
                </a:solidFill>
                <a:latin typeface="Cormorant Garamond" pitchFamily="18" charset="0"/>
                <a:ea typeface="Cormorant Garamond" pitchFamily="18" charset="-122"/>
                <a:cs typeface="Cormorant Garamond" pitchFamily="18" charset="-120"/>
              </a:rPr>
              <a:t>U</a:t>
            </a:r>
            <a:endParaRPr lang="en-US" sz="2800" dirty="0"/>
          </a:p>
        </p:txBody>
      </p:sp>
      <p:sp>
        <p:nvSpPr>
          <p:cNvPr id="17" name="Text 15"/>
          <p:cNvSpPr/>
          <p:nvPr/>
        </p:nvSpPr>
        <p:spPr>
          <a:xfrm>
            <a:off x="8382000" y="46355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BD86"/>
                </a:solidFill>
                <a:latin typeface="Space Mono" pitchFamily="49" charset="0"/>
                <a:ea typeface="Space Mono" pitchFamily="49" charset="-122"/>
                <a:cs typeface="Space Mono" pitchFamily="49" charset="-120"/>
              </a:rPr>
              <a:t>U CASTELLANA</a:t>
            </a:r>
            <a:endParaRPr lang="en-US" sz="12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02 · VOYELLES COMPOSÉES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332B"/>
        </a:solidFill>
      </p:bgPr>
    </p:bg>
    <p:spTree>
      <p:nvGrpSpPr>
        <p:cNvPr id="1" name=""/>
        <p:cNvGrpSpPr/>
        <p:nvPr/>
      </p:nvGrpSpPr>
      <p:grpSpPr>
        <a:xfrm>
          <a:off x="0" y="0"/>
          <a:ext cx="0" cy="0"/>
          <a:chOff x="0" y="0"/>
          <a:chExt cx="0" cy="0"/>
        </a:xfrm>
      </p:grpSpPr>
      <p:sp>
        <p:nvSpPr>
          <p:cNvPr id="2" name="Text 0"/>
          <p:cNvSpPr/>
          <p:nvPr/>
        </p:nvSpPr>
        <p:spPr>
          <a:xfrm>
            <a:off x="812800" y="2159000"/>
            <a:ext cx="39243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9BD86"/>
                </a:solidFill>
                <a:latin typeface="Space Mono" pitchFamily="49" charset="0"/>
                <a:ea typeface="Space Mono" pitchFamily="49" charset="-122"/>
                <a:cs typeface="Space Mono" pitchFamily="49" charset="-120"/>
              </a:rPr>
              <a:t>03</a:t>
            </a:r>
            <a:endParaRPr lang="en-US" sz="2200" dirty="0"/>
          </a:p>
        </p:txBody>
      </p:sp>
      <p:sp>
        <p:nvSpPr>
          <p:cNvPr id="3" name="Text 1"/>
          <p:cNvSpPr/>
          <p:nvPr>
            <p:ph type="title"/>
          </p:nvPr>
        </p:nvSpPr>
        <p:spPr>
          <a:xfrm>
            <a:off x="812800" y="266700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0" i="0" dirty="0">
                <a:solidFill>
                  <a:srgbClr val="F3EEE2"/>
                </a:solidFill>
                <a:latin typeface="Cormorant Garamond" pitchFamily="18" charset="0"/>
                <a:ea typeface="Cormorant Garamond" pitchFamily="18" charset="-122"/>
                <a:cs typeface="Cormorant Garamond" pitchFamily="18" charset="-120"/>
              </a:rPr>
              <a:t>Les voyelles nasales</a:t>
            </a:r>
            <a:endParaRPr lang="en-US" sz="7500" dirty="0"/>
          </a:p>
        </p:txBody>
      </p:sp>
      <p:sp>
        <p:nvSpPr>
          <p:cNvPr id="4" name="Text 2"/>
          <p:cNvSpPr/>
          <p:nvPr/>
        </p:nvSpPr>
        <p:spPr>
          <a:xfrm>
            <a:off x="812800" y="3937000"/>
            <a:ext cx="91567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6CC"/>
                </a:solidFill>
                <a:latin typeface="Syne" pitchFamily="34" charset="0"/>
                <a:ea typeface="Syne" pitchFamily="34" charset="-122"/>
                <a:cs typeface="Syne" pitchFamily="34" charset="-120"/>
              </a:rPr>
              <a:t>Cuando el sonido sale… por la nariz.</a:t>
            </a:r>
            <a:endParaRPr lang="en-US" sz="1800" dirty="0"/>
          </a:p>
        </p:txBody>
      </p:sp>
      <p:sp>
        <p:nvSpPr>
          <p:cNvPr id="5" name="Text 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LA RÈGLE</a:t>
            </a:r>
            <a:endParaRPr lang="en-US" sz="1200" dirty="0"/>
          </a:p>
        </p:txBody>
      </p:sp>
      <p:sp>
        <p:nvSpPr>
          <p:cNvPr id="3" name="Text 1"/>
          <p:cNvSpPr/>
          <p:nvPr>
            <p:ph type="title"/>
          </p:nvPr>
        </p:nvSpPr>
        <p:spPr>
          <a:xfrm>
            <a:off x="812800" y="10795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2332B"/>
                </a:solidFill>
                <a:latin typeface="Cormorant Garamond" pitchFamily="18" charset="0"/>
                <a:ea typeface="Cormorant Garamond" pitchFamily="18" charset="-122"/>
                <a:cs typeface="Cormorant Garamond" pitchFamily="18" charset="-120"/>
              </a:rPr>
              <a:t>Vocal + N o M = nasal</a:t>
            </a:r>
            <a:endParaRPr lang="en-US" sz="4400" dirty="0"/>
          </a:p>
        </p:txBody>
      </p:sp>
      <p:sp>
        <p:nvSpPr>
          <p:cNvPr id="4" name="Text 2"/>
          <p:cNvSpPr/>
          <p:nvPr/>
        </p:nvSpPr>
        <p:spPr>
          <a:xfrm>
            <a:off x="812800" y="184150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4645A"/>
                </a:solidFill>
                <a:latin typeface="Syne" pitchFamily="34" charset="0"/>
                <a:ea typeface="Syne" pitchFamily="34" charset="-122"/>
                <a:cs typeface="Syne" pitchFamily="34" charset="-120"/>
              </a:rPr>
              <a:t>…siempre que después venga una </a:t>
            </a:r>
            <a:r>
              <a:rPr lang="en-US" sz="1800" b="1" dirty="0">
                <a:solidFill>
                  <a:srgbClr val="44645A"/>
                </a:solidFill>
                <a:latin typeface="Syne" pitchFamily="34" charset="0"/>
                <a:ea typeface="Syne" pitchFamily="34" charset="-122"/>
                <a:cs typeface="Syne" pitchFamily="34" charset="-120"/>
              </a:rPr>
              <a:t>consonante</a:t>
            </a:r>
            <a:r>
              <a:rPr lang="en-US" sz="1800" dirty="0">
                <a:solidFill>
                  <a:srgbClr val="44645A"/>
                </a:solidFill>
                <a:latin typeface="Syne" pitchFamily="34" charset="0"/>
                <a:ea typeface="Syne" pitchFamily="34" charset="-122"/>
                <a:cs typeface="Syne" pitchFamily="34" charset="-120"/>
              </a:rPr>
              <a:t> o se </a:t>
            </a:r>
            <a:r>
              <a:rPr lang="en-US" sz="1800" b="1" dirty="0">
                <a:solidFill>
                  <a:srgbClr val="44645A"/>
                </a:solidFill>
                <a:latin typeface="Syne" pitchFamily="34" charset="0"/>
                <a:ea typeface="Syne" pitchFamily="34" charset="-122"/>
                <a:cs typeface="Syne" pitchFamily="34" charset="-120"/>
              </a:rPr>
              <a:t>acabe la palabra</a:t>
            </a:r>
            <a:r>
              <a:rPr lang="en-US" sz="1800" dirty="0">
                <a:solidFill>
                  <a:srgbClr val="44645A"/>
                </a:solidFill>
                <a:latin typeface="Syne" pitchFamily="34" charset="0"/>
                <a:ea typeface="Syne" pitchFamily="34" charset="-122"/>
                <a:cs typeface="Syne" pitchFamily="34" charset="-120"/>
              </a:rPr>
              <a:t>.</a:t>
            </a:r>
            <a:endParaRPr lang="en-US" sz="1800" dirty="0"/>
          </a:p>
        </p:txBody>
      </p:sp>
      <p:sp>
        <p:nvSpPr>
          <p:cNvPr id="5" name="Shape 3"/>
          <p:cNvSpPr/>
          <p:nvPr/>
        </p:nvSpPr>
        <p:spPr>
          <a:xfrm>
            <a:off x="812800" y="2540000"/>
            <a:ext cx="5080000" cy="2794000"/>
          </a:xfrm>
          <a:prstGeom prst="roundRect">
            <a:avLst>
              <a:gd name="adj" fmla="val 5455"/>
            </a:avLst>
          </a:prstGeom>
          <a:solidFill>
            <a:srgbClr val="12332B"/>
          </a:solidFill>
          <a:ln/>
        </p:spPr>
      </p:sp>
      <p:sp>
        <p:nvSpPr>
          <p:cNvPr id="6" name="Text 4"/>
          <p:cNvSpPr/>
          <p:nvPr/>
        </p:nvSpPr>
        <p:spPr>
          <a:xfrm>
            <a:off x="1117600" y="2844800"/>
            <a:ext cx="46045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9BD86"/>
                </a:solidFill>
                <a:latin typeface="Space Mono" pitchFamily="49" charset="0"/>
                <a:ea typeface="Space Mono" pitchFamily="49" charset="-122"/>
                <a:cs typeface="Space Mono" pitchFamily="49" charset="-120"/>
              </a:rPr>
              <a:t>NASAL · LA N NO SE OYE</a:t>
            </a:r>
            <a:endParaRPr lang="en-US" sz="1200" dirty="0"/>
          </a:p>
        </p:txBody>
      </p:sp>
      <p:sp>
        <p:nvSpPr>
          <p:cNvPr id="7" name="Text 5"/>
          <p:cNvSpPr/>
          <p:nvPr/>
        </p:nvSpPr>
        <p:spPr>
          <a:xfrm>
            <a:off x="1117600" y="3185120"/>
            <a:ext cx="4604512" cy="1671141"/>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F3EEE2"/>
                </a:solidFill>
                <a:latin typeface="Cormorant Garamond" pitchFamily="18" charset="0"/>
                <a:ea typeface="Cormorant Garamond" pitchFamily="18" charset="-122"/>
                <a:cs typeface="Cormorant Garamond" pitchFamily="18" charset="-120"/>
              </a:rPr>
              <a:t>u</a:t>
            </a:r>
            <a:r>
              <a:rPr lang="en-US" sz="3600" b="1" dirty="0">
                <a:solidFill>
                  <a:srgbClr val="D9BD86"/>
                </a:solidFill>
                <a:latin typeface="Cormorant Garamond" pitchFamily="18" charset="0"/>
                <a:ea typeface="Cormorant Garamond" pitchFamily="18" charset="-122"/>
                <a:cs typeface="Cormorant Garamond" pitchFamily="18" charset="-120"/>
              </a:rPr>
              <a:t>n</a:t>
            </a:r>
            <a:endParaRPr lang="en-US" sz="3600" dirty="0"/>
          </a:p>
          <a:p>
            <a:pPr algn="l" indent="0" marL="0">
              <a:lnSpc>
                <a:spcPts val="4320"/>
              </a:lnSpc>
              <a:buNone/>
            </a:pPr>
            <a:r>
              <a:rPr lang="en-US" sz="3600" b="1" dirty="0">
                <a:solidFill>
                  <a:srgbClr val="F3EEE2"/>
                </a:solidFill>
                <a:latin typeface="Cormorant Garamond" pitchFamily="18" charset="0"/>
                <a:ea typeface="Cormorant Garamond" pitchFamily="18" charset="-122"/>
                <a:cs typeface="Cormorant Garamond" pitchFamily="18" charset="-120"/>
              </a:rPr>
              <a:t>bo</a:t>
            </a:r>
            <a:r>
              <a:rPr lang="en-US" sz="3600" b="1" dirty="0">
                <a:solidFill>
                  <a:srgbClr val="D9BD86"/>
                </a:solidFill>
                <a:latin typeface="Cormorant Garamond" pitchFamily="18" charset="0"/>
                <a:ea typeface="Cormorant Garamond" pitchFamily="18" charset="-122"/>
                <a:cs typeface="Cormorant Garamond" pitchFamily="18" charset="-120"/>
              </a:rPr>
              <a:t>n</a:t>
            </a:r>
            <a:endParaRPr lang="en-US" sz="3600" dirty="0"/>
          </a:p>
          <a:p>
            <a:pPr algn="l" indent="0" marL="0">
              <a:lnSpc>
                <a:spcPts val="4320"/>
              </a:lnSpc>
              <a:buNone/>
            </a:pPr>
            <a:r>
              <a:rPr lang="en-US" sz="3600" b="1" dirty="0">
                <a:solidFill>
                  <a:srgbClr val="F3EEE2"/>
                </a:solidFill>
                <a:latin typeface="Cormorant Garamond" pitchFamily="18" charset="0"/>
                <a:ea typeface="Cormorant Garamond" pitchFamily="18" charset="-122"/>
                <a:cs typeface="Cormorant Garamond" pitchFamily="18" charset="-120"/>
              </a:rPr>
              <a:t>fi</a:t>
            </a:r>
            <a:r>
              <a:rPr lang="en-US" sz="3600" b="1" dirty="0">
                <a:solidFill>
                  <a:srgbClr val="D9BD86"/>
                </a:solidFill>
                <a:latin typeface="Cormorant Garamond" pitchFamily="18" charset="0"/>
                <a:ea typeface="Cormorant Garamond" pitchFamily="18" charset="-122"/>
                <a:cs typeface="Cormorant Garamond" pitchFamily="18" charset="-120"/>
              </a:rPr>
              <a:t>n</a:t>
            </a:r>
            <a:endParaRPr lang="en-US" sz="3600" dirty="0"/>
          </a:p>
        </p:txBody>
      </p:sp>
      <p:sp>
        <p:nvSpPr>
          <p:cNvPr id="8" name="Shape 6"/>
          <p:cNvSpPr/>
          <p:nvPr/>
        </p:nvSpPr>
        <p:spPr>
          <a:xfrm>
            <a:off x="6302375" y="2543175"/>
            <a:ext cx="5073650" cy="2787650"/>
          </a:xfrm>
          <a:prstGeom prst="roundRect">
            <a:avLst>
              <a:gd name="adj" fmla="val 5353"/>
            </a:avLst>
          </a:prstGeom>
          <a:solidFill>
            <a:srgbClr val="FBFDF9"/>
          </a:solidFill>
          <a:ln w="6350">
            <a:solidFill>
              <a:srgbClr val="D5E5DB"/>
            </a:solidFill>
            <a:prstDash val="solid"/>
          </a:ln>
        </p:spPr>
      </p:sp>
      <p:sp>
        <p:nvSpPr>
          <p:cNvPr id="9" name="Text 7"/>
          <p:cNvSpPr/>
          <p:nvPr/>
        </p:nvSpPr>
        <p:spPr>
          <a:xfrm>
            <a:off x="6610350" y="2851150"/>
            <a:ext cx="459143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5E2E"/>
                </a:solidFill>
                <a:latin typeface="Space Mono" pitchFamily="49" charset="0"/>
                <a:ea typeface="Space Mono" pitchFamily="49" charset="-122"/>
                <a:cs typeface="Space Mono" pitchFamily="49" charset="-120"/>
              </a:rPr>
              <a:t>NO NASAL · LA N SÍ SE OYE</a:t>
            </a:r>
            <a:endParaRPr lang="en-US" sz="1200" dirty="0"/>
          </a:p>
        </p:txBody>
      </p:sp>
      <p:sp>
        <p:nvSpPr>
          <p:cNvPr id="10" name="Text 8"/>
          <p:cNvSpPr/>
          <p:nvPr/>
        </p:nvSpPr>
        <p:spPr>
          <a:xfrm>
            <a:off x="6610350" y="3191470"/>
            <a:ext cx="4591431" cy="1671141"/>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12332B"/>
                </a:solidFill>
                <a:latin typeface="Cormorant Garamond" pitchFamily="18" charset="0"/>
                <a:ea typeface="Cormorant Garamond" pitchFamily="18" charset="-122"/>
                <a:cs typeface="Cormorant Garamond" pitchFamily="18" charset="-120"/>
              </a:rPr>
              <a:t>u</a:t>
            </a:r>
            <a:r>
              <a:rPr lang="en-US" sz="3600" b="1" dirty="0">
                <a:solidFill>
                  <a:srgbClr val="1F6B55"/>
                </a:solidFill>
                <a:latin typeface="Cormorant Garamond" pitchFamily="18" charset="0"/>
                <a:ea typeface="Cormorant Garamond" pitchFamily="18" charset="-122"/>
                <a:cs typeface="Cormorant Garamond" pitchFamily="18" charset="-120"/>
              </a:rPr>
              <a:t>ne</a:t>
            </a:r>
            <a:endParaRPr lang="en-US" sz="3600" dirty="0"/>
          </a:p>
          <a:p>
            <a:pPr algn="l" indent="0" marL="0">
              <a:lnSpc>
                <a:spcPts val="4320"/>
              </a:lnSpc>
              <a:buNone/>
            </a:pPr>
            <a:r>
              <a:rPr lang="en-US" sz="3600" b="1" dirty="0">
                <a:solidFill>
                  <a:srgbClr val="12332B"/>
                </a:solidFill>
                <a:latin typeface="Cormorant Garamond" pitchFamily="18" charset="0"/>
                <a:ea typeface="Cormorant Garamond" pitchFamily="18" charset="-122"/>
                <a:cs typeface="Cormorant Garamond" pitchFamily="18" charset="-120"/>
              </a:rPr>
              <a:t>bo</a:t>
            </a:r>
            <a:r>
              <a:rPr lang="en-US" sz="3600" b="1" dirty="0">
                <a:solidFill>
                  <a:srgbClr val="1F6B55"/>
                </a:solidFill>
                <a:latin typeface="Cormorant Garamond" pitchFamily="18" charset="0"/>
                <a:ea typeface="Cormorant Garamond" pitchFamily="18" charset="-122"/>
                <a:cs typeface="Cormorant Garamond" pitchFamily="18" charset="-120"/>
              </a:rPr>
              <a:t>nne</a:t>
            </a:r>
            <a:endParaRPr lang="en-US" sz="3600" dirty="0"/>
          </a:p>
          <a:p>
            <a:pPr algn="l" indent="0" marL="0">
              <a:lnSpc>
                <a:spcPts val="4320"/>
              </a:lnSpc>
              <a:buNone/>
            </a:pPr>
            <a:r>
              <a:rPr lang="en-US" sz="3600" b="1" dirty="0">
                <a:solidFill>
                  <a:srgbClr val="12332B"/>
                </a:solidFill>
                <a:latin typeface="Cormorant Garamond" pitchFamily="18" charset="0"/>
                <a:ea typeface="Cormorant Garamond" pitchFamily="18" charset="-122"/>
                <a:cs typeface="Cormorant Garamond" pitchFamily="18" charset="-120"/>
              </a:rPr>
              <a:t>fi</a:t>
            </a:r>
            <a:r>
              <a:rPr lang="en-US" sz="3600" b="1" dirty="0">
                <a:solidFill>
                  <a:srgbClr val="1F6B55"/>
                </a:solidFill>
                <a:latin typeface="Cormorant Garamond" pitchFamily="18" charset="0"/>
                <a:ea typeface="Cormorant Garamond" pitchFamily="18" charset="-122"/>
                <a:cs typeface="Cormorant Garamond" pitchFamily="18" charset="-120"/>
              </a:rPr>
              <a:t>ne</a:t>
            </a:r>
            <a:endParaRPr lang="en-US" sz="3600" dirty="0"/>
          </a:p>
        </p:txBody>
      </p:sp>
      <p:sp>
        <p:nvSpPr>
          <p:cNvPr id="11" name="Text 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12" name="Text 10"/>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03 · VOYELLES NASALES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NASALE · A + N / E + N</a:t>
            </a:r>
            <a:endParaRPr lang="en-US" sz="1200" dirty="0"/>
          </a:p>
        </p:txBody>
      </p:sp>
      <p:sp>
        <p:nvSpPr>
          <p:cNvPr id="3" name="Text 1"/>
          <p:cNvSpPr/>
          <p:nvPr/>
        </p:nvSpPr>
        <p:spPr>
          <a:xfrm>
            <a:off x="812800" y="1397000"/>
            <a:ext cx="4447540" cy="1892300"/>
          </a:xfrm>
          <a:prstGeom prst="rect">
            <a:avLst/>
          </a:prstGeom>
          <a:noFill/>
          <a:ln/>
        </p:spPr>
        <p:txBody>
          <a:bodyPr wrap="square" lIns="0" tIns="0" rIns="0" bIns="0" rtlCol="0" anchor="t">
            <a:normAutofit/>
          </a:bodyPr>
          <a:lstStyle/>
          <a:p>
            <a:pPr algn="l" indent="0" marL="0">
              <a:lnSpc>
                <a:spcPts val="7350"/>
              </a:lnSpc>
              <a:buNone/>
            </a:pPr>
            <a:r>
              <a:rPr lang="en-US" sz="7000" b="1" dirty="0">
                <a:solidFill>
                  <a:srgbClr val="1F6B55"/>
                </a:solidFill>
                <a:latin typeface="Cormorant Garamond" pitchFamily="18" charset="0"/>
                <a:ea typeface="Cormorant Garamond" pitchFamily="18" charset="-122"/>
                <a:cs typeface="Cormorant Garamond" pitchFamily="18" charset="-120"/>
              </a:rPr>
              <a:t>an · am</a:t>
            </a:r>
            <a:endParaRPr lang="en-US" sz="7000" dirty="0"/>
          </a:p>
          <a:p>
            <a:pPr algn="l" indent="0" marL="0">
              <a:lnSpc>
                <a:spcPts val="7350"/>
              </a:lnSpc>
              <a:buNone/>
            </a:pPr>
            <a:r>
              <a:rPr lang="en-US" sz="7000" b="1" dirty="0">
                <a:solidFill>
                  <a:srgbClr val="1F6B55"/>
                </a:solidFill>
                <a:latin typeface="Cormorant Garamond" pitchFamily="18" charset="0"/>
                <a:ea typeface="Cormorant Garamond" pitchFamily="18" charset="-122"/>
                <a:cs typeface="Cormorant Garamond" pitchFamily="18" charset="-120"/>
              </a:rPr>
              <a:t>en · em</a:t>
            </a:r>
            <a:endParaRPr lang="en-US" sz="7000" dirty="0"/>
          </a:p>
        </p:txBody>
      </p:sp>
      <p:sp>
        <p:nvSpPr>
          <p:cNvPr id="4" name="Text 2"/>
          <p:cNvSpPr/>
          <p:nvPr/>
        </p:nvSpPr>
        <p:spPr>
          <a:xfrm>
            <a:off x="812800" y="3556000"/>
            <a:ext cx="444754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7A5E2E"/>
                </a:solidFill>
                <a:latin typeface="Space Mono" pitchFamily="49" charset="0"/>
                <a:ea typeface="Space Mono" pitchFamily="49" charset="-122"/>
                <a:cs typeface="Space Mono" pitchFamily="49" charset="-120"/>
              </a:rPr>
              <a:t>[ɑ̃]</a:t>
            </a:r>
            <a:endParaRPr lang="en-US" sz="1800" dirty="0"/>
          </a:p>
        </p:txBody>
      </p:sp>
      <p:sp>
        <p:nvSpPr>
          <p:cNvPr id="5" name="Text 3"/>
          <p:cNvSpPr/>
          <p:nvPr/>
        </p:nvSpPr>
        <p:spPr>
          <a:xfrm>
            <a:off x="812800" y="4000500"/>
            <a:ext cx="418592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645A"/>
                </a:solidFill>
                <a:latin typeface="Syne" pitchFamily="34" charset="0"/>
                <a:ea typeface="Syne" pitchFamily="34" charset="-122"/>
                <a:cs typeface="Syne" pitchFamily="34" charset="-120"/>
              </a:rPr>
              <a:t>Una «a» profunda que sale por la nariz. AN y EN suenan igual.</a:t>
            </a:r>
            <a:endParaRPr lang="en-US" sz="1600" dirty="0"/>
          </a:p>
        </p:txBody>
      </p:sp>
      <p:sp>
        <p:nvSpPr>
          <p:cNvPr id="6" name="Shape 4"/>
          <p:cNvSpPr/>
          <p:nvPr/>
        </p:nvSpPr>
        <p:spPr>
          <a:xfrm>
            <a:off x="5718175" y="1527175"/>
            <a:ext cx="2660650" cy="1644650"/>
          </a:xfrm>
          <a:prstGeom prst="roundRect">
            <a:avLst>
              <a:gd name="adj" fmla="val 9073"/>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7" name="Text 5"/>
          <p:cNvSpPr/>
          <p:nvPr/>
        </p:nvSpPr>
        <p:spPr>
          <a:xfrm>
            <a:off x="5975350" y="1990130"/>
            <a:ext cx="2210689"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A5824A"/>
                </a:solidFill>
                <a:latin typeface="Cormorant Garamond" pitchFamily="18" charset="0"/>
                <a:ea typeface="Cormorant Garamond" pitchFamily="18" charset="-122"/>
                <a:cs typeface="Cormorant Garamond" pitchFamily="18" charset="-120"/>
              </a:rPr>
              <a:t>an</a:t>
            </a:r>
            <a:r>
              <a:rPr lang="en-US" sz="3000" b="1" dirty="0">
                <a:solidFill>
                  <a:srgbClr val="12332B"/>
                </a:solidFill>
                <a:latin typeface="Cormorant Garamond" pitchFamily="18" charset="0"/>
                <a:ea typeface="Cormorant Garamond" pitchFamily="18" charset="-122"/>
                <a:cs typeface="Cormorant Garamond" pitchFamily="18" charset="-120"/>
              </a:rPr>
              <a:t>glais</a:t>
            </a:r>
            <a:endParaRPr lang="en-US" sz="3000" dirty="0"/>
          </a:p>
        </p:txBody>
      </p:sp>
      <p:sp>
        <p:nvSpPr>
          <p:cNvPr id="8" name="Text 6"/>
          <p:cNvSpPr/>
          <p:nvPr/>
        </p:nvSpPr>
        <p:spPr>
          <a:xfrm>
            <a:off x="5975350" y="2460030"/>
            <a:ext cx="22106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inglés</a:t>
            </a:r>
            <a:endParaRPr lang="en-US" sz="1400" dirty="0"/>
          </a:p>
        </p:txBody>
      </p:sp>
      <p:sp>
        <p:nvSpPr>
          <p:cNvPr id="9" name="Shape 7"/>
          <p:cNvSpPr/>
          <p:nvPr/>
        </p:nvSpPr>
        <p:spPr>
          <a:xfrm>
            <a:off x="8715375" y="1527175"/>
            <a:ext cx="2660650" cy="1644650"/>
          </a:xfrm>
          <a:prstGeom prst="roundRect">
            <a:avLst>
              <a:gd name="adj" fmla="val 9073"/>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0" name="Text 8"/>
          <p:cNvSpPr/>
          <p:nvPr/>
        </p:nvSpPr>
        <p:spPr>
          <a:xfrm>
            <a:off x="8972550" y="1990130"/>
            <a:ext cx="2210689"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A5824A"/>
                </a:solidFill>
                <a:latin typeface="Cormorant Garamond" pitchFamily="18" charset="0"/>
                <a:ea typeface="Cormorant Garamond" pitchFamily="18" charset="-122"/>
                <a:cs typeface="Cormorant Garamond" pitchFamily="18" charset="-120"/>
              </a:rPr>
              <a:t>en</a:t>
            </a:r>
            <a:r>
              <a:rPr lang="en-US" sz="3000" b="1" dirty="0">
                <a:solidFill>
                  <a:srgbClr val="12332B"/>
                </a:solidFill>
                <a:latin typeface="Cormorant Garamond" pitchFamily="18" charset="0"/>
                <a:ea typeface="Cormorant Garamond" pitchFamily="18" charset="-122"/>
                <a:cs typeface="Cormorant Garamond" pitchFamily="18" charset="-120"/>
              </a:rPr>
              <a:t>tre</a:t>
            </a:r>
            <a:endParaRPr lang="en-US" sz="3000" dirty="0"/>
          </a:p>
        </p:txBody>
      </p:sp>
      <p:sp>
        <p:nvSpPr>
          <p:cNvPr id="11" name="Text 9"/>
          <p:cNvSpPr/>
          <p:nvPr/>
        </p:nvSpPr>
        <p:spPr>
          <a:xfrm>
            <a:off x="8972550" y="2460030"/>
            <a:ext cx="22106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entre</a:t>
            </a:r>
            <a:endParaRPr lang="en-US" sz="1400" dirty="0"/>
          </a:p>
        </p:txBody>
      </p:sp>
      <p:sp>
        <p:nvSpPr>
          <p:cNvPr id="12" name="Shape 10"/>
          <p:cNvSpPr/>
          <p:nvPr/>
        </p:nvSpPr>
        <p:spPr>
          <a:xfrm>
            <a:off x="5718175" y="3495675"/>
            <a:ext cx="2660650" cy="1644650"/>
          </a:xfrm>
          <a:prstGeom prst="roundRect">
            <a:avLst>
              <a:gd name="adj" fmla="val 9073"/>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3" name="Text 11"/>
          <p:cNvSpPr/>
          <p:nvPr/>
        </p:nvSpPr>
        <p:spPr>
          <a:xfrm>
            <a:off x="5975350" y="3958630"/>
            <a:ext cx="2210689"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A5824A"/>
                </a:solidFill>
                <a:latin typeface="Cormorant Garamond" pitchFamily="18" charset="0"/>
                <a:ea typeface="Cormorant Garamond" pitchFamily="18" charset="-122"/>
                <a:cs typeface="Cormorant Garamond" pitchFamily="18" charset="-120"/>
              </a:rPr>
              <a:t>en</a:t>
            </a:r>
            <a:r>
              <a:rPr lang="en-US" sz="3000" b="1" dirty="0">
                <a:solidFill>
                  <a:srgbClr val="12332B"/>
                </a:solidFill>
                <a:latin typeface="Cormorant Garamond" pitchFamily="18" charset="0"/>
                <a:ea typeface="Cormorant Garamond" pitchFamily="18" charset="-122"/>
                <a:cs typeface="Cormorant Garamond" pitchFamily="18" charset="-120"/>
              </a:rPr>
              <a:t>treprise</a:t>
            </a:r>
            <a:endParaRPr lang="en-US" sz="3000" dirty="0"/>
          </a:p>
        </p:txBody>
      </p:sp>
      <p:sp>
        <p:nvSpPr>
          <p:cNvPr id="14" name="Text 12"/>
          <p:cNvSpPr/>
          <p:nvPr/>
        </p:nvSpPr>
        <p:spPr>
          <a:xfrm>
            <a:off x="5975350" y="4428530"/>
            <a:ext cx="22106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empresa</a:t>
            </a:r>
            <a:endParaRPr lang="en-US" sz="1400" dirty="0"/>
          </a:p>
        </p:txBody>
      </p:sp>
      <p:sp>
        <p:nvSpPr>
          <p:cNvPr id="15" name="Shape 13"/>
          <p:cNvSpPr/>
          <p:nvPr/>
        </p:nvSpPr>
        <p:spPr>
          <a:xfrm>
            <a:off x="8712200" y="3492500"/>
            <a:ext cx="2667000" cy="1651000"/>
          </a:xfrm>
          <a:prstGeom prst="roundRect">
            <a:avLst>
              <a:gd name="adj" fmla="val 9231"/>
            </a:avLst>
          </a:prstGeom>
          <a:solidFill>
            <a:srgbClr val="12332B"/>
          </a:solidFill>
          <a:ln/>
        </p:spPr>
      </p:sp>
      <p:sp>
        <p:nvSpPr>
          <p:cNvPr id="16" name="Text 14"/>
          <p:cNvSpPr/>
          <p:nvPr/>
        </p:nvSpPr>
        <p:spPr>
          <a:xfrm>
            <a:off x="8966200" y="3958630"/>
            <a:ext cx="2223770"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D9BD86"/>
                </a:solidFill>
                <a:latin typeface="Cormorant Garamond" pitchFamily="18" charset="0"/>
                <a:ea typeface="Cormorant Garamond" pitchFamily="18" charset="-122"/>
                <a:cs typeface="Cormorant Garamond" pitchFamily="18" charset="-120"/>
              </a:rPr>
              <a:t>en</a:t>
            </a:r>
            <a:r>
              <a:rPr lang="en-US" sz="3000" b="1" dirty="0">
                <a:solidFill>
                  <a:srgbClr val="F3EEE2"/>
                </a:solidFill>
                <a:latin typeface="Cormorant Garamond" pitchFamily="18" charset="0"/>
                <a:ea typeface="Cormorant Garamond" pitchFamily="18" charset="-122"/>
                <a:cs typeface="Cormorant Garamond" pitchFamily="18" charset="-120"/>
              </a:rPr>
              <a:t>f</a:t>
            </a:r>
            <a:r>
              <a:rPr lang="en-US" sz="3000" b="1" dirty="0">
                <a:solidFill>
                  <a:srgbClr val="D9BD86"/>
                </a:solidFill>
                <a:latin typeface="Cormorant Garamond" pitchFamily="18" charset="0"/>
                <a:ea typeface="Cormorant Garamond" pitchFamily="18" charset="-122"/>
                <a:cs typeface="Cormorant Garamond" pitchFamily="18" charset="-120"/>
              </a:rPr>
              <a:t>an</a:t>
            </a:r>
            <a:r>
              <a:rPr lang="en-US" sz="3000" b="1" dirty="0">
                <a:solidFill>
                  <a:srgbClr val="F3EEE2"/>
                </a:solidFill>
                <a:latin typeface="Cormorant Garamond" pitchFamily="18" charset="0"/>
                <a:ea typeface="Cormorant Garamond" pitchFamily="18" charset="-122"/>
                <a:cs typeface="Cormorant Garamond" pitchFamily="18" charset="-120"/>
              </a:rPr>
              <a:t>t</a:t>
            </a:r>
            <a:endParaRPr lang="en-US" sz="3000" dirty="0"/>
          </a:p>
        </p:txBody>
      </p:sp>
      <p:sp>
        <p:nvSpPr>
          <p:cNvPr id="17" name="Text 15"/>
          <p:cNvSpPr/>
          <p:nvPr/>
        </p:nvSpPr>
        <p:spPr>
          <a:xfrm>
            <a:off x="8966200" y="4428530"/>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6CC"/>
                </a:solidFill>
                <a:latin typeface="Syne" pitchFamily="34" charset="0"/>
                <a:ea typeface="Syne" pitchFamily="34" charset="-122"/>
                <a:cs typeface="Syne" pitchFamily="34" charset="-120"/>
              </a:rPr>
              <a:t>niño · ¡dos veces!</a:t>
            </a:r>
            <a:endParaRPr lang="en-US" sz="14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03 · VOYELLES NASALES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NASALE · I + N</a:t>
            </a:r>
            <a:endParaRPr lang="en-US" sz="1200" dirty="0"/>
          </a:p>
        </p:txBody>
      </p:sp>
      <p:sp>
        <p:nvSpPr>
          <p:cNvPr id="3" name="Text 1"/>
          <p:cNvSpPr/>
          <p:nvPr/>
        </p:nvSpPr>
        <p:spPr>
          <a:xfrm>
            <a:off x="812800" y="1397000"/>
            <a:ext cx="4447540" cy="1892300"/>
          </a:xfrm>
          <a:prstGeom prst="rect">
            <a:avLst/>
          </a:prstGeom>
          <a:noFill/>
          <a:ln/>
        </p:spPr>
        <p:txBody>
          <a:bodyPr wrap="square" lIns="0" tIns="0" rIns="0" bIns="0" rtlCol="0" anchor="t">
            <a:normAutofit/>
          </a:bodyPr>
          <a:lstStyle/>
          <a:p>
            <a:pPr algn="l" indent="0" marL="0">
              <a:lnSpc>
                <a:spcPts val="7350"/>
              </a:lnSpc>
              <a:buNone/>
            </a:pPr>
            <a:r>
              <a:rPr lang="en-US" sz="7000" b="1" dirty="0">
                <a:solidFill>
                  <a:srgbClr val="1F6B55"/>
                </a:solidFill>
                <a:latin typeface="Cormorant Garamond" pitchFamily="18" charset="0"/>
                <a:ea typeface="Cormorant Garamond" pitchFamily="18" charset="-122"/>
                <a:cs typeface="Cormorant Garamond" pitchFamily="18" charset="-120"/>
              </a:rPr>
              <a:t>in · im</a:t>
            </a:r>
            <a:endParaRPr lang="en-US" sz="7000" dirty="0"/>
          </a:p>
          <a:p>
            <a:pPr algn="l" indent="0" marL="0">
              <a:lnSpc>
                <a:spcPts val="7350"/>
              </a:lnSpc>
              <a:buNone/>
            </a:pPr>
            <a:r>
              <a:rPr lang="en-US" sz="7000" b="1" dirty="0">
                <a:solidFill>
                  <a:srgbClr val="1F6B55"/>
                </a:solidFill>
                <a:latin typeface="Cormorant Garamond" pitchFamily="18" charset="0"/>
                <a:ea typeface="Cormorant Garamond" pitchFamily="18" charset="-122"/>
                <a:cs typeface="Cormorant Garamond" pitchFamily="18" charset="-120"/>
              </a:rPr>
              <a:t>ain · ein</a:t>
            </a:r>
            <a:endParaRPr lang="en-US" sz="7000" dirty="0"/>
          </a:p>
        </p:txBody>
      </p:sp>
      <p:sp>
        <p:nvSpPr>
          <p:cNvPr id="4" name="Text 2"/>
          <p:cNvSpPr/>
          <p:nvPr/>
        </p:nvSpPr>
        <p:spPr>
          <a:xfrm>
            <a:off x="812800" y="3556000"/>
            <a:ext cx="444754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7A5E2E"/>
                </a:solidFill>
                <a:latin typeface="Space Mono" pitchFamily="49" charset="0"/>
                <a:ea typeface="Space Mono" pitchFamily="49" charset="-122"/>
                <a:cs typeface="Space Mono" pitchFamily="49" charset="-120"/>
              </a:rPr>
              <a:t>[ɛ̃]</a:t>
            </a:r>
            <a:endParaRPr lang="en-US" sz="1800" dirty="0"/>
          </a:p>
        </p:txBody>
      </p:sp>
      <p:sp>
        <p:nvSpPr>
          <p:cNvPr id="5" name="Text 3"/>
          <p:cNvSpPr/>
          <p:nvPr/>
        </p:nvSpPr>
        <p:spPr>
          <a:xfrm>
            <a:off x="812800" y="4000500"/>
            <a:ext cx="418592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645A"/>
                </a:solidFill>
                <a:latin typeface="Syne" pitchFamily="34" charset="0"/>
                <a:ea typeface="Syne" pitchFamily="34" charset="-122"/>
                <a:cs typeface="Syne" pitchFamily="34" charset="-120"/>
              </a:rPr>
              <a:t>¡No es una «i»! Es una «e» abierta que sale por la nariz.</a:t>
            </a:r>
            <a:endParaRPr lang="en-US" sz="1600" dirty="0"/>
          </a:p>
        </p:txBody>
      </p:sp>
      <p:sp>
        <p:nvSpPr>
          <p:cNvPr id="6" name="Shape 4"/>
          <p:cNvSpPr/>
          <p:nvPr/>
        </p:nvSpPr>
        <p:spPr>
          <a:xfrm>
            <a:off x="5718175" y="1527175"/>
            <a:ext cx="2660650" cy="1644650"/>
          </a:xfrm>
          <a:prstGeom prst="roundRect">
            <a:avLst>
              <a:gd name="adj" fmla="val 9073"/>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7" name="Text 5"/>
          <p:cNvSpPr/>
          <p:nvPr/>
        </p:nvSpPr>
        <p:spPr>
          <a:xfrm>
            <a:off x="5975350" y="2018109"/>
            <a:ext cx="2210689"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A5824A"/>
                </a:solidFill>
                <a:latin typeface="Cormorant Garamond" pitchFamily="18" charset="0"/>
                <a:ea typeface="Cormorant Garamond" pitchFamily="18" charset="-122"/>
                <a:cs typeface="Cormorant Garamond" pitchFamily="18" charset="-120"/>
              </a:rPr>
              <a:t>in</a:t>
            </a:r>
            <a:r>
              <a:rPr lang="en-US" sz="2600" b="1" dirty="0">
                <a:solidFill>
                  <a:srgbClr val="12332B"/>
                </a:solidFill>
                <a:latin typeface="Cormorant Garamond" pitchFamily="18" charset="0"/>
                <a:ea typeface="Cormorant Garamond" pitchFamily="18" charset="-122"/>
                <a:cs typeface="Cormorant Garamond" pitchFamily="18" charset="-120"/>
              </a:rPr>
              <a:t>ternational</a:t>
            </a:r>
            <a:endParaRPr lang="en-US" sz="2600" dirty="0"/>
          </a:p>
        </p:txBody>
      </p:sp>
      <p:sp>
        <p:nvSpPr>
          <p:cNvPr id="8" name="Text 6"/>
          <p:cNvSpPr/>
          <p:nvPr/>
        </p:nvSpPr>
        <p:spPr>
          <a:xfrm>
            <a:off x="5975350" y="2432050"/>
            <a:ext cx="22106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internacional</a:t>
            </a:r>
            <a:endParaRPr lang="en-US" sz="1400" dirty="0"/>
          </a:p>
        </p:txBody>
      </p:sp>
      <p:sp>
        <p:nvSpPr>
          <p:cNvPr id="9" name="Shape 7"/>
          <p:cNvSpPr/>
          <p:nvPr/>
        </p:nvSpPr>
        <p:spPr>
          <a:xfrm>
            <a:off x="8715375" y="1527175"/>
            <a:ext cx="2660650" cy="1644650"/>
          </a:xfrm>
          <a:prstGeom prst="roundRect">
            <a:avLst>
              <a:gd name="adj" fmla="val 9073"/>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0" name="Text 8"/>
          <p:cNvSpPr/>
          <p:nvPr/>
        </p:nvSpPr>
        <p:spPr>
          <a:xfrm>
            <a:off x="8972550" y="2018109"/>
            <a:ext cx="2210689"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A5824A"/>
                </a:solidFill>
                <a:latin typeface="Cormorant Garamond" pitchFamily="18" charset="0"/>
                <a:ea typeface="Cormorant Garamond" pitchFamily="18" charset="-122"/>
                <a:cs typeface="Cormorant Garamond" pitchFamily="18" charset="-120"/>
              </a:rPr>
              <a:t>im</a:t>
            </a:r>
            <a:r>
              <a:rPr lang="en-US" sz="2600" b="1" dirty="0">
                <a:solidFill>
                  <a:srgbClr val="12332B"/>
                </a:solidFill>
                <a:latin typeface="Cormorant Garamond" pitchFamily="18" charset="0"/>
                <a:ea typeface="Cormorant Garamond" pitchFamily="18" charset="-122"/>
                <a:cs typeface="Cormorant Garamond" pitchFamily="18" charset="-120"/>
              </a:rPr>
              <a:t>port</a:t>
            </a:r>
            <a:r>
              <a:rPr lang="en-US" sz="2600" b="1" dirty="0">
                <a:solidFill>
                  <a:srgbClr val="A5824A"/>
                </a:solidFill>
                <a:latin typeface="Cormorant Garamond" pitchFamily="18" charset="0"/>
                <a:ea typeface="Cormorant Garamond" pitchFamily="18" charset="-122"/>
                <a:cs typeface="Cormorant Garamond" pitchFamily="18" charset="-120"/>
              </a:rPr>
              <a:t>an</a:t>
            </a:r>
            <a:r>
              <a:rPr lang="en-US" sz="2600" b="1" dirty="0">
                <a:solidFill>
                  <a:srgbClr val="12332B"/>
                </a:solidFill>
                <a:latin typeface="Cormorant Garamond" pitchFamily="18" charset="0"/>
                <a:ea typeface="Cormorant Garamond" pitchFamily="18" charset="-122"/>
                <a:cs typeface="Cormorant Garamond" pitchFamily="18" charset="-120"/>
              </a:rPr>
              <a:t>t</a:t>
            </a:r>
            <a:endParaRPr lang="en-US" sz="2600" dirty="0"/>
          </a:p>
        </p:txBody>
      </p:sp>
      <p:sp>
        <p:nvSpPr>
          <p:cNvPr id="11" name="Text 9"/>
          <p:cNvSpPr/>
          <p:nvPr/>
        </p:nvSpPr>
        <p:spPr>
          <a:xfrm>
            <a:off x="8972550" y="2432050"/>
            <a:ext cx="22106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importante</a:t>
            </a:r>
            <a:endParaRPr lang="en-US" sz="1400" dirty="0"/>
          </a:p>
        </p:txBody>
      </p:sp>
      <p:sp>
        <p:nvSpPr>
          <p:cNvPr id="12" name="Shape 10"/>
          <p:cNvSpPr/>
          <p:nvPr/>
        </p:nvSpPr>
        <p:spPr>
          <a:xfrm>
            <a:off x="5718175" y="3495675"/>
            <a:ext cx="2660650" cy="1644650"/>
          </a:xfrm>
          <a:prstGeom prst="roundRect">
            <a:avLst>
              <a:gd name="adj" fmla="val 9073"/>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13" name="Text 11"/>
          <p:cNvSpPr/>
          <p:nvPr/>
        </p:nvSpPr>
        <p:spPr>
          <a:xfrm>
            <a:off x="5975350" y="3986609"/>
            <a:ext cx="2210689"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A5824A"/>
                </a:solidFill>
                <a:latin typeface="Cormorant Garamond" pitchFamily="18" charset="0"/>
                <a:ea typeface="Cormorant Garamond" pitchFamily="18" charset="-122"/>
                <a:cs typeface="Cormorant Garamond" pitchFamily="18" charset="-120"/>
              </a:rPr>
              <a:t>in</a:t>
            </a:r>
            <a:r>
              <a:rPr lang="en-US" sz="2600" b="1" dirty="0">
                <a:solidFill>
                  <a:srgbClr val="12332B"/>
                </a:solidFill>
                <a:latin typeface="Cormorant Garamond" pitchFamily="18" charset="0"/>
                <a:ea typeface="Cormorant Garamond" pitchFamily="18" charset="-122"/>
                <a:cs typeface="Cormorant Garamond" pitchFamily="18" charset="-120"/>
              </a:rPr>
              <a:t>téress</a:t>
            </a:r>
            <a:r>
              <a:rPr lang="en-US" sz="2600" b="1" dirty="0">
                <a:solidFill>
                  <a:srgbClr val="A5824A"/>
                </a:solidFill>
                <a:latin typeface="Cormorant Garamond" pitchFamily="18" charset="0"/>
                <a:ea typeface="Cormorant Garamond" pitchFamily="18" charset="-122"/>
                <a:cs typeface="Cormorant Garamond" pitchFamily="18" charset="-120"/>
              </a:rPr>
              <a:t>an</a:t>
            </a:r>
            <a:r>
              <a:rPr lang="en-US" sz="2600" b="1" dirty="0">
                <a:solidFill>
                  <a:srgbClr val="12332B"/>
                </a:solidFill>
                <a:latin typeface="Cormorant Garamond" pitchFamily="18" charset="0"/>
                <a:ea typeface="Cormorant Garamond" pitchFamily="18" charset="-122"/>
                <a:cs typeface="Cormorant Garamond" pitchFamily="18" charset="-120"/>
              </a:rPr>
              <a:t>t</a:t>
            </a:r>
            <a:endParaRPr lang="en-US" sz="2600" dirty="0"/>
          </a:p>
        </p:txBody>
      </p:sp>
      <p:sp>
        <p:nvSpPr>
          <p:cNvPr id="14" name="Text 12"/>
          <p:cNvSpPr/>
          <p:nvPr/>
        </p:nvSpPr>
        <p:spPr>
          <a:xfrm>
            <a:off x="5975350" y="4400550"/>
            <a:ext cx="22106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interesante</a:t>
            </a:r>
            <a:endParaRPr lang="en-US" sz="1400" dirty="0"/>
          </a:p>
        </p:txBody>
      </p:sp>
      <p:sp>
        <p:nvSpPr>
          <p:cNvPr id="15" name="Shape 13"/>
          <p:cNvSpPr/>
          <p:nvPr/>
        </p:nvSpPr>
        <p:spPr>
          <a:xfrm>
            <a:off x="8712200" y="3492500"/>
            <a:ext cx="2667000" cy="1651000"/>
          </a:xfrm>
          <a:prstGeom prst="roundRect">
            <a:avLst>
              <a:gd name="adj" fmla="val 9231"/>
            </a:avLst>
          </a:prstGeom>
          <a:solidFill>
            <a:srgbClr val="12332B"/>
          </a:solidFill>
          <a:ln/>
        </p:spPr>
      </p:sp>
      <p:sp>
        <p:nvSpPr>
          <p:cNvPr id="16" name="Text 14"/>
          <p:cNvSpPr/>
          <p:nvPr/>
        </p:nvSpPr>
        <p:spPr>
          <a:xfrm>
            <a:off x="8966200" y="3986609"/>
            <a:ext cx="2223770"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3EEE2"/>
                </a:solidFill>
                <a:latin typeface="Cormorant Garamond" pitchFamily="18" charset="0"/>
                <a:ea typeface="Cormorant Garamond" pitchFamily="18" charset="-122"/>
                <a:cs typeface="Cormorant Garamond" pitchFamily="18" charset="-120"/>
              </a:rPr>
              <a:t>p</a:t>
            </a:r>
            <a:r>
              <a:rPr lang="en-US" sz="2600" b="1" dirty="0">
                <a:solidFill>
                  <a:srgbClr val="D9BD86"/>
                </a:solidFill>
                <a:latin typeface="Cormorant Garamond" pitchFamily="18" charset="0"/>
                <a:ea typeface="Cormorant Garamond" pitchFamily="18" charset="-122"/>
                <a:cs typeface="Cormorant Garamond" pitchFamily="18" charset="-120"/>
              </a:rPr>
              <a:t>ain</a:t>
            </a:r>
            <a:r>
              <a:rPr lang="en-US" sz="2600" b="1" dirty="0">
                <a:solidFill>
                  <a:srgbClr val="F3EEE2"/>
                </a:solidFill>
                <a:latin typeface="Cormorant Garamond" pitchFamily="18" charset="0"/>
                <a:ea typeface="Cormorant Garamond" pitchFamily="18" charset="-122"/>
                <a:cs typeface="Cormorant Garamond" pitchFamily="18" charset="-120"/>
              </a:rPr>
              <a:t> · v</a:t>
            </a:r>
            <a:r>
              <a:rPr lang="en-US" sz="2600" b="1" dirty="0">
                <a:solidFill>
                  <a:srgbClr val="D9BD86"/>
                </a:solidFill>
                <a:latin typeface="Cormorant Garamond" pitchFamily="18" charset="0"/>
                <a:ea typeface="Cormorant Garamond" pitchFamily="18" charset="-122"/>
                <a:cs typeface="Cormorant Garamond" pitchFamily="18" charset="-120"/>
              </a:rPr>
              <a:t>in</a:t>
            </a:r>
            <a:endParaRPr lang="en-US" sz="2600" dirty="0"/>
          </a:p>
        </p:txBody>
      </p:sp>
      <p:sp>
        <p:nvSpPr>
          <p:cNvPr id="17" name="Text 15"/>
          <p:cNvSpPr/>
          <p:nvPr/>
        </p:nvSpPr>
        <p:spPr>
          <a:xfrm>
            <a:off x="8966200" y="4400550"/>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6CC"/>
                </a:solidFill>
                <a:latin typeface="Syne" pitchFamily="34" charset="0"/>
                <a:ea typeface="Syne" pitchFamily="34" charset="-122"/>
                <a:cs typeface="Syne" pitchFamily="34" charset="-120"/>
              </a:rPr>
              <a:t>pan · vino</a:t>
            </a:r>
            <a:endParaRPr lang="en-US" sz="14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19" name="Text 17"/>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03 · VOYELLES NASALES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F5F0"/>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NASALES · U + N Y O + N</a:t>
            </a:r>
            <a:endParaRPr lang="en-US" sz="1200" dirty="0"/>
          </a:p>
        </p:txBody>
      </p:sp>
      <p:sp>
        <p:nvSpPr>
          <p:cNvPr id="3" name="Text 1"/>
          <p:cNvSpPr/>
          <p:nvPr>
            <p:ph type="title"/>
          </p:nvPr>
        </p:nvSpPr>
        <p:spPr>
          <a:xfrm>
            <a:off x="812800" y="10795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2332B"/>
                </a:solidFill>
                <a:latin typeface="Cormorant Garamond" pitchFamily="18" charset="0"/>
                <a:ea typeface="Cormorant Garamond" pitchFamily="18" charset="-122"/>
                <a:cs typeface="Cormorant Garamond" pitchFamily="18" charset="-120"/>
              </a:rPr>
              <a:t>Les deux dernières</a:t>
            </a:r>
            <a:endParaRPr lang="en-US" sz="4400" dirty="0"/>
          </a:p>
        </p:txBody>
      </p:sp>
      <p:sp>
        <p:nvSpPr>
          <p:cNvPr id="4" name="Shape 2"/>
          <p:cNvSpPr/>
          <p:nvPr/>
        </p:nvSpPr>
        <p:spPr>
          <a:xfrm>
            <a:off x="815975" y="2035175"/>
            <a:ext cx="5073650" cy="3295650"/>
          </a:xfrm>
          <a:prstGeom prst="roundRect">
            <a:avLst>
              <a:gd name="adj" fmla="val 4528"/>
            </a:avLst>
          </a:prstGeom>
          <a:solidFill>
            <a:srgbClr val="FBFDF9"/>
          </a:solidFill>
          <a:ln w="6350">
            <a:solidFill>
              <a:srgbClr val="D5E5DB"/>
            </a:solidFill>
            <a:prstDash val="solid"/>
          </a:ln>
          <a:effectLst>
            <a:outerShdw sx="100000" sy="100000" kx="0" ky="0" algn="bl" rotWithShape="0" blurRad="152400" dist="50800" dir="5400000">
              <a:srgbClr val="12332B">
                <a:alpha val="8000"/>
              </a:srgbClr>
            </a:outerShdw>
          </a:effectLst>
        </p:spPr>
      </p:sp>
      <p:sp>
        <p:nvSpPr>
          <p:cNvPr id="5" name="Text 3"/>
          <p:cNvSpPr/>
          <p:nvPr/>
        </p:nvSpPr>
        <p:spPr>
          <a:xfrm>
            <a:off x="1117600" y="2286000"/>
            <a:ext cx="45783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6B55"/>
                </a:solidFill>
                <a:latin typeface="Cormorant Garamond" pitchFamily="18" charset="0"/>
                <a:ea typeface="Cormorant Garamond" pitchFamily="18" charset="-122"/>
                <a:cs typeface="Cormorant Garamond" pitchFamily="18" charset="-120"/>
              </a:rPr>
              <a:t>un · um</a:t>
            </a:r>
            <a:endParaRPr lang="en-US" sz="4800" dirty="0"/>
          </a:p>
        </p:txBody>
      </p:sp>
      <p:sp>
        <p:nvSpPr>
          <p:cNvPr id="6" name="Text 4"/>
          <p:cNvSpPr/>
          <p:nvPr/>
        </p:nvSpPr>
        <p:spPr>
          <a:xfrm>
            <a:off x="1117600" y="2984500"/>
            <a:ext cx="45783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Hoy casi todos la dicen igual que IN.</a:t>
            </a:r>
            <a:endParaRPr lang="en-US" sz="1400" dirty="0"/>
          </a:p>
        </p:txBody>
      </p:sp>
      <p:sp>
        <p:nvSpPr>
          <p:cNvPr id="7" name="Text 5"/>
          <p:cNvSpPr/>
          <p:nvPr/>
        </p:nvSpPr>
        <p:spPr>
          <a:xfrm>
            <a:off x="1117600" y="3619500"/>
            <a:ext cx="457835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5824A"/>
                </a:solidFill>
                <a:latin typeface="Cormorant Garamond" pitchFamily="18" charset="0"/>
                <a:ea typeface="Cormorant Garamond" pitchFamily="18" charset="-122"/>
                <a:cs typeface="Cormorant Garamond" pitchFamily="18" charset="-120"/>
              </a:rPr>
              <a:t>un</a:t>
            </a:r>
            <a:r>
              <a:rPr lang="en-US" sz="3200" b="1" dirty="0">
                <a:solidFill>
                  <a:srgbClr val="12332B"/>
                </a:solidFill>
                <a:latin typeface="Cormorant Garamond" pitchFamily="18" charset="0"/>
                <a:ea typeface="Cormorant Garamond" pitchFamily="18" charset="-122"/>
                <a:cs typeface="Cormorant Garamond" pitchFamily="18" charset="-120"/>
              </a:rPr>
              <a:t> parf</a:t>
            </a:r>
            <a:r>
              <a:rPr lang="en-US" sz="3200" b="1" dirty="0">
                <a:solidFill>
                  <a:srgbClr val="A5824A"/>
                </a:solidFill>
                <a:latin typeface="Cormorant Garamond" pitchFamily="18" charset="0"/>
                <a:ea typeface="Cormorant Garamond" pitchFamily="18" charset="-122"/>
                <a:cs typeface="Cormorant Garamond" pitchFamily="18" charset="-120"/>
              </a:rPr>
              <a:t>um</a:t>
            </a:r>
            <a:endParaRPr lang="en-US" sz="3200" dirty="0"/>
          </a:p>
        </p:txBody>
      </p:sp>
      <p:sp>
        <p:nvSpPr>
          <p:cNvPr id="8" name="Text 6"/>
          <p:cNvSpPr/>
          <p:nvPr/>
        </p:nvSpPr>
        <p:spPr>
          <a:xfrm>
            <a:off x="1117600" y="4127500"/>
            <a:ext cx="45783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645A"/>
                </a:solidFill>
                <a:latin typeface="Syne" pitchFamily="34" charset="0"/>
                <a:ea typeface="Syne" pitchFamily="34" charset="-122"/>
                <a:cs typeface="Syne" pitchFamily="34" charset="-120"/>
              </a:rPr>
              <a:t>un perfume</a:t>
            </a:r>
            <a:endParaRPr lang="en-US" sz="1400" dirty="0"/>
          </a:p>
        </p:txBody>
      </p:sp>
      <p:sp>
        <p:nvSpPr>
          <p:cNvPr id="9" name="Text 7"/>
          <p:cNvSpPr/>
          <p:nvPr/>
        </p:nvSpPr>
        <p:spPr>
          <a:xfrm>
            <a:off x="1117600" y="4572000"/>
            <a:ext cx="457835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332B"/>
                </a:solidFill>
                <a:latin typeface="Cormorant Garamond" pitchFamily="18" charset="0"/>
                <a:ea typeface="Cormorant Garamond" pitchFamily="18" charset="-122"/>
                <a:cs typeface="Cormorant Garamond" pitchFamily="18" charset="-120"/>
              </a:rPr>
              <a:t>l</a:t>
            </a:r>
            <a:r>
              <a:rPr lang="en-US" sz="3200" b="1" dirty="0">
                <a:solidFill>
                  <a:srgbClr val="A5824A"/>
                </a:solidFill>
                <a:latin typeface="Cormorant Garamond" pitchFamily="18" charset="0"/>
                <a:ea typeface="Cormorant Garamond" pitchFamily="18" charset="-122"/>
                <a:cs typeface="Cormorant Garamond" pitchFamily="18" charset="-120"/>
              </a:rPr>
              <a:t>un</a:t>
            </a:r>
            <a:r>
              <a:rPr lang="en-US" sz="3200" b="1" dirty="0">
                <a:solidFill>
                  <a:srgbClr val="12332B"/>
                </a:solidFill>
                <a:latin typeface="Cormorant Garamond" pitchFamily="18" charset="0"/>
                <a:ea typeface="Cormorant Garamond" pitchFamily="18" charset="-122"/>
                <a:cs typeface="Cormorant Garamond" pitchFamily="18" charset="-120"/>
              </a:rPr>
              <a:t>di</a:t>
            </a:r>
            <a:endParaRPr lang="en-US" sz="3200" dirty="0"/>
          </a:p>
        </p:txBody>
      </p:sp>
      <p:sp>
        <p:nvSpPr>
          <p:cNvPr id="10" name="Shape 8"/>
          <p:cNvSpPr/>
          <p:nvPr/>
        </p:nvSpPr>
        <p:spPr>
          <a:xfrm>
            <a:off x="6299200" y="2032000"/>
            <a:ext cx="5080000" cy="3302000"/>
          </a:xfrm>
          <a:prstGeom prst="roundRect">
            <a:avLst>
              <a:gd name="adj" fmla="val 4615"/>
            </a:avLst>
          </a:prstGeom>
          <a:solidFill>
            <a:srgbClr val="12332B"/>
          </a:solidFill>
          <a:ln/>
        </p:spPr>
      </p:sp>
      <p:sp>
        <p:nvSpPr>
          <p:cNvPr id="11" name="Text 9"/>
          <p:cNvSpPr/>
          <p:nvPr/>
        </p:nvSpPr>
        <p:spPr>
          <a:xfrm>
            <a:off x="6604000" y="2286000"/>
            <a:ext cx="45783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BD86"/>
                </a:solidFill>
                <a:latin typeface="Cormorant Garamond" pitchFamily="18" charset="0"/>
                <a:ea typeface="Cormorant Garamond" pitchFamily="18" charset="-122"/>
                <a:cs typeface="Cormorant Garamond" pitchFamily="18" charset="-120"/>
              </a:rPr>
              <a:t>on · om</a:t>
            </a:r>
            <a:endParaRPr lang="en-US" sz="4800" dirty="0"/>
          </a:p>
        </p:txBody>
      </p:sp>
      <p:sp>
        <p:nvSpPr>
          <p:cNvPr id="12" name="Text 10"/>
          <p:cNvSpPr/>
          <p:nvPr/>
        </p:nvSpPr>
        <p:spPr>
          <a:xfrm>
            <a:off x="6604000" y="2984500"/>
            <a:ext cx="45783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6CC"/>
                </a:solidFill>
                <a:latin typeface="Syne" pitchFamily="34" charset="0"/>
                <a:ea typeface="Syne" pitchFamily="34" charset="-122"/>
                <a:cs typeface="Syne" pitchFamily="34" charset="-120"/>
              </a:rPr>
              <a:t>Bonus: una «o» redonda por la nariz.</a:t>
            </a:r>
            <a:endParaRPr lang="en-US" sz="1400" dirty="0"/>
          </a:p>
        </p:txBody>
      </p:sp>
      <p:sp>
        <p:nvSpPr>
          <p:cNvPr id="13" name="Text 11"/>
          <p:cNvSpPr/>
          <p:nvPr/>
        </p:nvSpPr>
        <p:spPr>
          <a:xfrm>
            <a:off x="6604000" y="3619500"/>
            <a:ext cx="457835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3EEE2"/>
                </a:solidFill>
                <a:latin typeface="Cormorant Garamond" pitchFamily="18" charset="0"/>
                <a:ea typeface="Cormorant Garamond" pitchFamily="18" charset="-122"/>
                <a:cs typeface="Cormorant Garamond" pitchFamily="18" charset="-120"/>
              </a:rPr>
              <a:t>b</a:t>
            </a:r>
            <a:r>
              <a:rPr lang="en-US" sz="3200" b="1" dirty="0">
                <a:solidFill>
                  <a:srgbClr val="D9BD86"/>
                </a:solidFill>
                <a:latin typeface="Cormorant Garamond" pitchFamily="18" charset="0"/>
                <a:ea typeface="Cormorant Garamond" pitchFamily="18" charset="-122"/>
                <a:cs typeface="Cormorant Garamond" pitchFamily="18" charset="-120"/>
              </a:rPr>
              <a:t>on</a:t>
            </a:r>
            <a:r>
              <a:rPr lang="en-US" sz="3200" b="1" dirty="0">
                <a:solidFill>
                  <a:srgbClr val="F3EEE2"/>
                </a:solidFill>
                <a:latin typeface="Cormorant Garamond" pitchFamily="18" charset="0"/>
                <a:ea typeface="Cormorant Garamond" pitchFamily="18" charset="-122"/>
                <a:cs typeface="Cormorant Garamond" pitchFamily="18" charset="-120"/>
              </a:rPr>
              <a:t>jour</a:t>
            </a:r>
            <a:endParaRPr lang="en-US" sz="3200" dirty="0"/>
          </a:p>
        </p:txBody>
      </p:sp>
      <p:sp>
        <p:nvSpPr>
          <p:cNvPr id="14" name="Text 12"/>
          <p:cNvSpPr/>
          <p:nvPr/>
        </p:nvSpPr>
        <p:spPr>
          <a:xfrm>
            <a:off x="6604000" y="4127500"/>
            <a:ext cx="457835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3EEE2"/>
                </a:solidFill>
                <a:latin typeface="Cormorant Garamond" pitchFamily="18" charset="0"/>
                <a:ea typeface="Cormorant Garamond" pitchFamily="18" charset="-122"/>
                <a:cs typeface="Cormorant Garamond" pitchFamily="18" charset="-120"/>
              </a:rPr>
              <a:t>n</a:t>
            </a:r>
            <a:r>
              <a:rPr lang="en-US" sz="3200" b="1" dirty="0">
                <a:solidFill>
                  <a:srgbClr val="D9BD86"/>
                </a:solidFill>
                <a:latin typeface="Cormorant Garamond" pitchFamily="18" charset="0"/>
                <a:ea typeface="Cormorant Garamond" pitchFamily="18" charset="-122"/>
                <a:cs typeface="Cormorant Garamond" pitchFamily="18" charset="-120"/>
              </a:rPr>
              <a:t>om</a:t>
            </a:r>
            <a:endParaRPr lang="en-US" sz="3200" dirty="0"/>
          </a:p>
        </p:txBody>
      </p:sp>
      <p:sp>
        <p:nvSpPr>
          <p:cNvPr id="15" name="Text 13"/>
          <p:cNvSpPr/>
          <p:nvPr/>
        </p:nvSpPr>
        <p:spPr>
          <a:xfrm>
            <a:off x="6604000" y="4635500"/>
            <a:ext cx="457835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3EEE2"/>
                </a:solidFill>
                <a:latin typeface="Cormorant Garamond" pitchFamily="18" charset="0"/>
                <a:ea typeface="Cormorant Garamond" pitchFamily="18" charset="-122"/>
                <a:cs typeface="Cormorant Garamond" pitchFamily="18" charset="-120"/>
              </a:rPr>
              <a:t>mais</a:t>
            </a:r>
            <a:r>
              <a:rPr lang="en-US" sz="3200" b="1" dirty="0">
                <a:solidFill>
                  <a:srgbClr val="D9BD86"/>
                </a:solidFill>
                <a:latin typeface="Cormorant Garamond" pitchFamily="18" charset="0"/>
                <a:ea typeface="Cormorant Garamond" pitchFamily="18" charset="-122"/>
                <a:cs typeface="Cormorant Garamond" pitchFamily="18" charset="-120"/>
              </a:rPr>
              <a:t>on</a:t>
            </a:r>
            <a:endParaRPr lang="en-US" sz="3200" dirty="0"/>
          </a:p>
        </p:txBody>
      </p:sp>
      <p:sp>
        <p:nvSpPr>
          <p:cNvPr id="16" name="Text 14"/>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E2E"/>
                </a:solidFill>
                <a:latin typeface="Space Mono" pitchFamily="49" charset="0"/>
                <a:ea typeface="Space Mono" pitchFamily="49" charset="-122"/>
                <a:cs typeface="Space Mono" pitchFamily="49" charset="-120"/>
              </a:rPr>
              <a:t>VIVE EL FRANCÉS</a:t>
            </a:r>
            <a:endParaRPr lang="en-US" sz="1200" dirty="0"/>
          </a:p>
        </p:txBody>
      </p:sp>
      <p:sp>
        <p:nvSpPr>
          <p:cNvPr id="17" name="Text 15"/>
          <p:cNvSpPr/>
          <p:nvPr/>
        </p:nvSpPr>
        <p:spPr>
          <a:xfrm>
            <a:off x="7454900"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E2E"/>
                </a:solidFill>
                <a:latin typeface="Space Mono" pitchFamily="49" charset="0"/>
                <a:ea typeface="Space Mono" pitchFamily="49" charset="-122"/>
                <a:cs typeface="Space Mono" pitchFamily="49" charset="-120"/>
              </a:rPr>
              <a:t>03 · VOYELLES NASALES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LE DÉFI · LECTURA EN VOZ ALTA</a:t>
            </a:r>
            <a:endParaRPr lang="en-US" sz="1200" dirty="0"/>
          </a:p>
        </p:txBody>
      </p:sp>
      <p:sp>
        <p:nvSpPr>
          <p:cNvPr id="3" name="Text 1"/>
          <p:cNvSpPr/>
          <p:nvPr>
            <p:ph type="title"/>
          </p:nvPr>
        </p:nvSpPr>
        <p:spPr>
          <a:xfrm>
            <a:off x="812800" y="10795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3EEE2"/>
                </a:solidFill>
                <a:latin typeface="Cormorant Garamond" pitchFamily="18" charset="0"/>
                <a:ea typeface="Cormorant Garamond" pitchFamily="18" charset="-122"/>
                <a:cs typeface="Cormorant Garamond" pitchFamily="18" charset="-120"/>
              </a:rPr>
              <a:t>À vous de lire !</a:t>
            </a:r>
            <a:endParaRPr lang="en-US" sz="4800" dirty="0"/>
          </a:p>
        </p:txBody>
      </p:sp>
      <p:sp>
        <p:nvSpPr>
          <p:cNvPr id="4" name="Text 2"/>
          <p:cNvSpPr/>
          <p:nvPr/>
        </p:nvSpPr>
        <p:spPr>
          <a:xfrm>
            <a:off x="812800" y="2286000"/>
            <a:ext cx="10883392" cy="543520"/>
          </a:xfrm>
          <a:prstGeom prst="rect">
            <a:avLst/>
          </a:prstGeom>
          <a:noFill/>
          <a:ln/>
        </p:spPr>
        <p:txBody>
          <a:bodyPr wrap="square" lIns="0" tIns="0" rIns="0" bIns="0" rtlCol="0" anchor="t">
            <a:normAutofit/>
          </a:bodyPr>
          <a:lstStyle/>
          <a:p>
            <a:pPr algn="l" indent="0" marL="0">
              <a:lnSpc>
                <a:spcPts val="4080"/>
              </a:lnSpc>
              <a:buNone/>
            </a:pPr>
            <a:r>
              <a:rPr lang="en-US" sz="3400" i="1" dirty="0">
                <a:solidFill>
                  <a:srgbClr val="F3EEE2"/>
                </a:solidFill>
                <a:latin typeface="Cormorant Garamond" pitchFamily="18" charset="0"/>
                <a:ea typeface="Cormorant Garamond" pitchFamily="18" charset="-122"/>
                <a:cs typeface="Cormorant Garamond" pitchFamily="18" charset="-120"/>
              </a:rPr>
              <a:t>Toi et moi, nous aimons beaucoup le pain français.</a:t>
            </a:r>
            <a:endParaRPr lang="en-US" sz="3400" dirty="0"/>
          </a:p>
        </p:txBody>
      </p:sp>
      <p:sp>
        <p:nvSpPr>
          <p:cNvPr id="5" name="Text 3"/>
          <p:cNvSpPr/>
          <p:nvPr/>
        </p:nvSpPr>
        <p:spPr>
          <a:xfrm>
            <a:off x="812800" y="3810000"/>
            <a:ext cx="10883392" cy="543520"/>
          </a:xfrm>
          <a:prstGeom prst="rect">
            <a:avLst/>
          </a:prstGeom>
          <a:noFill/>
          <a:ln/>
        </p:spPr>
        <p:txBody>
          <a:bodyPr wrap="square" lIns="0" tIns="0" rIns="0" bIns="0" rtlCol="0" anchor="t">
            <a:normAutofit/>
          </a:bodyPr>
          <a:lstStyle/>
          <a:p>
            <a:pPr algn="l" indent="0" marL="0">
              <a:lnSpc>
                <a:spcPts val="4080"/>
              </a:lnSpc>
              <a:buNone/>
            </a:pPr>
            <a:r>
              <a:rPr lang="en-US" sz="3400" i="1" dirty="0">
                <a:solidFill>
                  <a:srgbClr val="F3EEE2"/>
                </a:solidFill>
                <a:latin typeface="Cormorant Garamond" pitchFamily="18" charset="0"/>
                <a:ea typeface="Cormorant Garamond" pitchFamily="18" charset="-122"/>
                <a:cs typeface="Cormorant Garamond" pitchFamily="18" charset="-120"/>
              </a:rPr>
              <a:t>Un enfant important entre dans une usine.</a:t>
            </a:r>
            <a:endParaRPr lang="en-US" sz="3400" dirty="0"/>
          </a:p>
        </p:txBody>
      </p:sp>
      <p:sp>
        <p:nvSpPr>
          <p:cNvPr id="6" name="Text 4"/>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LE DÉCODAGE</a:t>
            </a:r>
            <a:endParaRPr lang="en-US" sz="1200" dirty="0"/>
          </a:p>
        </p:txBody>
      </p:sp>
      <p:sp>
        <p:nvSpPr>
          <p:cNvPr id="3" name="Text 1"/>
          <p:cNvSpPr/>
          <p:nvPr>
            <p:ph type="title"/>
          </p:nvPr>
        </p:nvSpPr>
        <p:spPr>
          <a:xfrm>
            <a:off x="812800" y="10795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3EEE2"/>
                </a:solidFill>
                <a:latin typeface="Cormorant Garamond" pitchFamily="18" charset="0"/>
                <a:ea typeface="Cormorant Garamond" pitchFamily="18" charset="-122"/>
                <a:cs typeface="Cormorant Garamond" pitchFamily="18" charset="-120"/>
              </a:rPr>
              <a:t>Tout ce que vous savez déjà</a:t>
            </a:r>
            <a:endParaRPr lang="en-US" sz="4800" dirty="0"/>
          </a:p>
        </p:txBody>
      </p:sp>
      <p:sp>
        <p:nvSpPr>
          <p:cNvPr id="4" name="Text 2"/>
          <p:cNvSpPr/>
          <p:nvPr/>
        </p:nvSpPr>
        <p:spPr>
          <a:xfrm>
            <a:off x="812800" y="2286000"/>
            <a:ext cx="10883392" cy="543520"/>
          </a:xfrm>
          <a:prstGeom prst="rect">
            <a:avLst/>
          </a:prstGeom>
          <a:noFill/>
          <a:ln/>
        </p:spPr>
        <p:txBody>
          <a:bodyPr wrap="square" lIns="0" tIns="0" rIns="0" bIns="0" rtlCol="0" anchor="t">
            <a:normAutofit/>
          </a:bodyPr>
          <a:lstStyle/>
          <a:p>
            <a:pPr algn="l" indent="0" marL="0">
              <a:lnSpc>
                <a:spcPts val="4080"/>
              </a:lnSpc>
              <a:buNone/>
            </a:pPr>
            <a:r>
              <a:rPr lang="en-US" sz="3400" i="1" dirty="0">
                <a:solidFill>
                  <a:srgbClr val="F3EEE2"/>
                </a:solidFill>
                <a:latin typeface="Cormorant Garamond" pitchFamily="18" charset="0"/>
                <a:ea typeface="Cormorant Garamond" pitchFamily="18" charset="-122"/>
                <a:cs typeface="Cormorant Garamond" pitchFamily="18" charset="-120"/>
              </a:rPr>
              <a:t>T</a:t>
            </a:r>
            <a:r>
              <a:rPr lang="en-US" sz="3400" i="1" dirty="0">
                <a:solidFill>
                  <a:srgbClr val="D9BD86"/>
                </a:solidFill>
                <a:latin typeface="Cormorant Garamond" pitchFamily="18" charset="0"/>
                <a:ea typeface="Cormorant Garamond" pitchFamily="18" charset="-122"/>
                <a:cs typeface="Cormorant Garamond" pitchFamily="18" charset="-120"/>
              </a:rPr>
              <a:t>oi</a:t>
            </a:r>
            <a:r>
              <a:rPr lang="en-US" sz="3400" i="1" dirty="0">
                <a:solidFill>
                  <a:srgbClr val="F3EEE2"/>
                </a:solidFill>
                <a:latin typeface="Cormorant Garamond" pitchFamily="18" charset="0"/>
                <a:ea typeface="Cormorant Garamond" pitchFamily="18" charset="-122"/>
                <a:cs typeface="Cormorant Garamond" pitchFamily="18" charset="-120"/>
              </a:rPr>
              <a:t> et m</a:t>
            </a:r>
            <a:r>
              <a:rPr lang="en-US" sz="3400" i="1" dirty="0">
                <a:solidFill>
                  <a:srgbClr val="D9BD86"/>
                </a:solidFill>
                <a:latin typeface="Cormorant Garamond" pitchFamily="18" charset="0"/>
                <a:ea typeface="Cormorant Garamond" pitchFamily="18" charset="-122"/>
                <a:cs typeface="Cormorant Garamond" pitchFamily="18" charset="-120"/>
              </a:rPr>
              <a:t>oi</a:t>
            </a:r>
            <a:r>
              <a:rPr lang="en-US" sz="3400" i="1" dirty="0">
                <a:solidFill>
                  <a:srgbClr val="F3EEE2"/>
                </a:solidFill>
                <a:latin typeface="Cormorant Garamond" pitchFamily="18" charset="0"/>
                <a:ea typeface="Cormorant Garamond" pitchFamily="18" charset="-122"/>
                <a:cs typeface="Cormorant Garamond" pitchFamily="18" charset="-120"/>
              </a:rPr>
              <a:t>, n</a:t>
            </a:r>
            <a:r>
              <a:rPr lang="en-US" sz="3400" i="1" dirty="0">
                <a:solidFill>
                  <a:srgbClr val="D9BD86"/>
                </a:solidFill>
                <a:latin typeface="Cormorant Garamond" pitchFamily="18" charset="0"/>
                <a:ea typeface="Cormorant Garamond" pitchFamily="18" charset="-122"/>
                <a:cs typeface="Cormorant Garamond" pitchFamily="18" charset="-120"/>
              </a:rPr>
              <a:t>ou</a:t>
            </a:r>
            <a:r>
              <a:rPr lang="en-US" sz="3400" i="1" dirty="0">
                <a:solidFill>
                  <a:srgbClr val="F3EEE2"/>
                </a:solidFill>
                <a:latin typeface="Cormorant Garamond" pitchFamily="18" charset="0"/>
                <a:ea typeface="Cormorant Garamond" pitchFamily="18" charset="-122"/>
                <a:cs typeface="Cormorant Garamond" pitchFamily="18" charset="-120"/>
              </a:rPr>
              <a:t>s </a:t>
            </a:r>
            <a:r>
              <a:rPr lang="en-US" sz="3400" i="1" dirty="0">
                <a:solidFill>
                  <a:srgbClr val="D9BD86"/>
                </a:solidFill>
                <a:latin typeface="Cormorant Garamond" pitchFamily="18" charset="0"/>
                <a:ea typeface="Cormorant Garamond" pitchFamily="18" charset="-122"/>
                <a:cs typeface="Cormorant Garamond" pitchFamily="18" charset="-120"/>
              </a:rPr>
              <a:t>ai</a:t>
            </a:r>
            <a:r>
              <a:rPr lang="en-US" sz="3400" i="1" dirty="0">
                <a:solidFill>
                  <a:srgbClr val="F3EEE2"/>
                </a:solidFill>
                <a:latin typeface="Cormorant Garamond" pitchFamily="18" charset="0"/>
                <a:ea typeface="Cormorant Garamond" pitchFamily="18" charset="-122"/>
                <a:cs typeface="Cormorant Garamond" pitchFamily="18" charset="-120"/>
              </a:rPr>
              <a:t>m</a:t>
            </a:r>
            <a:r>
              <a:rPr lang="en-US" sz="3400" i="1" dirty="0">
                <a:solidFill>
                  <a:srgbClr val="D9BD86"/>
                </a:solidFill>
                <a:latin typeface="Cormorant Garamond" pitchFamily="18" charset="0"/>
                <a:ea typeface="Cormorant Garamond" pitchFamily="18" charset="-122"/>
                <a:cs typeface="Cormorant Garamond" pitchFamily="18" charset="-120"/>
              </a:rPr>
              <a:t>on</a:t>
            </a:r>
            <a:r>
              <a:rPr lang="en-US" sz="3400" i="1" dirty="0">
                <a:solidFill>
                  <a:srgbClr val="F3EEE2"/>
                </a:solidFill>
                <a:latin typeface="Cormorant Garamond" pitchFamily="18" charset="0"/>
                <a:ea typeface="Cormorant Garamond" pitchFamily="18" charset="-122"/>
                <a:cs typeface="Cormorant Garamond" pitchFamily="18" charset="-120"/>
              </a:rPr>
              <a:t>s b</a:t>
            </a:r>
            <a:r>
              <a:rPr lang="en-US" sz="3400" i="1" dirty="0">
                <a:solidFill>
                  <a:srgbClr val="D9BD86"/>
                </a:solidFill>
                <a:latin typeface="Cormorant Garamond" pitchFamily="18" charset="0"/>
                <a:ea typeface="Cormorant Garamond" pitchFamily="18" charset="-122"/>
                <a:cs typeface="Cormorant Garamond" pitchFamily="18" charset="-120"/>
              </a:rPr>
              <a:t>eau</a:t>
            </a:r>
            <a:r>
              <a:rPr lang="en-US" sz="3400" i="1" dirty="0">
                <a:solidFill>
                  <a:srgbClr val="F3EEE2"/>
                </a:solidFill>
                <a:latin typeface="Cormorant Garamond" pitchFamily="18" charset="0"/>
                <a:ea typeface="Cormorant Garamond" pitchFamily="18" charset="-122"/>
                <a:cs typeface="Cormorant Garamond" pitchFamily="18" charset="-120"/>
              </a:rPr>
              <a:t>c</a:t>
            </a:r>
            <a:r>
              <a:rPr lang="en-US" sz="3400" i="1" dirty="0">
                <a:solidFill>
                  <a:srgbClr val="D9BD86"/>
                </a:solidFill>
                <a:latin typeface="Cormorant Garamond" pitchFamily="18" charset="0"/>
                <a:ea typeface="Cormorant Garamond" pitchFamily="18" charset="-122"/>
                <a:cs typeface="Cormorant Garamond" pitchFamily="18" charset="-120"/>
              </a:rPr>
              <a:t>ou</a:t>
            </a:r>
            <a:r>
              <a:rPr lang="en-US" sz="3400" i="1" dirty="0">
                <a:solidFill>
                  <a:srgbClr val="F3EEE2"/>
                </a:solidFill>
                <a:latin typeface="Cormorant Garamond" pitchFamily="18" charset="0"/>
                <a:ea typeface="Cormorant Garamond" pitchFamily="18" charset="-122"/>
                <a:cs typeface="Cormorant Garamond" pitchFamily="18" charset="-120"/>
              </a:rPr>
              <a:t>p le p</a:t>
            </a:r>
            <a:r>
              <a:rPr lang="en-US" sz="3400" i="1" dirty="0">
                <a:solidFill>
                  <a:srgbClr val="D9BD86"/>
                </a:solidFill>
                <a:latin typeface="Cormorant Garamond" pitchFamily="18" charset="0"/>
                <a:ea typeface="Cormorant Garamond" pitchFamily="18" charset="-122"/>
                <a:cs typeface="Cormorant Garamond" pitchFamily="18" charset="-120"/>
              </a:rPr>
              <a:t>ain</a:t>
            </a:r>
            <a:r>
              <a:rPr lang="en-US" sz="3400" i="1" dirty="0">
                <a:solidFill>
                  <a:srgbClr val="F3EEE2"/>
                </a:solidFill>
                <a:latin typeface="Cormorant Garamond" pitchFamily="18" charset="0"/>
                <a:ea typeface="Cormorant Garamond" pitchFamily="18" charset="-122"/>
                <a:cs typeface="Cormorant Garamond" pitchFamily="18" charset="-120"/>
              </a:rPr>
              <a:t> fr</a:t>
            </a:r>
            <a:r>
              <a:rPr lang="en-US" sz="3400" i="1" dirty="0">
                <a:solidFill>
                  <a:srgbClr val="D9BD86"/>
                </a:solidFill>
                <a:latin typeface="Cormorant Garamond" pitchFamily="18" charset="0"/>
                <a:ea typeface="Cormorant Garamond" pitchFamily="18" charset="-122"/>
                <a:cs typeface="Cormorant Garamond" pitchFamily="18" charset="-120"/>
              </a:rPr>
              <a:t>an</a:t>
            </a:r>
            <a:r>
              <a:rPr lang="en-US" sz="3400" i="1" dirty="0">
                <a:solidFill>
                  <a:srgbClr val="F3EEE2"/>
                </a:solidFill>
                <a:latin typeface="Cormorant Garamond" pitchFamily="18" charset="0"/>
                <a:ea typeface="Cormorant Garamond" pitchFamily="18" charset="-122"/>
                <a:cs typeface="Cormorant Garamond" pitchFamily="18" charset="-120"/>
              </a:rPr>
              <a:t>ç</a:t>
            </a:r>
            <a:r>
              <a:rPr lang="en-US" sz="3400" i="1" dirty="0">
                <a:solidFill>
                  <a:srgbClr val="D9BD86"/>
                </a:solidFill>
                <a:latin typeface="Cormorant Garamond" pitchFamily="18" charset="0"/>
                <a:ea typeface="Cormorant Garamond" pitchFamily="18" charset="-122"/>
                <a:cs typeface="Cormorant Garamond" pitchFamily="18" charset="-120"/>
              </a:rPr>
              <a:t>ai</a:t>
            </a:r>
            <a:r>
              <a:rPr lang="en-US" sz="3400" i="1" dirty="0">
                <a:solidFill>
                  <a:srgbClr val="F3EEE2"/>
                </a:solidFill>
                <a:latin typeface="Cormorant Garamond" pitchFamily="18" charset="0"/>
                <a:ea typeface="Cormorant Garamond" pitchFamily="18" charset="-122"/>
                <a:cs typeface="Cormorant Garamond" pitchFamily="18" charset="-120"/>
              </a:rPr>
              <a:t>s.</a:t>
            </a:r>
            <a:endParaRPr lang="en-US" sz="3400" dirty="0"/>
          </a:p>
        </p:txBody>
      </p:sp>
      <p:sp>
        <p:nvSpPr>
          <p:cNvPr id="5" name="Text 3"/>
          <p:cNvSpPr/>
          <p:nvPr/>
        </p:nvSpPr>
        <p:spPr>
          <a:xfrm>
            <a:off x="812800" y="29845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6CC"/>
                </a:solidFill>
                <a:latin typeface="Space Mono" pitchFamily="49" charset="0"/>
                <a:ea typeface="Space Mono" pitchFamily="49" charset="-122"/>
                <a:cs typeface="Space Mono" pitchFamily="49" charset="-120"/>
              </a:rPr>
              <a:t>oi [wa] · oi [wa] · ou [u] · ai [ɛ] · on [ɔ̃] · eau [o] · ou [u] · ain [ɛ̃] · an [ɑ̃] · ai [ɛ]</a:t>
            </a:r>
            <a:endParaRPr lang="en-US" sz="1300" dirty="0"/>
          </a:p>
        </p:txBody>
      </p:sp>
      <p:sp>
        <p:nvSpPr>
          <p:cNvPr id="6" name="Text 4"/>
          <p:cNvSpPr/>
          <p:nvPr/>
        </p:nvSpPr>
        <p:spPr>
          <a:xfrm>
            <a:off x="812800" y="3810000"/>
            <a:ext cx="10883392" cy="543520"/>
          </a:xfrm>
          <a:prstGeom prst="rect">
            <a:avLst/>
          </a:prstGeom>
          <a:noFill/>
          <a:ln/>
        </p:spPr>
        <p:txBody>
          <a:bodyPr wrap="square" lIns="0" tIns="0" rIns="0" bIns="0" rtlCol="0" anchor="t">
            <a:normAutofit/>
          </a:bodyPr>
          <a:lstStyle/>
          <a:p>
            <a:pPr algn="l" indent="0" marL="0">
              <a:lnSpc>
                <a:spcPts val="4080"/>
              </a:lnSpc>
              <a:buNone/>
            </a:pPr>
            <a:r>
              <a:rPr lang="en-US" sz="3400" i="1" dirty="0">
                <a:solidFill>
                  <a:srgbClr val="D9BD86"/>
                </a:solidFill>
                <a:latin typeface="Cormorant Garamond" pitchFamily="18" charset="0"/>
                <a:ea typeface="Cormorant Garamond" pitchFamily="18" charset="-122"/>
                <a:cs typeface="Cormorant Garamond" pitchFamily="18" charset="-120"/>
              </a:rPr>
              <a:t>Un</a:t>
            </a:r>
            <a:r>
              <a:rPr lang="en-US" sz="3400" i="1" dirty="0">
                <a:solidFill>
                  <a:srgbClr val="F3EEE2"/>
                </a:solidFill>
                <a:latin typeface="Cormorant Garamond" pitchFamily="18" charset="0"/>
                <a:ea typeface="Cormorant Garamond" pitchFamily="18" charset="-122"/>
                <a:cs typeface="Cormorant Garamond" pitchFamily="18" charset="-120"/>
              </a:rPr>
              <a:t> </a:t>
            </a:r>
            <a:r>
              <a:rPr lang="en-US" sz="3400" i="1" dirty="0">
                <a:solidFill>
                  <a:srgbClr val="D9BD86"/>
                </a:solidFill>
                <a:latin typeface="Cormorant Garamond" pitchFamily="18" charset="0"/>
                <a:ea typeface="Cormorant Garamond" pitchFamily="18" charset="-122"/>
                <a:cs typeface="Cormorant Garamond" pitchFamily="18" charset="-120"/>
              </a:rPr>
              <a:t>en</a:t>
            </a:r>
            <a:r>
              <a:rPr lang="en-US" sz="3400" i="1" dirty="0">
                <a:solidFill>
                  <a:srgbClr val="F3EEE2"/>
                </a:solidFill>
                <a:latin typeface="Cormorant Garamond" pitchFamily="18" charset="0"/>
                <a:ea typeface="Cormorant Garamond" pitchFamily="18" charset="-122"/>
                <a:cs typeface="Cormorant Garamond" pitchFamily="18" charset="-120"/>
              </a:rPr>
              <a:t>f</a:t>
            </a:r>
            <a:r>
              <a:rPr lang="en-US" sz="3400" i="1" dirty="0">
                <a:solidFill>
                  <a:srgbClr val="D9BD86"/>
                </a:solidFill>
                <a:latin typeface="Cormorant Garamond" pitchFamily="18" charset="0"/>
                <a:ea typeface="Cormorant Garamond" pitchFamily="18" charset="-122"/>
                <a:cs typeface="Cormorant Garamond" pitchFamily="18" charset="-120"/>
              </a:rPr>
              <a:t>an</a:t>
            </a:r>
            <a:r>
              <a:rPr lang="en-US" sz="3400" i="1" dirty="0">
                <a:solidFill>
                  <a:srgbClr val="F3EEE2"/>
                </a:solidFill>
                <a:latin typeface="Cormorant Garamond" pitchFamily="18" charset="0"/>
                <a:ea typeface="Cormorant Garamond" pitchFamily="18" charset="-122"/>
                <a:cs typeface="Cormorant Garamond" pitchFamily="18" charset="-120"/>
              </a:rPr>
              <a:t>t </a:t>
            </a:r>
            <a:r>
              <a:rPr lang="en-US" sz="3400" i="1" dirty="0">
                <a:solidFill>
                  <a:srgbClr val="D9BD86"/>
                </a:solidFill>
                <a:latin typeface="Cormorant Garamond" pitchFamily="18" charset="0"/>
                <a:ea typeface="Cormorant Garamond" pitchFamily="18" charset="-122"/>
                <a:cs typeface="Cormorant Garamond" pitchFamily="18" charset="-120"/>
              </a:rPr>
              <a:t>im</a:t>
            </a:r>
            <a:r>
              <a:rPr lang="en-US" sz="3400" i="1" dirty="0">
                <a:solidFill>
                  <a:srgbClr val="F3EEE2"/>
                </a:solidFill>
                <a:latin typeface="Cormorant Garamond" pitchFamily="18" charset="0"/>
                <a:ea typeface="Cormorant Garamond" pitchFamily="18" charset="-122"/>
                <a:cs typeface="Cormorant Garamond" pitchFamily="18" charset="-120"/>
              </a:rPr>
              <a:t>port</a:t>
            </a:r>
            <a:r>
              <a:rPr lang="en-US" sz="3400" i="1" dirty="0">
                <a:solidFill>
                  <a:srgbClr val="D9BD86"/>
                </a:solidFill>
                <a:latin typeface="Cormorant Garamond" pitchFamily="18" charset="0"/>
                <a:ea typeface="Cormorant Garamond" pitchFamily="18" charset="-122"/>
                <a:cs typeface="Cormorant Garamond" pitchFamily="18" charset="-120"/>
              </a:rPr>
              <a:t>an</a:t>
            </a:r>
            <a:r>
              <a:rPr lang="en-US" sz="3400" i="1" dirty="0">
                <a:solidFill>
                  <a:srgbClr val="F3EEE2"/>
                </a:solidFill>
                <a:latin typeface="Cormorant Garamond" pitchFamily="18" charset="0"/>
                <a:ea typeface="Cormorant Garamond" pitchFamily="18" charset="-122"/>
                <a:cs typeface="Cormorant Garamond" pitchFamily="18" charset="-120"/>
              </a:rPr>
              <a:t>t </a:t>
            </a:r>
            <a:r>
              <a:rPr lang="en-US" sz="3400" i="1" dirty="0">
                <a:solidFill>
                  <a:srgbClr val="D9BD86"/>
                </a:solidFill>
                <a:latin typeface="Cormorant Garamond" pitchFamily="18" charset="0"/>
                <a:ea typeface="Cormorant Garamond" pitchFamily="18" charset="-122"/>
                <a:cs typeface="Cormorant Garamond" pitchFamily="18" charset="-120"/>
              </a:rPr>
              <a:t>en</a:t>
            </a:r>
            <a:r>
              <a:rPr lang="en-US" sz="3400" i="1" dirty="0">
                <a:solidFill>
                  <a:srgbClr val="F3EEE2"/>
                </a:solidFill>
                <a:latin typeface="Cormorant Garamond" pitchFamily="18" charset="0"/>
                <a:ea typeface="Cormorant Garamond" pitchFamily="18" charset="-122"/>
                <a:cs typeface="Cormorant Garamond" pitchFamily="18" charset="-120"/>
              </a:rPr>
              <a:t>tre d</a:t>
            </a:r>
            <a:r>
              <a:rPr lang="en-US" sz="3400" i="1" dirty="0">
                <a:solidFill>
                  <a:srgbClr val="D9BD86"/>
                </a:solidFill>
                <a:latin typeface="Cormorant Garamond" pitchFamily="18" charset="0"/>
                <a:ea typeface="Cormorant Garamond" pitchFamily="18" charset="-122"/>
                <a:cs typeface="Cormorant Garamond" pitchFamily="18" charset="-120"/>
              </a:rPr>
              <a:t>an</a:t>
            </a:r>
            <a:r>
              <a:rPr lang="en-US" sz="3400" i="1" dirty="0">
                <a:solidFill>
                  <a:srgbClr val="F3EEE2"/>
                </a:solidFill>
                <a:latin typeface="Cormorant Garamond" pitchFamily="18" charset="0"/>
                <a:ea typeface="Cormorant Garamond" pitchFamily="18" charset="-122"/>
                <a:cs typeface="Cormorant Garamond" pitchFamily="18" charset="-120"/>
              </a:rPr>
              <a:t>s </a:t>
            </a:r>
            <a:r>
              <a:rPr lang="en-US" sz="3400" i="1" u="sng" dirty="0">
                <a:solidFill>
                  <a:srgbClr val="F3EEE2"/>
                </a:solidFill>
                <a:latin typeface="Cormorant Garamond" pitchFamily="18" charset="0"/>
                <a:ea typeface="Cormorant Garamond" pitchFamily="18" charset="-122"/>
                <a:cs typeface="Cormorant Garamond" pitchFamily="18" charset="-120"/>
              </a:rPr>
              <a:t>une</a:t>
            </a:r>
            <a:r>
              <a:rPr lang="en-US" sz="3400" i="1" dirty="0">
                <a:solidFill>
                  <a:srgbClr val="F3EEE2"/>
                </a:solidFill>
                <a:latin typeface="Cormorant Garamond" pitchFamily="18" charset="0"/>
                <a:ea typeface="Cormorant Garamond" pitchFamily="18" charset="-122"/>
                <a:cs typeface="Cormorant Garamond" pitchFamily="18" charset="-120"/>
              </a:rPr>
              <a:t> </a:t>
            </a:r>
            <a:r>
              <a:rPr lang="en-US" sz="3400" i="1" dirty="0">
                <a:solidFill>
                  <a:srgbClr val="D9BD86"/>
                </a:solidFill>
                <a:latin typeface="Cormorant Garamond" pitchFamily="18" charset="0"/>
                <a:ea typeface="Cormorant Garamond" pitchFamily="18" charset="-122"/>
                <a:cs typeface="Cormorant Garamond" pitchFamily="18" charset="-120"/>
              </a:rPr>
              <a:t>u</a:t>
            </a:r>
            <a:r>
              <a:rPr lang="en-US" sz="3400" i="1" dirty="0">
                <a:solidFill>
                  <a:srgbClr val="F3EEE2"/>
                </a:solidFill>
                <a:latin typeface="Cormorant Garamond" pitchFamily="18" charset="0"/>
                <a:ea typeface="Cormorant Garamond" pitchFamily="18" charset="-122"/>
                <a:cs typeface="Cormorant Garamond" pitchFamily="18" charset="-120"/>
              </a:rPr>
              <a:t>sine.</a:t>
            </a:r>
            <a:endParaRPr lang="en-US" sz="3400" dirty="0"/>
          </a:p>
        </p:txBody>
      </p:sp>
      <p:sp>
        <p:nvSpPr>
          <p:cNvPr id="7" name="Text 5"/>
          <p:cNvSpPr/>
          <p:nvPr/>
        </p:nvSpPr>
        <p:spPr>
          <a:xfrm>
            <a:off x="812800" y="45085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6CC"/>
                </a:solidFill>
                <a:latin typeface="Space Mono" pitchFamily="49" charset="0"/>
                <a:ea typeface="Space Mono" pitchFamily="49" charset="-122"/>
                <a:cs typeface="Space Mono" pitchFamily="49" charset="-120"/>
              </a:rPr>
              <a:t>un [œ̃] · en, an [ɑ̃] · im [ɛ̃] · an, en, an [ɑ̃] · u [y]</a:t>
            </a:r>
            <a:endParaRPr lang="en-US" sz="1300" dirty="0"/>
          </a:p>
        </p:txBody>
      </p:sp>
      <p:sp>
        <p:nvSpPr>
          <p:cNvPr id="8" name="Text 6"/>
          <p:cNvSpPr/>
          <p:nvPr/>
        </p:nvSpPr>
        <p:spPr>
          <a:xfrm>
            <a:off x="812800" y="5080000"/>
            <a:ext cx="6985000" cy="452041"/>
          </a:xfrm>
          <a:prstGeom prst="roundRect">
            <a:avLst>
              <a:gd name="adj" fmla="val 50000"/>
            </a:avLst>
          </a:prstGeom>
          <a:solidFill>
            <a:srgbClr val="A5824A"/>
          </a:solidFill>
          <a:ln/>
        </p:spPr>
        <p:txBody>
          <a:bodyPr wrap="square" lIns="137001" tIns="35401" rIns="0" bIns="10001" rtlCol="0" anchor="t">
            <a:normAutofit/>
          </a:bodyPr>
          <a:lstStyle/>
          <a:p>
            <a:pPr algn="l" indent="0" marL="0">
              <a:lnSpc>
                <a:spcPts val="1960"/>
              </a:lnSpc>
              <a:buNone/>
            </a:pPr>
            <a:r>
              <a:rPr lang="en-US" sz="1400" b="1" dirty="0">
                <a:solidFill>
                  <a:srgbClr val="12332B"/>
                </a:solidFill>
                <a:latin typeface="Syne" pitchFamily="34" charset="0"/>
                <a:ea typeface="Syne" pitchFamily="34" charset="-122"/>
                <a:cs typeface="Syne" pitchFamily="34" charset="-120"/>
              </a:rPr>
              <a:t>Trampa: «une» no es nasal, porque después de la N viene una vocal.</a:t>
            </a:r>
            <a:endParaRPr lang="en-US" sz="1400" dirty="0"/>
          </a:p>
        </p:txBody>
      </p:sp>
      <p:sp>
        <p:nvSpPr>
          <p:cNvPr id="9" name="Text 7"/>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184650" y="698500"/>
            <a:ext cx="7194550" cy="2311400"/>
          </a:xfrm>
          <a:prstGeom prst="rect">
            <a:avLst/>
          </a:prstGeom>
          <a:noFill/>
          <a:ln/>
        </p:spPr>
        <p:txBody>
          <a:bodyPr wrap="none" lIns="0" tIns="0" rIns="0" bIns="0" rtlCol="0" anchor="t">
            <a:normAutofit/>
          </a:bodyPr>
          <a:lstStyle/>
          <a:p>
            <a:pPr algn="r" indent="0" marL="0">
              <a:lnSpc>
                <a:spcPts val="18000"/>
              </a:lnSpc>
              <a:buNone/>
            </a:pPr>
            <a:r>
              <a:rPr lang="en-US" sz="18000" i="1" dirty="0">
                <a:solidFill>
                  <a:srgbClr val="D9BD86">
                    <a:alpha val="16000"/>
                  </a:srgbClr>
                </a:solidFill>
                <a:latin typeface="Cormorant Garamond" pitchFamily="18" charset="0"/>
                <a:ea typeface="Cormorant Garamond" pitchFamily="18" charset="-122"/>
                <a:cs typeface="Cormorant Garamond" pitchFamily="18" charset="-120"/>
              </a:rPr>
              <a:t>aeiou</a:t>
            </a:r>
            <a:endParaRPr lang="en-US" sz="18000" dirty="0"/>
          </a:p>
        </p:txBody>
      </p:sp>
      <p:sp>
        <p:nvSpPr>
          <p:cNvPr id="3" name="Text 1"/>
          <p:cNvSpPr/>
          <p:nvPr>
            <p:ph type="title"/>
          </p:nvPr>
        </p:nvSpPr>
        <p:spPr>
          <a:xfrm>
            <a:off x="812800" y="2095500"/>
            <a:ext cx="9810750" cy="1104900"/>
          </a:xfrm>
          <a:prstGeom prst="rect">
            <a:avLst/>
          </a:prstGeom>
          <a:noFill/>
          <a:ln/>
        </p:spPr>
        <p:txBody>
          <a:bodyPr wrap="square" lIns="0" tIns="0" rIns="0" bIns="0" rtlCol="0" anchor="t">
            <a:normAutofit/>
          </a:bodyPr>
          <a:lstStyle/>
          <a:p>
            <a:pPr algn="l" indent="0" marL="0">
              <a:lnSpc>
                <a:spcPts val="8500"/>
              </a:lnSpc>
              <a:buNone/>
            </a:pPr>
            <a:r>
              <a:rPr lang="en-US" sz="8500" b="0" i="0" dirty="0">
                <a:solidFill>
                  <a:srgbClr val="F3EEE2"/>
                </a:solidFill>
                <a:latin typeface="Cormorant Garamond" pitchFamily="18" charset="0"/>
                <a:ea typeface="Cormorant Garamond" pitchFamily="18" charset="-122"/>
                <a:cs typeface="Cormorant Garamond" pitchFamily="18" charset="-120"/>
              </a:rPr>
              <a:t>Merci beaucoup !</a:t>
            </a:r>
            <a:endParaRPr lang="en-US" sz="8500" dirty="0"/>
          </a:p>
        </p:txBody>
      </p:sp>
      <p:sp>
        <p:nvSpPr>
          <p:cNvPr id="4" name="Text 2"/>
          <p:cNvSpPr/>
          <p:nvPr/>
        </p:nvSpPr>
        <p:spPr>
          <a:xfrm>
            <a:off x="863600" y="3365500"/>
            <a:ext cx="7848600" cy="584200"/>
          </a:xfrm>
          <a:prstGeom prst="rect">
            <a:avLst/>
          </a:prstGeom>
          <a:noFill/>
          <a:ln/>
        </p:spPr>
        <p:txBody>
          <a:bodyPr wrap="square" lIns="0" tIns="0" rIns="0" bIns="0" rtlCol="0" anchor="t">
            <a:normAutofit/>
          </a:bodyPr>
          <a:lstStyle/>
          <a:p>
            <a:pPr algn="l" indent="0" marL="0">
              <a:lnSpc>
                <a:spcPts val="4400"/>
              </a:lnSpc>
              <a:buNone/>
            </a:pPr>
            <a:r>
              <a:rPr lang="en-US" sz="4000" i="1" dirty="0">
                <a:solidFill>
                  <a:srgbClr val="D9BD86"/>
                </a:solidFill>
                <a:latin typeface="Cormorant Garamond" pitchFamily="18" charset="0"/>
                <a:ea typeface="Cormorant Garamond" pitchFamily="18" charset="-122"/>
                <a:cs typeface="Cormorant Garamond" pitchFamily="18" charset="-120"/>
              </a:rPr>
              <a:t>À bientôt</a:t>
            </a:r>
            <a:endParaRPr lang="en-US" sz="4000" dirty="0"/>
          </a:p>
        </p:txBody>
      </p:sp>
      <p:sp>
        <p:nvSpPr>
          <p:cNvPr id="5" name="Shape 3"/>
          <p:cNvSpPr/>
          <p:nvPr/>
        </p:nvSpPr>
        <p:spPr>
          <a:xfrm>
            <a:off x="863600" y="4254500"/>
            <a:ext cx="1016000" cy="25400"/>
          </a:xfrm>
          <a:prstGeom prst="rect">
            <a:avLst/>
          </a:prstGeom>
          <a:solidFill>
            <a:srgbClr val="A5824A"/>
          </a:solidFill>
          <a:ln/>
        </p:spPr>
      </p:sp>
      <p:sp>
        <p:nvSpPr>
          <p:cNvPr id="6" name="Text 4"/>
          <p:cNvSpPr/>
          <p:nvPr/>
        </p:nvSpPr>
        <p:spPr>
          <a:xfrm>
            <a:off x="863600" y="45085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6CC"/>
                </a:solidFill>
                <a:latin typeface="Syne" pitchFamily="34" charset="0"/>
                <a:ea typeface="Syne" pitchFamily="34" charset="-122"/>
                <a:cs typeface="Syne" pitchFamily="34" charset="-120"/>
              </a:rPr>
              <a:t>Próxima etapa: les sons vibrants et les sons sifflants.</a:t>
            </a:r>
            <a:endParaRPr lang="en-US" sz="1600" dirty="0"/>
          </a:p>
        </p:txBody>
      </p:sp>
      <p:sp>
        <p:nvSpPr>
          <p:cNvPr id="7" name="Text 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D9BD86"/>
                </a:solidFill>
                <a:latin typeface="Space Mono" pitchFamily="49" charset="0"/>
                <a:ea typeface="Space Mono" pitchFamily="49" charset="-122"/>
                <a:cs typeface="Space Mono" pitchFamily="49" charset="-120"/>
              </a:rPr>
              <a:t>VIVE EL FRANCÉS</a:t>
            </a:r>
            <a:endParaRPr lang="en-US" sz="1200" dirty="0"/>
          </a:p>
        </p:txBody>
      </p:sp>
    </p:spTree>
  </p:cSld>
  <p:clrMapOvr>
    <a:masterClrMapping/>
  </p:clrMapOvr>
</p:sld>
</file>

<file path=ppt/theme/theme1.xml><?xml version="1.0" encoding="utf-8"?>
<a:theme xmlns:a="http://schemas.openxmlformats.org/drawingml/2006/main" name="Les sons et les voyelles">
  <a:themeElements>
    <a:clrScheme name="Les sons et les voyelles">
      <a:dk1>
        <a:srgbClr val="12332B"/>
      </a:dk1>
      <a:lt1>
        <a:srgbClr val="EEF5F0"/>
      </a:lt1>
      <a:dk2>
        <a:srgbClr val="49645C"/>
      </a:dk2>
      <a:lt2>
        <a:srgbClr val="D8E2DC"/>
      </a:lt2>
      <a:accent1>
        <a:srgbClr val="7A5E2E"/>
      </a:accent1>
      <a:accent2>
        <a:srgbClr val="1F6B55"/>
      </a:accent2>
      <a:accent3>
        <a:srgbClr val="D9BD86"/>
      </a:accent3>
      <a:accent4>
        <a:srgbClr val="A5824A"/>
      </a:accent4>
      <a:accent5>
        <a:srgbClr val="44645A"/>
      </a:accent5>
      <a:accent6>
        <a:srgbClr val="BFD6CC"/>
      </a:accent6>
      <a:hlink>
        <a:srgbClr val="0563C1"/>
      </a:hlink>
      <a:folHlink>
        <a:srgbClr val="954F72"/>
      </a:folHlink>
    </a:clrScheme>
    <a:fontScheme name="Les sons et les voyelles">
      <a:majorFont>
        <a:latin typeface="Cormorant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morant Garamon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sons et les voyelles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Syne
Copyright 2017 The Syne Project Authors (https://gitlab.com/bonjour-monde/fonderie/syne-typeface)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Mono
Copyright 2016 The Space Mono Project Authors (https://github.com/googlefonts/spacemono)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Cormorant Garamond
Copyright 2015 the Cormorant Project Authors (github.com/CatharsisFonts/Cormorant)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2026-10-28T18:31:49Z</dcterms:created>
  <dcterms:modified xsi:type="dcterms:W3CDTF">2026-10-28T18:31:49Z</dcterms:modified>
</cp:coreProperties>
</file>